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85" r:id="rId4"/>
    <p:sldId id="286" r:id="rId5"/>
    <p:sldId id="258" r:id="rId6"/>
    <p:sldId id="287" r:id="rId7"/>
    <p:sldId id="270" r:id="rId8"/>
    <p:sldId id="271" r:id="rId9"/>
    <p:sldId id="289" r:id="rId10"/>
    <p:sldId id="273" r:id="rId11"/>
    <p:sldId id="274" r:id="rId12"/>
    <p:sldId id="272" r:id="rId13"/>
    <p:sldId id="279" r:id="rId14"/>
    <p:sldId id="288" r:id="rId15"/>
    <p:sldId id="290" r:id="rId16"/>
    <p:sldId id="275" r:id="rId17"/>
    <p:sldId id="260" r:id="rId18"/>
    <p:sldId id="259" r:id="rId19"/>
    <p:sldId id="291" r:id="rId20"/>
    <p:sldId id="261" r:id="rId21"/>
    <p:sldId id="262" r:id="rId22"/>
    <p:sldId id="280" r:id="rId23"/>
    <p:sldId id="281" r:id="rId24"/>
    <p:sldId id="283" r:id="rId25"/>
    <p:sldId id="284" r:id="rId26"/>
    <p:sldId id="266" r:id="rId27"/>
    <p:sldId id="264" r:id="rId28"/>
    <p:sldId id="265"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7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ger Martinez" userId="5a9724e4b4c71987" providerId="LiveId" clId="{7A4F1A13-2C5C-4EFA-A62C-16A1595A6C9B}"/>
    <pc:docChg chg="modSld">
      <pc:chgData name="Roger Martinez" userId="5a9724e4b4c71987" providerId="LiveId" clId="{7A4F1A13-2C5C-4EFA-A62C-16A1595A6C9B}" dt="2026-09-21T21:38:25.834" v="0" actId="20577"/>
      <pc:docMkLst>
        <pc:docMk/>
      </pc:docMkLst>
      <pc:sldChg chg="modSp mod">
        <pc:chgData name="Roger Martinez" userId="5a9724e4b4c71987" providerId="LiveId" clId="{7A4F1A13-2C5C-4EFA-A62C-16A1595A6C9B}" dt="2026-09-21T21:38:25.834" v="0" actId="20577"/>
        <pc:sldMkLst>
          <pc:docMk/>
          <pc:sldMk cId="3837630021" sldId="267"/>
        </pc:sldMkLst>
        <pc:spChg chg="mod">
          <ac:chgData name="Roger Martinez" userId="5a9724e4b4c71987" providerId="LiveId" clId="{7A4F1A13-2C5C-4EFA-A62C-16A1595A6C9B}" dt="2026-09-21T21:38:25.834" v="0" actId="20577"/>
          <ac:spMkLst>
            <pc:docMk/>
            <pc:sldMk cId="3837630021" sldId="267"/>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4170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647431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452875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311624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89179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94207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0284691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7266788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hyperlink" Target="https://github.com/RogerMartinez777/Hackaton-Grupo-3.g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a:effectLst/>
      </p:bgPr>
    </p:bg>
    <p:spTree>
      <p:nvGrpSpPr>
        <p:cNvPr id="1" name=""/>
        <p:cNvGrpSpPr/>
        <p:nvPr/>
      </p:nvGrpSpPr>
      <p:grpSpPr>
        <a:xfrm>
          <a:off x="0" y="0"/>
          <a:ext cx="0" cy="0"/>
          <a:chOff x="0" y="0"/>
          <a:chExt cx="0" cy="0"/>
        </a:xfrm>
      </p:grpSpPr>
      <p:sp>
        <p:nvSpPr>
          <p:cNvPr id="2" name="Shape 0"/>
          <p:cNvSpPr/>
          <p:nvPr/>
        </p:nvSpPr>
        <p:spPr>
          <a:xfrm>
            <a:off x="182880" y="-61669"/>
            <a:ext cx="12982470" cy="6858000"/>
          </a:xfrm>
          <a:prstGeom prst="rect">
            <a:avLst/>
          </a:prstGeom>
          <a:solidFill>
            <a:srgbClr val="16324F"/>
          </a:solidFill>
          <a:ln/>
        </p:spPr>
      </p:sp>
      <p:sp>
        <p:nvSpPr>
          <p:cNvPr id="3" name="Shape 1"/>
          <p:cNvSpPr/>
          <p:nvPr/>
        </p:nvSpPr>
        <p:spPr>
          <a:xfrm>
            <a:off x="8090430" y="-340902"/>
            <a:ext cx="5486400" cy="5486400"/>
          </a:xfrm>
          <a:prstGeom prst="ellipse">
            <a:avLst/>
          </a:prstGeom>
          <a:solidFill>
            <a:srgbClr val="1E4569"/>
          </a:solidFill>
          <a:ln/>
        </p:spPr>
      </p:sp>
      <p:sp>
        <p:nvSpPr>
          <p:cNvPr id="4" name="Shape 2"/>
          <p:cNvSpPr/>
          <p:nvPr/>
        </p:nvSpPr>
        <p:spPr>
          <a:xfrm>
            <a:off x="9634694" y="3595931"/>
            <a:ext cx="3657600" cy="3657600"/>
          </a:xfrm>
          <a:prstGeom prst="ellipse">
            <a:avLst/>
          </a:prstGeom>
          <a:solidFill>
            <a:srgbClr val="0F2338"/>
          </a:solidFill>
          <a:ln/>
        </p:spPr>
      </p:sp>
      <p:sp>
        <p:nvSpPr>
          <p:cNvPr id="5" name="Text 3"/>
          <p:cNvSpPr/>
          <p:nvPr/>
        </p:nvSpPr>
        <p:spPr>
          <a:xfrm>
            <a:off x="594360" y="868680"/>
            <a:ext cx="8229600" cy="365760"/>
          </a:xfrm>
          <a:prstGeom prst="rect">
            <a:avLst/>
          </a:prstGeom>
          <a:noFill/>
          <a:ln/>
        </p:spPr>
        <p:txBody>
          <a:bodyPr wrap="square" lIns="0" tIns="0" rIns="0" bIns="0" rtlCol="0" anchor="ctr"/>
          <a:lstStyle/>
          <a:p>
            <a:pPr marL="0" indent="0">
              <a:buNone/>
            </a:pPr>
            <a:r>
              <a:rPr lang="en-US" sz="1300" b="1" kern="0" spc="200" dirty="0">
                <a:solidFill>
                  <a:srgbClr val="6FB3D9"/>
                </a:solidFill>
                <a:latin typeface="Calibri" pitchFamily="34" charset="0"/>
                <a:ea typeface="Calibri" pitchFamily="34" charset="-122"/>
                <a:cs typeface="Calibri" pitchFamily="34" charset="-120"/>
              </a:rPr>
              <a:t>MACHINE LEARNING · PREDICCIÓN ACADÉMICA</a:t>
            </a:r>
            <a:endParaRPr lang="en-US" sz="1300" dirty="0"/>
          </a:p>
        </p:txBody>
      </p:sp>
      <p:sp>
        <p:nvSpPr>
          <p:cNvPr id="6" name="Text 4"/>
          <p:cNvSpPr/>
          <p:nvPr/>
        </p:nvSpPr>
        <p:spPr>
          <a:xfrm>
            <a:off x="509163" y="1417320"/>
            <a:ext cx="9875520" cy="146304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¿Qué alumnos no aprobarán la </a:t>
            </a:r>
            <a:r>
              <a:rPr lang="en-US" sz="3600" b="1" dirty="0" err="1">
                <a:solidFill>
                  <a:srgbClr val="FFFFFF"/>
                </a:solidFill>
                <a:latin typeface="Cambria" pitchFamily="34" charset="0"/>
                <a:ea typeface="Cambria" pitchFamily="34" charset="-122"/>
                <a:cs typeface="Cambria" pitchFamily="34" charset="-120"/>
              </a:rPr>
              <a:t>materia</a:t>
            </a:r>
            <a:r>
              <a:rPr lang="en-US" sz="3600" b="1" dirty="0">
                <a:solidFill>
                  <a:srgbClr val="FFFFFF"/>
                </a:solidFill>
                <a:latin typeface="Cambria" pitchFamily="34" charset="0"/>
                <a:ea typeface="Cambria" pitchFamily="34" charset="-122"/>
                <a:cs typeface="Cambria" pitchFamily="34" charset="-120"/>
              </a:rPr>
              <a:t> </a:t>
            </a:r>
            <a:r>
              <a:rPr lang="en-US" sz="3600" b="1" dirty="0" err="1">
                <a:solidFill>
                  <a:srgbClr val="FFFFFF"/>
                </a:solidFill>
                <a:latin typeface="Cambria" pitchFamily="34" charset="0"/>
                <a:ea typeface="Cambria" pitchFamily="34" charset="-122"/>
                <a:cs typeface="Cambria" pitchFamily="34" charset="-120"/>
              </a:rPr>
              <a:t>Informática</a:t>
            </a:r>
            <a:r>
              <a:rPr lang="en-US" sz="3600" b="1" dirty="0">
                <a:solidFill>
                  <a:srgbClr val="FFFFFF"/>
                </a:solidFill>
                <a:latin typeface="Cambria" pitchFamily="34" charset="0"/>
                <a:ea typeface="Cambria" pitchFamily="34" charset="-122"/>
                <a:cs typeface="Cambria" pitchFamily="34" charset="-120"/>
              </a:rPr>
              <a:t> 1 de la Carrera Ing </a:t>
            </a:r>
            <a:r>
              <a:rPr lang="en-US" sz="3600" b="1" dirty="0" err="1">
                <a:solidFill>
                  <a:srgbClr val="FFFFFF"/>
                </a:solidFill>
                <a:latin typeface="Cambria" pitchFamily="34" charset="0"/>
                <a:ea typeface="Cambria" pitchFamily="34" charset="-122"/>
                <a:cs typeface="Cambria" pitchFamily="34" charset="-120"/>
              </a:rPr>
              <a:t>Mecánica</a:t>
            </a:r>
            <a:r>
              <a:rPr lang="en-US" sz="3600" b="1" dirty="0">
                <a:solidFill>
                  <a:srgbClr val="FFFFFF"/>
                </a:solidFill>
                <a:latin typeface="Cambria" pitchFamily="34" charset="0"/>
                <a:ea typeface="Cambria" pitchFamily="34" charset="-122"/>
                <a:cs typeface="Cambria" pitchFamily="34" charset="-120"/>
              </a:rPr>
              <a:t> de la UTN FRC ?</a:t>
            </a:r>
            <a:endParaRPr lang="en-US" sz="3600" dirty="0"/>
          </a:p>
        </p:txBody>
      </p:sp>
      <p:pic>
        <p:nvPicPr>
          <p:cNvPr id="8" name="Imagen 7">
            <a:extLst>
              <a:ext uri="{FF2B5EF4-FFF2-40B4-BE49-F238E27FC236}">
                <a16:creationId xmlns:a16="http://schemas.microsoft.com/office/drawing/2014/main" id="{7CCC609E-7842-F041-A81B-74DB358B27BE}"/>
              </a:ext>
            </a:extLst>
          </p:cNvPr>
          <p:cNvPicPr>
            <a:picLocks noChangeAspect="1"/>
          </p:cNvPicPr>
          <p:nvPr/>
        </p:nvPicPr>
        <p:blipFill>
          <a:blip r:embed="rId3"/>
          <a:stretch>
            <a:fillRect/>
          </a:stretch>
        </p:blipFill>
        <p:spPr>
          <a:xfrm>
            <a:off x="8695426" y="5831678"/>
            <a:ext cx="1689257" cy="491203"/>
          </a:xfrm>
          <a:prstGeom prst="rect">
            <a:avLst/>
          </a:prstGeom>
        </p:spPr>
      </p:pic>
      <p:sp>
        <p:nvSpPr>
          <p:cNvPr id="12" name="Rectángulo 11">
            <a:extLst>
              <a:ext uri="{FF2B5EF4-FFF2-40B4-BE49-F238E27FC236}">
                <a16:creationId xmlns:a16="http://schemas.microsoft.com/office/drawing/2014/main" id="{0CAF8394-4984-A631-4F5D-BA9C654878E1}"/>
              </a:ext>
            </a:extLst>
          </p:cNvPr>
          <p:cNvSpPr/>
          <p:nvPr/>
        </p:nvSpPr>
        <p:spPr>
          <a:xfrm>
            <a:off x="728506" y="4809775"/>
            <a:ext cx="6096000" cy="1477328"/>
          </a:xfrm>
          <a:prstGeom prst="rect">
            <a:avLst/>
          </a:prstGeom>
        </p:spPr>
        <p:txBody>
          <a:bodyPr>
            <a:spAutoFit/>
          </a:bodyPr>
          <a:lstStyle/>
          <a:p>
            <a:r>
              <a:rPr lang="es-AR" b="1" dirty="0" err="1">
                <a:solidFill>
                  <a:schemeClr val="bg1"/>
                </a:solidFill>
              </a:rPr>
              <a:t>Hackaton</a:t>
            </a:r>
            <a:r>
              <a:rPr lang="es-AR" b="1" dirty="0">
                <a:solidFill>
                  <a:schemeClr val="bg1"/>
                </a:solidFill>
              </a:rPr>
              <a:t> de Data </a:t>
            </a:r>
            <a:r>
              <a:rPr lang="es-AR" b="1" dirty="0" err="1">
                <a:solidFill>
                  <a:schemeClr val="bg1"/>
                </a:solidFill>
              </a:rPr>
              <a:t>Science</a:t>
            </a:r>
            <a:br>
              <a:rPr lang="es-AR" b="1" dirty="0">
                <a:solidFill>
                  <a:schemeClr val="bg1"/>
                </a:solidFill>
              </a:rPr>
            </a:br>
            <a:endParaRPr lang="es-AR" b="1" dirty="0">
              <a:solidFill>
                <a:schemeClr val="bg1"/>
              </a:solidFill>
            </a:endParaRPr>
          </a:p>
          <a:p>
            <a:pPr marL="285750" indent="-285750">
              <a:buFont typeface="Arial" panose="020B0604020202020204" pitchFamily="34" charset="0"/>
              <a:buChar char="•"/>
            </a:pPr>
            <a:r>
              <a:rPr lang="es-AR" dirty="0">
                <a:solidFill>
                  <a:schemeClr val="bg1"/>
                </a:solidFill>
              </a:rPr>
              <a:t>Rita </a:t>
            </a:r>
            <a:r>
              <a:rPr lang="es-AR" dirty="0" err="1">
                <a:solidFill>
                  <a:schemeClr val="bg1"/>
                </a:solidFill>
              </a:rPr>
              <a:t>Perez</a:t>
            </a:r>
            <a:endParaRPr lang="es-AR" dirty="0">
              <a:solidFill>
                <a:schemeClr val="bg1"/>
              </a:solidFill>
            </a:endParaRPr>
          </a:p>
          <a:p>
            <a:pPr marL="285750" indent="-285750">
              <a:buFont typeface="Arial" panose="020B0604020202020204" pitchFamily="34" charset="0"/>
              <a:buChar char="•"/>
            </a:pPr>
            <a:r>
              <a:rPr lang="es-AR" dirty="0">
                <a:solidFill>
                  <a:schemeClr val="bg1"/>
                </a:solidFill>
              </a:rPr>
              <a:t>Roger Martinez</a:t>
            </a:r>
          </a:p>
          <a:p>
            <a:pPr marL="285750" indent="-285750">
              <a:buFont typeface="Arial" panose="020B0604020202020204" pitchFamily="34" charset="0"/>
              <a:buChar char="•"/>
            </a:pPr>
            <a:r>
              <a:rPr lang="es-AR" dirty="0">
                <a:solidFill>
                  <a:schemeClr val="bg1"/>
                </a:solidFill>
              </a:rPr>
              <a:t>Stella Almendra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713232"/>
            <a:ext cx="11064240" cy="822960"/>
          </a:xfrm>
          <a:prstGeom prst="rect">
            <a:avLst/>
          </a:prstGeom>
          <a:noFill/>
          <a:ln/>
        </p:spPr>
        <p:txBody>
          <a:bodyPr wrap="square" lIns="0" tIns="0" rIns="0" bIns="0" rtlCol="0" anchor="ctr"/>
          <a:lstStyle/>
          <a:p>
            <a:pPr marL="0" indent="0">
              <a:buNone/>
            </a:pPr>
            <a:r>
              <a:rPr lang="en-US" sz="3000" b="1" dirty="0" err="1">
                <a:solidFill>
                  <a:srgbClr val="1C2B36"/>
                </a:solidFill>
                <a:latin typeface="Cambria" pitchFamily="34" charset="0"/>
                <a:ea typeface="Cambria" pitchFamily="34" charset="-122"/>
                <a:cs typeface="Cambria" pitchFamily="34" charset="-120"/>
              </a:rPr>
              <a:t>Introducción</a:t>
            </a:r>
            <a:endParaRPr lang="en-US" sz="3000" dirty="0"/>
          </a:p>
        </p:txBody>
      </p:sp>
      <p:sp>
        <p:nvSpPr>
          <p:cNvPr id="4" name="Shape 2"/>
          <p:cNvSpPr/>
          <p:nvPr/>
        </p:nvSpPr>
        <p:spPr>
          <a:xfrm>
            <a:off x="548640" y="1828800"/>
            <a:ext cx="3657600" cy="3931920"/>
          </a:xfrm>
          <a:prstGeom prst="roundRect">
            <a:avLst>
              <a:gd name="adj" fmla="val 2000"/>
            </a:avLst>
          </a:prstGeom>
          <a:solidFill>
            <a:srgbClr val="F4F6F8"/>
          </a:solidFill>
          <a:ln/>
        </p:spPr>
      </p:sp>
      <p:sp>
        <p:nvSpPr>
          <p:cNvPr id="5" name="Shape 3"/>
          <p:cNvSpPr/>
          <p:nvPr/>
        </p:nvSpPr>
        <p:spPr>
          <a:xfrm>
            <a:off x="548640" y="1828800"/>
            <a:ext cx="502920" cy="502920"/>
          </a:xfrm>
          <a:prstGeom prst="roundRect">
            <a:avLst>
              <a:gd name="adj" fmla="val 14545"/>
            </a:avLst>
          </a:prstGeom>
          <a:solidFill>
            <a:srgbClr val="2E86AB"/>
          </a:solidFill>
          <a:ln/>
        </p:spPr>
      </p:sp>
      <p:sp>
        <p:nvSpPr>
          <p:cNvPr id="6" name="Text 4"/>
          <p:cNvSpPr/>
          <p:nvPr/>
        </p:nvSpPr>
        <p:spPr>
          <a:xfrm>
            <a:off x="548640" y="18288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822960" y="2514600"/>
            <a:ext cx="3108960" cy="365760"/>
          </a:xfrm>
          <a:prstGeom prst="rect">
            <a:avLst/>
          </a:prstGeom>
          <a:noFill/>
          <a:ln/>
        </p:spPr>
        <p:txBody>
          <a:bodyPr wrap="square" lIns="0" tIns="0" rIns="0" bIns="0" rtlCol="0" anchor="ctr"/>
          <a:lstStyle/>
          <a:p>
            <a:pPr marL="0" indent="0">
              <a:buNone/>
            </a:pPr>
            <a:r>
              <a:rPr lang="en-US" sz="1600" b="1" dirty="0">
                <a:solidFill>
                  <a:srgbClr val="1C2B36"/>
                </a:solidFill>
                <a:latin typeface="Cambria" pitchFamily="34" charset="0"/>
                <a:ea typeface="Cambria" pitchFamily="34" charset="-122"/>
                <a:cs typeface="Cambria" pitchFamily="34" charset="-120"/>
              </a:rPr>
              <a:t>Problema</a:t>
            </a:r>
            <a:endParaRPr lang="en-US" sz="1600" dirty="0"/>
          </a:p>
        </p:txBody>
      </p:sp>
      <p:sp>
        <p:nvSpPr>
          <p:cNvPr id="8" name="Text 6"/>
          <p:cNvSpPr/>
          <p:nvPr/>
        </p:nvSpPr>
        <p:spPr>
          <a:xfrm>
            <a:off x="822960" y="2926080"/>
            <a:ext cx="3108960" cy="2651760"/>
          </a:xfrm>
          <a:prstGeom prst="rect">
            <a:avLst/>
          </a:prstGeom>
          <a:noFill/>
          <a:ln/>
        </p:spPr>
        <p:txBody>
          <a:bodyPr wrap="square" lIns="0" tIns="0" rIns="0" bIns="0" rtlCol="0" anchor="ctr"/>
          <a:lstStyle/>
          <a:p>
            <a:pPr marL="0" indent="0">
              <a:lnSpc>
                <a:spcPct val="125000"/>
              </a:lnSpc>
              <a:buNone/>
            </a:pPr>
            <a:r>
              <a:rPr lang="en-US" sz="1250" dirty="0">
                <a:solidFill>
                  <a:srgbClr val="6B7A88"/>
                </a:solidFill>
                <a:latin typeface="Calibri" pitchFamily="34" charset="0"/>
                <a:ea typeface="Calibri" pitchFamily="34" charset="-122"/>
                <a:cs typeface="Calibri" pitchFamily="34" charset="-120"/>
              </a:rPr>
              <a:t>La condición final de un alumno (Abandona, Regulariza o Promociona) suele conocerse recién al cierre del cuatrimestre, cuando ya no hay margen para intervenir.</a:t>
            </a:r>
            <a:endParaRPr lang="en-US" sz="1250" dirty="0"/>
          </a:p>
        </p:txBody>
      </p:sp>
      <p:sp>
        <p:nvSpPr>
          <p:cNvPr id="9" name="Shape 7"/>
          <p:cNvSpPr/>
          <p:nvPr/>
        </p:nvSpPr>
        <p:spPr>
          <a:xfrm>
            <a:off x="4462272" y="1828800"/>
            <a:ext cx="3657600" cy="3931920"/>
          </a:xfrm>
          <a:prstGeom prst="roundRect">
            <a:avLst>
              <a:gd name="adj" fmla="val 2000"/>
            </a:avLst>
          </a:prstGeom>
          <a:solidFill>
            <a:srgbClr val="F4F6F8"/>
          </a:solidFill>
          <a:ln/>
        </p:spPr>
      </p:sp>
      <p:sp>
        <p:nvSpPr>
          <p:cNvPr id="10" name="Shape 8"/>
          <p:cNvSpPr/>
          <p:nvPr/>
        </p:nvSpPr>
        <p:spPr>
          <a:xfrm>
            <a:off x="4462272" y="1828800"/>
            <a:ext cx="502920" cy="502920"/>
          </a:xfrm>
          <a:prstGeom prst="roundRect">
            <a:avLst>
              <a:gd name="adj" fmla="val 14545"/>
            </a:avLst>
          </a:prstGeom>
          <a:solidFill>
            <a:srgbClr val="E8743B"/>
          </a:solidFill>
          <a:ln/>
        </p:spPr>
      </p:sp>
      <p:sp>
        <p:nvSpPr>
          <p:cNvPr id="11" name="Text 9"/>
          <p:cNvSpPr/>
          <p:nvPr/>
        </p:nvSpPr>
        <p:spPr>
          <a:xfrm>
            <a:off x="4462272" y="18288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4736592" y="2514600"/>
            <a:ext cx="3108960" cy="365760"/>
          </a:xfrm>
          <a:prstGeom prst="rect">
            <a:avLst/>
          </a:prstGeom>
          <a:noFill/>
          <a:ln/>
        </p:spPr>
        <p:txBody>
          <a:bodyPr wrap="square" lIns="0" tIns="0" rIns="0" bIns="0" rtlCol="0" anchor="ctr"/>
          <a:lstStyle/>
          <a:p>
            <a:pPr marL="0" indent="0">
              <a:buNone/>
            </a:pPr>
            <a:r>
              <a:rPr lang="en-US" sz="1600" b="1" dirty="0">
                <a:solidFill>
                  <a:srgbClr val="1C2B36"/>
                </a:solidFill>
                <a:latin typeface="Cambria" pitchFamily="34" charset="0"/>
                <a:ea typeface="Cambria" pitchFamily="34" charset="-122"/>
                <a:cs typeface="Cambria" pitchFamily="34" charset="-120"/>
              </a:rPr>
              <a:t>Pregunta</a:t>
            </a:r>
            <a:endParaRPr lang="en-US" sz="1600" dirty="0"/>
          </a:p>
        </p:txBody>
      </p:sp>
      <p:sp>
        <p:nvSpPr>
          <p:cNvPr id="13" name="Text 11"/>
          <p:cNvSpPr/>
          <p:nvPr/>
        </p:nvSpPr>
        <p:spPr>
          <a:xfrm>
            <a:off x="4736592" y="2926080"/>
            <a:ext cx="3108960" cy="2651760"/>
          </a:xfrm>
          <a:prstGeom prst="rect">
            <a:avLst/>
          </a:prstGeom>
          <a:noFill/>
          <a:ln/>
        </p:spPr>
        <p:txBody>
          <a:bodyPr wrap="square" lIns="0" tIns="0" rIns="0" bIns="0" rtlCol="0" anchor="ctr"/>
          <a:lstStyle/>
          <a:p>
            <a:pPr marL="0" indent="0">
              <a:lnSpc>
                <a:spcPct val="125000"/>
              </a:lnSpc>
              <a:buNone/>
            </a:pPr>
            <a:r>
              <a:rPr lang="en-US" sz="1250" dirty="0">
                <a:solidFill>
                  <a:srgbClr val="6B7A88"/>
                </a:solidFill>
                <a:latin typeface="Calibri" pitchFamily="34" charset="0"/>
                <a:ea typeface="Calibri" pitchFamily="34" charset="-122"/>
                <a:cs typeface="Calibri" pitchFamily="34" charset="-120"/>
              </a:rPr>
              <a:t>¿Podemos predecir con anticipación, usando asistencia, notas parciales y TPs, qué alumnos están en riesgo de no </a:t>
            </a:r>
            <a:r>
              <a:rPr lang="en-US" sz="1250" dirty="0" err="1">
                <a:solidFill>
                  <a:srgbClr val="6B7A88"/>
                </a:solidFill>
                <a:latin typeface="Calibri" pitchFamily="34" charset="0"/>
                <a:ea typeface="Calibri" pitchFamily="34" charset="-122"/>
                <a:cs typeface="Calibri" pitchFamily="34" charset="-120"/>
              </a:rPr>
              <a:t>aprobar</a:t>
            </a:r>
            <a:r>
              <a:rPr lang="en-US" sz="1250" dirty="0">
                <a:solidFill>
                  <a:srgbClr val="6B7A88"/>
                </a:solidFill>
                <a:latin typeface="Calibri" pitchFamily="34" charset="0"/>
                <a:ea typeface="Calibri" pitchFamily="34" charset="-122"/>
                <a:cs typeface="Calibri" pitchFamily="34" charset="-120"/>
              </a:rPr>
              <a:t> la </a:t>
            </a:r>
            <a:r>
              <a:rPr lang="en-US" sz="1250" dirty="0" err="1">
                <a:solidFill>
                  <a:srgbClr val="6B7A88"/>
                </a:solidFill>
                <a:latin typeface="Calibri" pitchFamily="34" charset="0"/>
                <a:ea typeface="Calibri" pitchFamily="34" charset="-122"/>
                <a:cs typeface="Calibri" pitchFamily="34" charset="-120"/>
              </a:rPr>
              <a:t>materia</a:t>
            </a:r>
            <a:r>
              <a:rPr lang="en-US" sz="1250" dirty="0">
                <a:solidFill>
                  <a:srgbClr val="6B7A88"/>
                </a:solidFill>
                <a:latin typeface="Calibri" pitchFamily="34" charset="0"/>
                <a:ea typeface="Calibri" pitchFamily="34" charset="-122"/>
                <a:cs typeface="Calibri" pitchFamily="34" charset="-120"/>
              </a:rPr>
              <a:t> </a:t>
            </a:r>
            <a:r>
              <a:rPr lang="en-US" sz="1250" dirty="0" err="1">
                <a:solidFill>
                  <a:srgbClr val="6B7A88"/>
                </a:solidFill>
                <a:latin typeface="Calibri" pitchFamily="34" charset="0"/>
                <a:ea typeface="Calibri" pitchFamily="34" charset="-122"/>
                <a:cs typeface="Calibri" pitchFamily="34" charset="-120"/>
              </a:rPr>
              <a:t>Informática</a:t>
            </a:r>
            <a:r>
              <a:rPr lang="en-US" sz="1250" dirty="0">
                <a:solidFill>
                  <a:srgbClr val="6B7A88"/>
                </a:solidFill>
                <a:latin typeface="Calibri" pitchFamily="34" charset="0"/>
                <a:ea typeface="Calibri" pitchFamily="34" charset="-122"/>
                <a:cs typeface="Calibri" pitchFamily="34" charset="-120"/>
              </a:rPr>
              <a:t> 1 de </a:t>
            </a:r>
            <a:r>
              <a:rPr lang="en-US" sz="1250" dirty="0" err="1">
                <a:solidFill>
                  <a:srgbClr val="6B7A88"/>
                </a:solidFill>
                <a:latin typeface="Calibri" pitchFamily="34" charset="0"/>
                <a:ea typeface="Calibri" pitchFamily="34" charset="-122"/>
                <a:cs typeface="Calibri" pitchFamily="34" charset="-120"/>
              </a:rPr>
              <a:t>Ing</a:t>
            </a:r>
            <a:r>
              <a:rPr lang="en-US" sz="1250" dirty="0">
                <a:solidFill>
                  <a:srgbClr val="6B7A88"/>
                </a:solidFill>
                <a:latin typeface="Calibri" pitchFamily="34" charset="0"/>
                <a:ea typeface="Calibri" pitchFamily="34" charset="-122"/>
                <a:cs typeface="Calibri" pitchFamily="34" charset="-120"/>
              </a:rPr>
              <a:t> </a:t>
            </a:r>
            <a:r>
              <a:rPr lang="en-US" sz="1250" dirty="0" err="1">
                <a:solidFill>
                  <a:srgbClr val="6B7A88"/>
                </a:solidFill>
                <a:latin typeface="Calibri" pitchFamily="34" charset="0"/>
                <a:ea typeface="Calibri" pitchFamily="34" charset="-122"/>
                <a:cs typeface="Calibri" pitchFamily="34" charset="-120"/>
              </a:rPr>
              <a:t>Mecánica</a:t>
            </a:r>
            <a:r>
              <a:rPr lang="en-US" sz="1250" dirty="0">
                <a:solidFill>
                  <a:srgbClr val="6B7A88"/>
                </a:solidFill>
                <a:latin typeface="Calibri" pitchFamily="34" charset="0"/>
                <a:ea typeface="Calibri" pitchFamily="34" charset="-122"/>
                <a:cs typeface="Calibri" pitchFamily="34" charset="-120"/>
              </a:rPr>
              <a:t> de la UTN FRC?</a:t>
            </a:r>
            <a:endParaRPr lang="en-US" sz="1250" dirty="0"/>
          </a:p>
        </p:txBody>
      </p:sp>
      <p:sp>
        <p:nvSpPr>
          <p:cNvPr id="14" name="Shape 12"/>
          <p:cNvSpPr/>
          <p:nvPr/>
        </p:nvSpPr>
        <p:spPr>
          <a:xfrm>
            <a:off x="8375904" y="1828800"/>
            <a:ext cx="3657600" cy="3931920"/>
          </a:xfrm>
          <a:prstGeom prst="roundRect">
            <a:avLst>
              <a:gd name="adj" fmla="val 2000"/>
            </a:avLst>
          </a:prstGeom>
          <a:solidFill>
            <a:srgbClr val="F4F6F8"/>
          </a:solidFill>
          <a:ln/>
        </p:spPr>
      </p:sp>
      <p:sp>
        <p:nvSpPr>
          <p:cNvPr id="15" name="Shape 13"/>
          <p:cNvSpPr/>
          <p:nvPr/>
        </p:nvSpPr>
        <p:spPr>
          <a:xfrm>
            <a:off x="8375904" y="1828800"/>
            <a:ext cx="502920" cy="502920"/>
          </a:xfrm>
          <a:prstGeom prst="roundRect">
            <a:avLst>
              <a:gd name="adj" fmla="val 14545"/>
            </a:avLst>
          </a:prstGeom>
          <a:solidFill>
            <a:srgbClr val="3DA35D"/>
          </a:solidFill>
          <a:ln/>
        </p:spPr>
      </p:sp>
      <p:sp>
        <p:nvSpPr>
          <p:cNvPr id="16" name="Text 14"/>
          <p:cNvSpPr/>
          <p:nvPr/>
        </p:nvSpPr>
        <p:spPr>
          <a:xfrm>
            <a:off x="8375904" y="18288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8650224" y="2514600"/>
            <a:ext cx="3108960" cy="365760"/>
          </a:xfrm>
          <a:prstGeom prst="rect">
            <a:avLst/>
          </a:prstGeom>
          <a:noFill/>
          <a:ln/>
        </p:spPr>
        <p:txBody>
          <a:bodyPr wrap="square" lIns="0" tIns="0" rIns="0" bIns="0" rtlCol="0" anchor="ctr"/>
          <a:lstStyle/>
          <a:p>
            <a:pPr marL="0" indent="0">
              <a:buNone/>
            </a:pPr>
            <a:r>
              <a:rPr lang="en-US" sz="1600" b="1" dirty="0">
                <a:solidFill>
                  <a:srgbClr val="1C2B36"/>
                </a:solidFill>
                <a:latin typeface="Cambria" pitchFamily="34" charset="0"/>
                <a:ea typeface="Cambria" pitchFamily="34" charset="-122"/>
                <a:cs typeface="Cambria" pitchFamily="34" charset="-120"/>
              </a:rPr>
              <a:t>Enfoque</a:t>
            </a:r>
            <a:endParaRPr lang="en-US" sz="1600" dirty="0"/>
          </a:p>
        </p:txBody>
      </p:sp>
      <p:sp>
        <p:nvSpPr>
          <p:cNvPr id="18" name="Text 16"/>
          <p:cNvSpPr/>
          <p:nvPr/>
        </p:nvSpPr>
        <p:spPr>
          <a:xfrm>
            <a:off x="8650224" y="2926080"/>
            <a:ext cx="3108960" cy="2651760"/>
          </a:xfrm>
          <a:prstGeom prst="rect">
            <a:avLst/>
          </a:prstGeom>
          <a:noFill/>
          <a:ln/>
        </p:spPr>
        <p:txBody>
          <a:bodyPr wrap="square" lIns="0" tIns="0" rIns="0" bIns="0" rtlCol="0" anchor="ctr"/>
          <a:lstStyle/>
          <a:p>
            <a:pPr marL="0" indent="0">
              <a:lnSpc>
                <a:spcPct val="125000"/>
              </a:lnSpc>
              <a:buNone/>
            </a:pPr>
            <a:r>
              <a:rPr lang="en-US" sz="1250" dirty="0" err="1">
                <a:solidFill>
                  <a:srgbClr val="6B7A88"/>
                </a:solidFill>
                <a:latin typeface="Calibri" pitchFamily="34" charset="0"/>
                <a:ea typeface="Calibri" pitchFamily="34" charset="-122"/>
                <a:cs typeface="Calibri" pitchFamily="34" charset="-120"/>
              </a:rPr>
              <a:t>Entrenar</a:t>
            </a:r>
            <a:r>
              <a:rPr lang="en-US" sz="1250" dirty="0">
                <a:solidFill>
                  <a:srgbClr val="6B7A88"/>
                </a:solidFill>
                <a:latin typeface="Calibri" pitchFamily="34" charset="0"/>
                <a:ea typeface="Calibri" pitchFamily="34" charset="-122"/>
                <a:cs typeface="Calibri" pitchFamily="34" charset="-120"/>
              </a:rPr>
              <a:t> dos </a:t>
            </a:r>
            <a:r>
              <a:rPr lang="en-US" sz="1250" dirty="0" err="1">
                <a:solidFill>
                  <a:srgbClr val="6B7A88"/>
                </a:solidFill>
                <a:latin typeface="Calibri" pitchFamily="34" charset="0"/>
                <a:ea typeface="Calibri" pitchFamily="34" charset="-122"/>
                <a:cs typeface="Calibri" pitchFamily="34" charset="-120"/>
              </a:rPr>
              <a:t>modelos</a:t>
            </a:r>
            <a:r>
              <a:rPr lang="en-US" sz="1250" dirty="0">
                <a:solidFill>
                  <a:srgbClr val="6B7A88"/>
                </a:solidFill>
                <a:latin typeface="Calibri" pitchFamily="34" charset="0"/>
                <a:ea typeface="Calibri" pitchFamily="34" charset="-122"/>
                <a:cs typeface="Calibri" pitchFamily="34" charset="-120"/>
              </a:rPr>
              <a:t> de clasificación (Random Forest y AdaBoost) y comparar cuáles variables explican mejor el resultado, para transformarlo en una recomendación institucional.</a:t>
            </a:r>
            <a:endParaRPr lang="en-US" sz="1250" dirty="0"/>
          </a:p>
        </p:txBody>
      </p:sp>
      <p:sp>
        <p:nvSpPr>
          <p:cNvPr id="19" name="Text 17"/>
          <p:cNvSpPr/>
          <p:nvPr/>
        </p:nvSpPr>
        <p:spPr>
          <a:xfrm>
            <a:off x="457200" y="6473952"/>
            <a:ext cx="86868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TP Hackatón · Informática y Análisis 1 — Predicción de rendimiento académico</a:t>
            </a:r>
            <a:endParaRPr lang="en-US" sz="900" dirty="0"/>
          </a:p>
        </p:txBody>
      </p:sp>
      <p:sp>
        <p:nvSpPr>
          <p:cNvPr id="20" name="Text 18"/>
          <p:cNvSpPr/>
          <p:nvPr/>
        </p:nvSpPr>
        <p:spPr>
          <a:xfrm>
            <a:off x="10817352" y="6473952"/>
            <a:ext cx="9144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713232"/>
            <a:ext cx="11064240" cy="822960"/>
          </a:xfrm>
          <a:prstGeom prst="rect">
            <a:avLst/>
          </a:prstGeom>
          <a:noFill/>
          <a:ln/>
        </p:spPr>
        <p:txBody>
          <a:bodyPr wrap="square" lIns="0" tIns="0" rIns="0" bIns="0" rtlCol="0" anchor="ctr"/>
          <a:lstStyle/>
          <a:p>
            <a:r>
              <a:rPr lang="es-AR" sz="3000" b="1" dirty="0">
                <a:solidFill>
                  <a:srgbClr val="1C2B36"/>
                </a:solidFill>
                <a:latin typeface="Cambria" pitchFamily="34" charset="0"/>
                <a:ea typeface="Cambria" pitchFamily="34" charset="-122"/>
                <a:cs typeface="Cambria" pitchFamily="34" charset="-120"/>
              </a:rPr>
              <a:t>Metodología</a:t>
            </a:r>
            <a:r>
              <a:rPr lang="en-US" sz="3000" b="1" dirty="0">
                <a:solidFill>
                  <a:srgbClr val="1C2B36"/>
                </a:solidFill>
                <a:latin typeface="Cambria" pitchFamily="34" charset="0"/>
                <a:ea typeface="Cambria" pitchFamily="34" charset="-122"/>
                <a:cs typeface="Cambria" pitchFamily="34" charset="-120"/>
              </a:rPr>
              <a:t> de </a:t>
            </a:r>
            <a:r>
              <a:rPr lang="en-US" sz="3000" b="1" dirty="0" err="1">
                <a:solidFill>
                  <a:srgbClr val="1C2B36"/>
                </a:solidFill>
                <a:latin typeface="Cambria" pitchFamily="34" charset="0"/>
                <a:ea typeface="Cambria" pitchFamily="34" charset="-122"/>
                <a:cs typeface="Cambria" pitchFamily="34" charset="-120"/>
              </a:rPr>
              <a:t>trabajo</a:t>
            </a:r>
            <a:r>
              <a:rPr lang="en-US" sz="3000" b="1" dirty="0">
                <a:solidFill>
                  <a:srgbClr val="1C2B36"/>
                </a:solidFill>
                <a:latin typeface="Cambria" pitchFamily="34" charset="0"/>
                <a:ea typeface="Cambria" pitchFamily="34" charset="-122"/>
                <a:cs typeface="Cambria" pitchFamily="34" charset="-120"/>
              </a:rPr>
              <a:t> </a:t>
            </a:r>
          </a:p>
        </p:txBody>
      </p:sp>
      <p:sp>
        <p:nvSpPr>
          <p:cNvPr id="4" name="Shape 2"/>
          <p:cNvSpPr/>
          <p:nvPr/>
        </p:nvSpPr>
        <p:spPr>
          <a:xfrm>
            <a:off x="548640" y="1828800"/>
            <a:ext cx="3267986" cy="3931920"/>
          </a:xfrm>
          <a:prstGeom prst="roundRect">
            <a:avLst>
              <a:gd name="adj" fmla="val 2000"/>
            </a:avLst>
          </a:prstGeom>
          <a:solidFill>
            <a:srgbClr val="F4F6F8"/>
          </a:solidFill>
          <a:ln/>
        </p:spPr>
        <p:txBody>
          <a:bodyPr/>
          <a:lstStyle/>
          <a:p>
            <a:endParaRPr lang="es-AR" dirty="0"/>
          </a:p>
        </p:txBody>
      </p:sp>
      <p:sp>
        <p:nvSpPr>
          <p:cNvPr id="5" name="Shape 3"/>
          <p:cNvSpPr/>
          <p:nvPr/>
        </p:nvSpPr>
        <p:spPr>
          <a:xfrm>
            <a:off x="548640" y="1828800"/>
            <a:ext cx="502920" cy="502920"/>
          </a:xfrm>
          <a:prstGeom prst="roundRect">
            <a:avLst>
              <a:gd name="adj" fmla="val 14545"/>
            </a:avLst>
          </a:prstGeom>
          <a:solidFill>
            <a:srgbClr val="2E86AB"/>
          </a:solidFill>
          <a:ln/>
        </p:spPr>
      </p:sp>
      <p:sp>
        <p:nvSpPr>
          <p:cNvPr id="6" name="Text 4"/>
          <p:cNvSpPr/>
          <p:nvPr/>
        </p:nvSpPr>
        <p:spPr>
          <a:xfrm>
            <a:off x="548640" y="18288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822960" y="2514600"/>
            <a:ext cx="3108960" cy="365760"/>
          </a:xfrm>
          <a:prstGeom prst="rect">
            <a:avLst/>
          </a:prstGeom>
          <a:noFill/>
          <a:ln/>
        </p:spPr>
        <p:txBody>
          <a:bodyPr wrap="square" lIns="0" tIns="0" rIns="0" bIns="0" rtlCol="0" anchor="ctr"/>
          <a:lstStyle/>
          <a:p>
            <a:pPr marL="0" indent="0">
              <a:buNone/>
            </a:pPr>
            <a:r>
              <a:rPr lang="en-US" sz="1600" b="1" dirty="0">
                <a:solidFill>
                  <a:srgbClr val="1C2B36"/>
                </a:solidFill>
                <a:latin typeface="Cambria" pitchFamily="34" charset="0"/>
                <a:ea typeface="Cambria" pitchFamily="34" charset="-122"/>
                <a:cs typeface="Cambria" pitchFamily="34" charset="-120"/>
              </a:rPr>
              <a:t>Variables</a:t>
            </a:r>
            <a:endParaRPr lang="en-US" sz="1600" dirty="0"/>
          </a:p>
        </p:txBody>
      </p:sp>
      <p:sp>
        <p:nvSpPr>
          <p:cNvPr id="8" name="Text 6"/>
          <p:cNvSpPr/>
          <p:nvPr/>
        </p:nvSpPr>
        <p:spPr>
          <a:xfrm>
            <a:off x="655585" y="2942404"/>
            <a:ext cx="3474720" cy="2651760"/>
          </a:xfrm>
          <a:prstGeom prst="rect">
            <a:avLst/>
          </a:prstGeom>
          <a:noFill/>
          <a:ln/>
        </p:spPr>
        <p:txBody>
          <a:bodyPr wrap="square" lIns="0" tIns="0" rIns="0" bIns="0" rtlCol="0" anchor="ctr"/>
          <a:lstStyle/>
          <a:p>
            <a:pPr>
              <a:lnSpc>
                <a:spcPct val="125000"/>
              </a:lnSpc>
            </a:pPr>
            <a:r>
              <a:rPr lang="es-ES" sz="1250" dirty="0">
                <a:solidFill>
                  <a:srgbClr val="6B7A88"/>
                </a:solidFill>
                <a:latin typeface="Calibri" pitchFamily="34" charset="0"/>
                <a:ea typeface="Calibri" pitchFamily="34" charset="-122"/>
                <a:cs typeface="Calibri" pitchFamily="34" charset="-120"/>
              </a:rPr>
              <a:t>Presentar el </a:t>
            </a:r>
            <a:r>
              <a:rPr lang="es-ES" sz="1250" dirty="0" err="1">
                <a:solidFill>
                  <a:srgbClr val="6B7A88"/>
                </a:solidFill>
                <a:latin typeface="Calibri" pitchFamily="34" charset="0"/>
                <a:ea typeface="Calibri" pitchFamily="34" charset="-122"/>
                <a:cs typeface="Calibri" pitchFamily="34" charset="-120"/>
              </a:rPr>
              <a:t>dataset</a:t>
            </a:r>
            <a:r>
              <a:rPr lang="es-ES" sz="1250" dirty="0">
                <a:solidFill>
                  <a:srgbClr val="6B7A88"/>
                </a:solidFill>
                <a:latin typeface="Calibri" pitchFamily="34" charset="0"/>
                <a:ea typeface="Calibri" pitchFamily="34" charset="-122"/>
                <a:cs typeface="Calibri" pitchFamily="34" charset="-120"/>
              </a:rPr>
              <a:t> de los 1,500 estudiantes de la UTN FRC, mencionando las variables clave: Nota_Parcial1_Informatica, </a:t>
            </a:r>
          </a:p>
          <a:p>
            <a:pPr>
              <a:lnSpc>
                <a:spcPct val="125000"/>
              </a:lnSpc>
            </a:pPr>
            <a:r>
              <a:rPr lang="es-ES" sz="1250" dirty="0" err="1">
                <a:solidFill>
                  <a:srgbClr val="6B7A88"/>
                </a:solidFill>
                <a:latin typeface="Calibri" pitchFamily="34" charset="0"/>
                <a:ea typeface="Calibri" pitchFamily="34" charset="-122"/>
                <a:cs typeface="Calibri" pitchFamily="34" charset="-120"/>
              </a:rPr>
              <a:t>Nota_TP_Individual</a:t>
            </a:r>
            <a:r>
              <a:rPr lang="es-ES" sz="1250" dirty="0">
                <a:solidFill>
                  <a:srgbClr val="6B7A88"/>
                </a:solidFill>
                <a:latin typeface="Calibri" pitchFamily="34" charset="0"/>
                <a:ea typeface="Calibri" pitchFamily="34" charset="-122"/>
                <a:cs typeface="Calibri" pitchFamily="34" charset="-120"/>
              </a:rPr>
              <a:t>, </a:t>
            </a:r>
          </a:p>
          <a:p>
            <a:pPr>
              <a:lnSpc>
                <a:spcPct val="125000"/>
              </a:lnSpc>
            </a:pPr>
            <a:r>
              <a:rPr lang="es-ES" sz="1250" dirty="0" err="1">
                <a:solidFill>
                  <a:srgbClr val="6B7A88"/>
                </a:solidFill>
                <a:latin typeface="Calibri" pitchFamily="34" charset="0"/>
                <a:ea typeface="Calibri" pitchFamily="34" charset="-122"/>
                <a:cs typeface="Calibri" pitchFamily="34" charset="-120"/>
              </a:rPr>
              <a:t>Nota_TP_Grupal</a:t>
            </a:r>
            <a:r>
              <a:rPr lang="es-ES" sz="1250" dirty="0">
                <a:solidFill>
                  <a:srgbClr val="6B7A88"/>
                </a:solidFill>
                <a:latin typeface="Calibri" pitchFamily="34" charset="0"/>
                <a:ea typeface="Calibri" pitchFamily="34" charset="-122"/>
                <a:cs typeface="Calibri" pitchFamily="34" charset="-120"/>
              </a:rPr>
              <a:t>, </a:t>
            </a:r>
          </a:p>
          <a:p>
            <a:pPr>
              <a:lnSpc>
                <a:spcPct val="125000"/>
              </a:lnSpc>
            </a:pPr>
            <a:r>
              <a:rPr lang="es-ES" sz="1250" dirty="0" err="1">
                <a:solidFill>
                  <a:srgbClr val="6B7A88"/>
                </a:solidFill>
                <a:latin typeface="Calibri" pitchFamily="34" charset="0"/>
                <a:ea typeface="Calibri" pitchFamily="34" charset="-122"/>
                <a:cs typeface="Calibri" pitchFamily="34" charset="-120"/>
              </a:rPr>
              <a:t>Porcentaje_Asistencia</a:t>
            </a:r>
            <a:endParaRPr lang="es-ES" sz="1250" dirty="0">
              <a:solidFill>
                <a:srgbClr val="6B7A88"/>
              </a:solidFill>
              <a:latin typeface="Calibri" pitchFamily="34" charset="0"/>
              <a:ea typeface="Calibri" pitchFamily="34" charset="-122"/>
              <a:cs typeface="Calibri" pitchFamily="34" charset="-120"/>
            </a:endParaRPr>
          </a:p>
          <a:p>
            <a:pPr>
              <a:lnSpc>
                <a:spcPct val="125000"/>
              </a:lnSpc>
            </a:pPr>
            <a:r>
              <a:rPr lang="es-ES" sz="1250" dirty="0" err="1">
                <a:solidFill>
                  <a:srgbClr val="6B7A88"/>
                </a:solidFill>
                <a:latin typeface="Calibri" pitchFamily="34" charset="0"/>
                <a:ea typeface="Calibri" pitchFamily="34" charset="-122"/>
                <a:cs typeface="Calibri" pitchFamily="34" charset="-120"/>
              </a:rPr>
              <a:t>Condicion_Final</a:t>
            </a:r>
            <a:r>
              <a:rPr lang="es-ES" sz="1250" dirty="0">
                <a:solidFill>
                  <a:srgbClr val="6B7A88"/>
                </a:solidFill>
                <a:latin typeface="Calibri" pitchFamily="34" charset="0"/>
                <a:ea typeface="Calibri" pitchFamily="34" charset="-122"/>
                <a:cs typeface="Calibri" pitchFamily="34" charset="-120"/>
              </a:rPr>
              <a:t>.</a:t>
            </a:r>
            <a:endParaRPr lang="en-US" sz="1250" dirty="0">
              <a:solidFill>
                <a:srgbClr val="6B7A88"/>
              </a:solidFill>
              <a:latin typeface="Calibri" pitchFamily="34" charset="0"/>
              <a:ea typeface="Calibri" pitchFamily="34" charset="-122"/>
              <a:cs typeface="Calibri" pitchFamily="34" charset="-120"/>
            </a:endParaRPr>
          </a:p>
        </p:txBody>
      </p:sp>
      <p:sp>
        <p:nvSpPr>
          <p:cNvPr id="9" name="Shape 7"/>
          <p:cNvSpPr/>
          <p:nvPr/>
        </p:nvSpPr>
        <p:spPr>
          <a:xfrm>
            <a:off x="4047015" y="1437608"/>
            <a:ext cx="3859232" cy="5036344"/>
          </a:xfrm>
          <a:prstGeom prst="roundRect">
            <a:avLst>
              <a:gd name="adj" fmla="val 2000"/>
            </a:avLst>
          </a:prstGeom>
          <a:solidFill>
            <a:srgbClr val="F4F6F8"/>
          </a:solidFill>
          <a:ln/>
        </p:spPr>
        <p:txBody>
          <a:bodyPr/>
          <a:lstStyle/>
          <a:p>
            <a:endParaRPr lang="es-AR" dirty="0"/>
          </a:p>
        </p:txBody>
      </p:sp>
      <p:sp>
        <p:nvSpPr>
          <p:cNvPr id="10" name="Shape 8"/>
          <p:cNvSpPr/>
          <p:nvPr/>
        </p:nvSpPr>
        <p:spPr>
          <a:xfrm>
            <a:off x="4405487" y="1453356"/>
            <a:ext cx="502920" cy="502920"/>
          </a:xfrm>
          <a:prstGeom prst="roundRect">
            <a:avLst>
              <a:gd name="adj" fmla="val 14545"/>
            </a:avLst>
          </a:prstGeom>
          <a:solidFill>
            <a:srgbClr val="E8743B"/>
          </a:solidFill>
          <a:ln/>
        </p:spPr>
      </p:sp>
      <p:sp>
        <p:nvSpPr>
          <p:cNvPr id="11" name="Text 9"/>
          <p:cNvSpPr/>
          <p:nvPr/>
        </p:nvSpPr>
        <p:spPr>
          <a:xfrm>
            <a:off x="4383920" y="142060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5145024" y="1531556"/>
            <a:ext cx="3108960" cy="365760"/>
          </a:xfrm>
          <a:prstGeom prst="rect">
            <a:avLst/>
          </a:prstGeom>
          <a:noFill/>
          <a:ln/>
        </p:spPr>
        <p:txBody>
          <a:bodyPr wrap="square" lIns="0" tIns="0" rIns="0" bIns="0" rtlCol="0" anchor="ctr"/>
          <a:lstStyle/>
          <a:p>
            <a:pPr marL="0" indent="0">
              <a:buNone/>
            </a:pPr>
            <a:r>
              <a:rPr lang="en-US" sz="1600" b="1" dirty="0">
                <a:solidFill>
                  <a:srgbClr val="1C2B36"/>
                </a:solidFill>
                <a:latin typeface="Cambria" pitchFamily="34" charset="0"/>
                <a:ea typeface="Cambria" pitchFamily="34" charset="-122"/>
                <a:cs typeface="Cambria" pitchFamily="34" charset="-120"/>
              </a:rPr>
              <a:t>EDA</a:t>
            </a:r>
            <a:endParaRPr lang="en-US" sz="1600" dirty="0"/>
          </a:p>
        </p:txBody>
      </p:sp>
      <p:sp>
        <p:nvSpPr>
          <p:cNvPr id="13" name="Text 11"/>
          <p:cNvSpPr/>
          <p:nvPr/>
        </p:nvSpPr>
        <p:spPr>
          <a:xfrm>
            <a:off x="4154987" y="2836064"/>
            <a:ext cx="3455880" cy="2680272"/>
          </a:xfrm>
          <a:prstGeom prst="rect">
            <a:avLst/>
          </a:prstGeom>
          <a:noFill/>
          <a:ln/>
        </p:spPr>
        <p:txBody>
          <a:bodyPr wrap="square" lIns="0" tIns="0" rIns="0" bIns="0" rtlCol="0" anchor="ctr"/>
          <a:lstStyle/>
          <a:p>
            <a:pPr>
              <a:lnSpc>
                <a:spcPct val="125000"/>
              </a:lnSpc>
            </a:pPr>
            <a:r>
              <a:rPr lang="es-ES" sz="1250" dirty="0">
                <a:solidFill>
                  <a:srgbClr val="6B7A88"/>
                </a:solidFill>
                <a:latin typeface="Calibri" pitchFamily="34" charset="0"/>
                <a:ea typeface="Calibri" pitchFamily="34" charset="-122"/>
                <a:cs typeface="Calibri" pitchFamily="34" charset="-120"/>
              </a:rPr>
              <a:t>*Medidas de Tendencia Central y Posición </a:t>
            </a:r>
          </a:p>
          <a:p>
            <a:pPr>
              <a:lnSpc>
                <a:spcPct val="125000"/>
              </a:lnSpc>
            </a:pPr>
            <a:r>
              <a:rPr lang="es-ES" sz="1250" dirty="0">
                <a:solidFill>
                  <a:srgbClr val="6B7A88"/>
                </a:solidFill>
                <a:latin typeface="Calibri" pitchFamily="34" charset="0"/>
                <a:ea typeface="Calibri" pitchFamily="34" charset="-122"/>
                <a:cs typeface="Calibri" pitchFamily="34" charset="-120"/>
              </a:rPr>
              <a:t>Se calcularon los promedios y las medianas, explicando cómo el curso se mueve en torno a un rendimiento estable (6.8 de promedio). </a:t>
            </a:r>
          </a:p>
          <a:p>
            <a:pPr>
              <a:lnSpc>
                <a:spcPct val="125000"/>
              </a:lnSpc>
            </a:pPr>
            <a:r>
              <a:rPr lang="es-ES" sz="1250" dirty="0">
                <a:solidFill>
                  <a:srgbClr val="6B7A88"/>
                </a:solidFill>
                <a:latin typeface="Calibri" pitchFamily="34" charset="0"/>
                <a:ea typeface="Calibri" pitchFamily="34" charset="-122"/>
                <a:cs typeface="Calibri" pitchFamily="34" charset="-120"/>
              </a:rPr>
              <a:t>*Análisis de cuartiles (Q_1 y Q_3)</a:t>
            </a:r>
          </a:p>
          <a:p>
            <a:pPr>
              <a:lnSpc>
                <a:spcPct val="125000"/>
              </a:lnSpc>
            </a:pPr>
            <a:r>
              <a:rPr lang="es-ES" sz="1250" dirty="0">
                <a:solidFill>
                  <a:srgbClr val="6B7A88"/>
                </a:solidFill>
                <a:latin typeface="Calibri" pitchFamily="34" charset="0"/>
                <a:ea typeface="Calibri" pitchFamily="34" charset="-122"/>
                <a:cs typeface="Calibri" pitchFamily="34" charset="-120"/>
              </a:rPr>
              <a:t>Sirvieron para marcar el piso del 25% inferior y el techo del 25% superior.</a:t>
            </a:r>
          </a:p>
          <a:p>
            <a:pPr>
              <a:lnSpc>
                <a:spcPct val="125000"/>
              </a:lnSpc>
            </a:pPr>
            <a:r>
              <a:rPr lang="es-ES" sz="1250" dirty="0">
                <a:solidFill>
                  <a:srgbClr val="6B7A88"/>
                </a:solidFill>
                <a:latin typeface="Calibri" pitchFamily="34" charset="0"/>
                <a:ea typeface="Calibri" pitchFamily="34" charset="-122"/>
                <a:cs typeface="Calibri" pitchFamily="34" charset="-120"/>
              </a:rPr>
              <a:t>*Dispersión y Comparativa </a:t>
            </a:r>
          </a:p>
          <a:p>
            <a:pPr>
              <a:lnSpc>
                <a:spcPct val="125000"/>
              </a:lnSpc>
            </a:pPr>
            <a:r>
              <a:rPr lang="es-ES" sz="1250" dirty="0">
                <a:solidFill>
                  <a:srgbClr val="6B7A88"/>
                </a:solidFill>
                <a:latin typeface="Calibri" pitchFamily="34" charset="0"/>
                <a:ea typeface="Calibri" pitchFamily="34" charset="-122"/>
                <a:cs typeface="Calibri" pitchFamily="34" charset="-120"/>
              </a:rPr>
              <a:t>Se analizó la variabilidad del curso a través del rango </a:t>
            </a:r>
            <a:r>
              <a:rPr lang="es-ES" sz="1250" dirty="0" err="1">
                <a:solidFill>
                  <a:srgbClr val="6B7A88"/>
                </a:solidFill>
                <a:latin typeface="Calibri" pitchFamily="34" charset="0"/>
                <a:ea typeface="Calibri" pitchFamily="34" charset="-122"/>
                <a:cs typeface="Calibri" pitchFamily="34" charset="-120"/>
              </a:rPr>
              <a:t>intercuartil</a:t>
            </a:r>
            <a:r>
              <a:rPr lang="es-ES" sz="1250" dirty="0">
                <a:solidFill>
                  <a:srgbClr val="6B7A88"/>
                </a:solidFill>
                <a:latin typeface="Calibri" pitchFamily="34" charset="0"/>
                <a:ea typeface="Calibri" pitchFamily="34" charset="-122"/>
                <a:cs typeface="Calibri" pitchFamily="34" charset="-120"/>
              </a:rPr>
              <a:t> y la desviación típica  aprox. 1.86</a:t>
            </a:r>
          </a:p>
          <a:p>
            <a:pPr>
              <a:lnSpc>
                <a:spcPct val="125000"/>
              </a:lnSpc>
            </a:pPr>
            <a:r>
              <a:rPr lang="es-ES" sz="1250" dirty="0">
                <a:solidFill>
                  <a:srgbClr val="6B7A88"/>
                </a:solidFill>
                <a:latin typeface="Calibri" pitchFamily="34" charset="0"/>
                <a:ea typeface="Calibri" pitchFamily="34" charset="-122"/>
                <a:cs typeface="Calibri" pitchFamily="34" charset="-120"/>
              </a:rPr>
              <a:t>*Correlación (Asistencia vs. Rendimiento).</a:t>
            </a:r>
          </a:p>
          <a:p>
            <a:pPr>
              <a:lnSpc>
                <a:spcPct val="125000"/>
              </a:lnSpc>
            </a:pPr>
            <a:r>
              <a:rPr lang="es-ES" sz="1250" dirty="0">
                <a:solidFill>
                  <a:srgbClr val="6B7A88"/>
                </a:solidFill>
                <a:latin typeface="Calibri" pitchFamily="34" charset="0"/>
                <a:ea typeface="Calibri" pitchFamily="34" charset="-122"/>
                <a:cs typeface="Calibri" pitchFamily="34" charset="-120"/>
              </a:rPr>
              <a:t>El gráfico de dispersión y su línea de tendencia demuestra cómo impacta la </a:t>
            </a:r>
            <a:r>
              <a:rPr lang="es-ES" sz="1250" dirty="0" err="1">
                <a:solidFill>
                  <a:srgbClr val="6B7A88"/>
                </a:solidFill>
                <a:latin typeface="Calibri" pitchFamily="34" charset="0"/>
                <a:ea typeface="Calibri" pitchFamily="34" charset="-122"/>
                <a:cs typeface="Calibri" pitchFamily="34" charset="-120"/>
              </a:rPr>
              <a:t>presencialidad</a:t>
            </a:r>
            <a:r>
              <a:rPr lang="es-ES" sz="1250" dirty="0">
                <a:solidFill>
                  <a:srgbClr val="6B7A88"/>
                </a:solidFill>
                <a:latin typeface="Calibri" pitchFamily="34" charset="0"/>
                <a:ea typeface="Calibri" pitchFamily="34" charset="-122"/>
                <a:cs typeface="Calibri" pitchFamily="34" charset="-120"/>
              </a:rPr>
              <a:t> en la nota del parcial 1.</a:t>
            </a:r>
          </a:p>
          <a:p>
            <a:pPr>
              <a:lnSpc>
                <a:spcPct val="125000"/>
              </a:lnSpc>
            </a:pPr>
            <a:r>
              <a:rPr lang="es-AR" sz="1250" dirty="0">
                <a:solidFill>
                  <a:srgbClr val="6B7A88"/>
                </a:solidFill>
                <a:latin typeface="Calibri" pitchFamily="34" charset="0"/>
                <a:ea typeface="Calibri" pitchFamily="34" charset="-122"/>
                <a:cs typeface="Calibri" pitchFamily="34" charset="-120"/>
              </a:rPr>
              <a:t>*Distribución del Target :</a:t>
            </a:r>
            <a:r>
              <a:rPr lang="es-ES" sz="1250" dirty="0">
                <a:solidFill>
                  <a:srgbClr val="6B7A88"/>
                </a:solidFill>
                <a:latin typeface="Calibri" pitchFamily="34" charset="0"/>
                <a:ea typeface="Calibri" pitchFamily="34" charset="-122"/>
                <a:cs typeface="Calibri" pitchFamily="34" charset="-120"/>
              </a:rPr>
              <a:t>El gráfico de barras de la  Condición Final.</a:t>
            </a:r>
            <a:endParaRPr lang="en-US" sz="1250" dirty="0">
              <a:solidFill>
                <a:srgbClr val="6B7A88"/>
              </a:solidFill>
              <a:latin typeface="Calibri" pitchFamily="34" charset="0"/>
              <a:ea typeface="Calibri" pitchFamily="34" charset="-122"/>
              <a:cs typeface="Calibri" pitchFamily="34" charset="-120"/>
            </a:endParaRPr>
          </a:p>
        </p:txBody>
      </p:sp>
      <p:sp>
        <p:nvSpPr>
          <p:cNvPr id="14" name="Shape 12"/>
          <p:cNvSpPr/>
          <p:nvPr/>
        </p:nvSpPr>
        <p:spPr>
          <a:xfrm>
            <a:off x="8136636" y="336364"/>
            <a:ext cx="3706633" cy="2994923"/>
          </a:xfrm>
          <a:prstGeom prst="roundRect">
            <a:avLst>
              <a:gd name="adj" fmla="val 2000"/>
            </a:avLst>
          </a:prstGeom>
          <a:solidFill>
            <a:srgbClr val="F4F6F8"/>
          </a:solidFill>
          <a:ln/>
        </p:spPr>
        <p:txBody>
          <a:bodyPr/>
          <a:lstStyle/>
          <a:p>
            <a:endParaRPr lang="es-AR" dirty="0"/>
          </a:p>
        </p:txBody>
      </p:sp>
      <p:sp>
        <p:nvSpPr>
          <p:cNvPr id="15" name="Shape 13"/>
          <p:cNvSpPr/>
          <p:nvPr/>
        </p:nvSpPr>
        <p:spPr>
          <a:xfrm>
            <a:off x="8358896" y="582907"/>
            <a:ext cx="502920" cy="502920"/>
          </a:xfrm>
          <a:prstGeom prst="roundRect">
            <a:avLst>
              <a:gd name="adj" fmla="val 14545"/>
            </a:avLst>
          </a:prstGeom>
          <a:solidFill>
            <a:srgbClr val="3DA35D"/>
          </a:solidFill>
          <a:ln/>
        </p:spPr>
      </p:sp>
      <p:sp>
        <p:nvSpPr>
          <p:cNvPr id="16" name="Text 14"/>
          <p:cNvSpPr/>
          <p:nvPr/>
        </p:nvSpPr>
        <p:spPr>
          <a:xfrm>
            <a:off x="8358896" y="54801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9176514" y="646349"/>
            <a:ext cx="1163240" cy="353846"/>
          </a:xfrm>
          <a:prstGeom prst="rect">
            <a:avLst/>
          </a:prstGeom>
          <a:noFill/>
          <a:ln/>
        </p:spPr>
        <p:txBody>
          <a:bodyPr wrap="square" lIns="0" tIns="0" rIns="0" bIns="0" rtlCol="0" anchor="ctr"/>
          <a:lstStyle/>
          <a:p>
            <a:pPr marL="0" indent="0">
              <a:buNone/>
            </a:pPr>
            <a:r>
              <a:rPr lang="en-US" sz="1600" b="1" dirty="0" err="1">
                <a:solidFill>
                  <a:srgbClr val="1C2B36"/>
                </a:solidFill>
                <a:latin typeface="Cambria" pitchFamily="34" charset="0"/>
                <a:ea typeface="Cambria" pitchFamily="34" charset="-122"/>
                <a:cs typeface="Cambria" pitchFamily="34" charset="-120"/>
              </a:rPr>
              <a:t>Modelo</a:t>
            </a:r>
            <a:endParaRPr lang="en-US" sz="1600" dirty="0"/>
          </a:p>
        </p:txBody>
      </p:sp>
      <p:sp>
        <p:nvSpPr>
          <p:cNvPr id="18" name="Text 16"/>
          <p:cNvSpPr/>
          <p:nvPr/>
        </p:nvSpPr>
        <p:spPr>
          <a:xfrm>
            <a:off x="8680695" y="1087870"/>
            <a:ext cx="2473176" cy="2018110"/>
          </a:xfrm>
          <a:prstGeom prst="rect">
            <a:avLst/>
          </a:prstGeom>
          <a:noFill/>
          <a:ln/>
        </p:spPr>
        <p:txBody>
          <a:bodyPr wrap="square" lIns="0" tIns="0" rIns="0" bIns="0" rtlCol="0" anchor="ctr"/>
          <a:lstStyle/>
          <a:p>
            <a:pPr marL="0" indent="0">
              <a:lnSpc>
                <a:spcPct val="125000"/>
              </a:lnSpc>
              <a:buNone/>
            </a:pPr>
            <a:r>
              <a:rPr lang="en-US" sz="1250" dirty="0" err="1">
                <a:solidFill>
                  <a:srgbClr val="6B7A88"/>
                </a:solidFill>
                <a:latin typeface="Calibri" pitchFamily="34" charset="0"/>
                <a:ea typeface="Calibri" pitchFamily="34" charset="-122"/>
                <a:cs typeface="Calibri" pitchFamily="34" charset="-120"/>
              </a:rPr>
              <a:t>Entrenar</a:t>
            </a:r>
            <a:r>
              <a:rPr lang="en-US" sz="1250" dirty="0">
                <a:solidFill>
                  <a:srgbClr val="6B7A88"/>
                </a:solidFill>
                <a:latin typeface="Calibri" pitchFamily="34" charset="0"/>
                <a:ea typeface="Calibri" pitchFamily="34" charset="-122"/>
                <a:cs typeface="Calibri" pitchFamily="34" charset="-120"/>
              </a:rPr>
              <a:t> dos </a:t>
            </a:r>
            <a:r>
              <a:rPr lang="en-US" sz="1250" dirty="0" err="1">
                <a:solidFill>
                  <a:srgbClr val="6B7A88"/>
                </a:solidFill>
                <a:latin typeface="Calibri" pitchFamily="34" charset="0"/>
                <a:ea typeface="Calibri" pitchFamily="34" charset="-122"/>
                <a:cs typeface="Calibri" pitchFamily="34" charset="-120"/>
              </a:rPr>
              <a:t>modelos</a:t>
            </a:r>
            <a:r>
              <a:rPr lang="en-US" sz="1250" dirty="0">
                <a:solidFill>
                  <a:srgbClr val="6B7A88"/>
                </a:solidFill>
                <a:latin typeface="Calibri" pitchFamily="34" charset="0"/>
                <a:ea typeface="Calibri" pitchFamily="34" charset="-122"/>
                <a:cs typeface="Calibri" pitchFamily="34" charset="-120"/>
              </a:rPr>
              <a:t> de clasificación (Random Forest y AdaBoost) y comparar cuáles variables explican mejor el resultado, para transformarlo en una recomendación institucional.</a:t>
            </a:r>
            <a:endParaRPr lang="en-US" sz="1250" dirty="0"/>
          </a:p>
        </p:txBody>
      </p:sp>
      <p:sp>
        <p:nvSpPr>
          <p:cNvPr id="19" name="Text 17"/>
          <p:cNvSpPr/>
          <p:nvPr/>
        </p:nvSpPr>
        <p:spPr>
          <a:xfrm>
            <a:off x="457200" y="6473952"/>
            <a:ext cx="86868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TP Hackatón · Informática y Análisis 1 — Predicción de rendimiento académico</a:t>
            </a:r>
            <a:endParaRPr lang="en-US" sz="900" dirty="0"/>
          </a:p>
        </p:txBody>
      </p:sp>
      <p:sp>
        <p:nvSpPr>
          <p:cNvPr id="20" name="Text 18"/>
          <p:cNvSpPr/>
          <p:nvPr/>
        </p:nvSpPr>
        <p:spPr>
          <a:xfrm>
            <a:off x="10817352" y="6473952"/>
            <a:ext cx="9144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2</a:t>
            </a:r>
            <a:endParaRPr lang="en-US" sz="900" dirty="0"/>
          </a:p>
        </p:txBody>
      </p:sp>
      <p:pic>
        <p:nvPicPr>
          <p:cNvPr id="21" name="Imagen 20"/>
          <p:cNvPicPr>
            <a:picLocks noChangeAspect="1"/>
          </p:cNvPicPr>
          <p:nvPr/>
        </p:nvPicPr>
        <p:blipFill>
          <a:blip r:embed="rId3"/>
          <a:stretch>
            <a:fillRect/>
          </a:stretch>
        </p:blipFill>
        <p:spPr>
          <a:xfrm>
            <a:off x="8312056" y="3148031"/>
            <a:ext cx="3516318" cy="3373605"/>
          </a:xfrm>
          <a:prstGeom prst="rect">
            <a:avLst/>
          </a:prstGeom>
          <a:effectLst>
            <a:outerShdw blurRad="50800" dist="38100" dir="2700000" algn="tl" rotWithShape="0">
              <a:prstClr val="black">
                <a:alpha val="40000"/>
              </a:prstClr>
            </a:outerShdw>
            <a:softEdge rad="31750"/>
          </a:effectLst>
        </p:spPr>
      </p:pic>
      <p:sp>
        <p:nvSpPr>
          <p:cNvPr id="22" name="Rectángulo 21"/>
          <p:cNvSpPr/>
          <p:nvPr/>
        </p:nvSpPr>
        <p:spPr>
          <a:xfrm>
            <a:off x="9701783" y="3688232"/>
            <a:ext cx="1423980" cy="338554"/>
          </a:xfrm>
          <a:prstGeom prst="rect">
            <a:avLst/>
          </a:prstGeom>
        </p:spPr>
        <p:txBody>
          <a:bodyPr wrap="none">
            <a:spAutoFit/>
          </a:bodyPr>
          <a:lstStyle/>
          <a:p>
            <a:r>
              <a:rPr lang="es-AR" sz="1600" b="1" dirty="0">
                <a:solidFill>
                  <a:srgbClr val="1C2B36"/>
                </a:solidFill>
                <a:latin typeface="Cambria" pitchFamily="34" charset="0"/>
                <a:ea typeface="Cambria" pitchFamily="34" charset="-122"/>
                <a:cs typeface="Cambria" pitchFamily="34" charset="-120"/>
              </a:rPr>
              <a:t>Conclusiones</a:t>
            </a:r>
          </a:p>
        </p:txBody>
      </p:sp>
      <p:sp>
        <p:nvSpPr>
          <p:cNvPr id="23" name="Shape 13"/>
          <p:cNvSpPr/>
          <p:nvPr/>
        </p:nvSpPr>
        <p:spPr>
          <a:xfrm>
            <a:off x="9013352" y="3580651"/>
            <a:ext cx="502920" cy="502920"/>
          </a:xfrm>
          <a:prstGeom prst="roundRect">
            <a:avLst>
              <a:gd name="adj" fmla="val 14545"/>
            </a:avLst>
          </a:prstGeom>
          <a:solidFill>
            <a:srgbClr val="7030A0"/>
          </a:solidFill>
          <a:ln/>
        </p:spPr>
        <p:txBody>
          <a:bodyPr/>
          <a:lstStyle/>
          <a:p>
            <a:r>
              <a:rPr lang="es-AR" dirty="0">
                <a:solidFill>
                  <a:schemeClr val="bg1"/>
                </a:solidFill>
              </a:rPr>
              <a:t>4</a:t>
            </a:r>
          </a:p>
        </p:txBody>
      </p:sp>
      <p:sp>
        <p:nvSpPr>
          <p:cNvPr id="24" name="Rectángulo 23"/>
          <p:cNvSpPr/>
          <p:nvPr/>
        </p:nvSpPr>
        <p:spPr>
          <a:xfrm>
            <a:off x="8713489" y="4058736"/>
            <a:ext cx="3129779" cy="2238626"/>
          </a:xfrm>
          <a:prstGeom prst="rect">
            <a:avLst/>
          </a:prstGeom>
        </p:spPr>
        <p:txBody>
          <a:bodyPr wrap="square">
            <a:spAutoFit/>
          </a:bodyPr>
          <a:lstStyle/>
          <a:p>
            <a:pPr>
              <a:lnSpc>
                <a:spcPct val="125000"/>
              </a:lnSpc>
            </a:pPr>
            <a:r>
              <a:rPr lang="es-ES" sz="1250" dirty="0">
                <a:solidFill>
                  <a:srgbClr val="6B7A88"/>
                </a:solidFill>
                <a:latin typeface="Calibri" pitchFamily="34" charset="0"/>
                <a:ea typeface="Calibri" pitchFamily="34" charset="-122"/>
                <a:cs typeface="Calibri" pitchFamily="34" charset="-120"/>
              </a:rPr>
              <a:t>Utilizamos un modelo de </a:t>
            </a:r>
            <a:r>
              <a:rPr lang="es-ES" sz="1250" dirty="0" err="1">
                <a:solidFill>
                  <a:srgbClr val="6B7A88"/>
                </a:solidFill>
                <a:latin typeface="Calibri" pitchFamily="34" charset="0"/>
                <a:ea typeface="Calibri" pitchFamily="34" charset="-122"/>
                <a:cs typeface="Calibri" pitchFamily="34" charset="-120"/>
              </a:rPr>
              <a:t>Random</a:t>
            </a:r>
            <a:r>
              <a:rPr lang="es-ES" sz="1250" dirty="0">
                <a:solidFill>
                  <a:srgbClr val="6B7A88"/>
                </a:solidFill>
                <a:latin typeface="Calibri" pitchFamily="34" charset="0"/>
                <a:ea typeface="Calibri" pitchFamily="34" charset="-122"/>
                <a:cs typeface="Calibri" pitchFamily="34" charset="-120"/>
              </a:rPr>
              <a:t> </a:t>
            </a:r>
            <a:r>
              <a:rPr lang="es-ES" sz="1250" dirty="0" err="1">
                <a:solidFill>
                  <a:srgbClr val="6B7A88"/>
                </a:solidFill>
                <a:latin typeface="Calibri" pitchFamily="34" charset="0"/>
                <a:ea typeface="Calibri" pitchFamily="34" charset="-122"/>
                <a:cs typeface="Calibri" pitchFamily="34" charset="-120"/>
              </a:rPr>
              <a:t>Forest</a:t>
            </a:r>
            <a:r>
              <a:rPr lang="es-ES" sz="1250" dirty="0">
                <a:solidFill>
                  <a:srgbClr val="6B7A88"/>
                </a:solidFill>
                <a:latin typeface="Calibri" pitchFamily="34" charset="0"/>
                <a:ea typeface="Calibri" pitchFamily="34" charset="-122"/>
                <a:cs typeface="Calibri" pitchFamily="34" charset="-120"/>
              </a:rPr>
              <a:t>, ideal para problemas de clasificación </a:t>
            </a:r>
            <a:r>
              <a:rPr lang="es-ES" sz="1250" dirty="0" err="1">
                <a:solidFill>
                  <a:srgbClr val="6B7A88"/>
                </a:solidFill>
                <a:latin typeface="Calibri" pitchFamily="34" charset="0"/>
                <a:ea typeface="Calibri" pitchFamily="34" charset="-122"/>
                <a:cs typeface="Calibri" pitchFamily="34" charset="-120"/>
              </a:rPr>
              <a:t>multiclase</a:t>
            </a:r>
            <a:r>
              <a:rPr lang="es-ES" sz="1250" dirty="0">
                <a:solidFill>
                  <a:srgbClr val="6B7A88"/>
                </a:solidFill>
                <a:latin typeface="Calibri" pitchFamily="34" charset="0"/>
                <a:ea typeface="Calibri" pitchFamily="34" charset="-122"/>
                <a:cs typeface="Calibri" pitchFamily="34" charset="-120"/>
              </a:rPr>
              <a:t>. </a:t>
            </a:r>
          </a:p>
          <a:p>
            <a:pPr>
              <a:lnSpc>
                <a:spcPct val="125000"/>
              </a:lnSpc>
            </a:pPr>
            <a:r>
              <a:rPr lang="es-ES" sz="1250" dirty="0">
                <a:solidFill>
                  <a:srgbClr val="6B7A88"/>
                </a:solidFill>
                <a:latin typeface="Calibri" pitchFamily="34" charset="0"/>
                <a:ea typeface="Calibri" pitchFamily="34" charset="-122"/>
                <a:cs typeface="Calibri" pitchFamily="34" charset="-120"/>
              </a:rPr>
              <a:t>El conjunto total de 1,500 registros de alumnos se </a:t>
            </a:r>
            <a:r>
              <a:rPr lang="es-ES" sz="1250" dirty="0" err="1">
                <a:solidFill>
                  <a:srgbClr val="6B7A88"/>
                </a:solidFill>
                <a:latin typeface="Calibri" pitchFamily="34" charset="0"/>
                <a:ea typeface="Calibri" pitchFamily="34" charset="-122"/>
                <a:cs typeface="Calibri" pitchFamily="34" charset="-120"/>
              </a:rPr>
              <a:t>particionó</a:t>
            </a:r>
            <a:r>
              <a:rPr lang="es-ES" sz="1250" dirty="0">
                <a:solidFill>
                  <a:srgbClr val="6B7A88"/>
                </a:solidFill>
                <a:latin typeface="Calibri" pitchFamily="34" charset="0"/>
                <a:ea typeface="Calibri" pitchFamily="34" charset="-122"/>
                <a:cs typeface="Calibri" pitchFamily="34" charset="-120"/>
              </a:rPr>
              <a:t> estratégicamente, destinando 1,200 registros para entrenamiento (</a:t>
            </a:r>
            <a:r>
              <a:rPr lang="es-ES" sz="1250" dirty="0" err="1">
                <a:solidFill>
                  <a:srgbClr val="6B7A88"/>
                </a:solidFill>
                <a:latin typeface="Calibri" pitchFamily="34" charset="0"/>
                <a:ea typeface="Calibri" pitchFamily="34" charset="-122"/>
                <a:cs typeface="Calibri" pitchFamily="34" charset="-120"/>
              </a:rPr>
              <a:t>train</a:t>
            </a:r>
            <a:r>
              <a:rPr lang="es-ES" sz="1250" dirty="0">
                <a:solidFill>
                  <a:srgbClr val="6B7A88"/>
                </a:solidFill>
                <a:latin typeface="Calibri" pitchFamily="34" charset="0"/>
                <a:ea typeface="Calibri" pitchFamily="34" charset="-122"/>
                <a:cs typeface="Calibri" pitchFamily="34" charset="-120"/>
              </a:rPr>
              <a:t>) y 300 registros para prueba (test) (datos totalmente nuevos para validar su efectividad).Matriz de Confusión.</a:t>
            </a:r>
            <a:endParaRPr lang="es-AR" sz="1250" dirty="0">
              <a:solidFill>
                <a:srgbClr val="6B7A88"/>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2510745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6324F"/>
        </a:solidFill>
        <a:effectLst/>
      </p:bgPr>
    </p:bg>
    <p:spTree>
      <p:nvGrpSpPr>
        <p:cNvPr id="1" name=""/>
        <p:cNvGrpSpPr/>
        <p:nvPr/>
      </p:nvGrpSpPr>
      <p:grpSpPr>
        <a:xfrm>
          <a:off x="0" y="0"/>
          <a:ext cx="0" cy="0"/>
          <a:chOff x="0" y="0"/>
          <a:chExt cx="0" cy="0"/>
        </a:xfrm>
      </p:grpSpPr>
      <p:sp>
        <p:nvSpPr>
          <p:cNvPr id="3" name="Shape 1"/>
          <p:cNvSpPr/>
          <p:nvPr/>
        </p:nvSpPr>
        <p:spPr>
          <a:xfrm>
            <a:off x="6705600" y="18103"/>
            <a:ext cx="5486400" cy="5486400"/>
          </a:xfrm>
          <a:prstGeom prst="ellipse">
            <a:avLst/>
          </a:prstGeom>
          <a:solidFill>
            <a:srgbClr val="1E4569"/>
          </a:solidFill>
          <a:ln/>
        </p:spPr>
      </p:sp>
      <p:sp>
        <p:nvSpPr>
          <p:cNvPr id="4" name="Shape 2"/>
          <p:cNvSpPr/>
          <p:nvPr/>
        </p:nvSpPr>
        <p:spPr>
          <a:xfrm>
            <a:off x="8226949" y="3246120"/>
            <a:ext cx="3657600" cy="3657600"/>
          </a:xfrm>
          <a:prstGeom prst="ellipse">
            <a:avLst/>
          </a:prstGeom>
          <a:solidFill>
            <a:srgbClr val="0F2338"/>
          </a:solidFill>
          <a:ln/>
        </p:spPr>
      </p:sp>
      <p:sp>
        <p:nvSpPr>
          <p:cNvPr id="5" name="Text 3"/>
          <p:cNvSpPr/>
          <p:nvPr/>
        </p:nvSpPr>
        <p:spPr>
          <a:xfrm>
            <a:off x="594360" y="868680"/>
            <a:ext cx="8229600" cy="365760"/>
          </a:xfrm>
          <a:prstGeom prst="rect">
            <a:avLst/>
          </a:prstGeom>
          <a:noFill/>
          <a:ln/>
        </p:spPr>
        <p:txBody>
          <a:bodyPr wrap="square" lIns="0" tIns="0" rIns="0" bIns="0" rtlCol="0" anchor="ctr"/>
          <a:lstStyle/>
          <a:p>
            <a:pPr marL="0" indent="0">
              <a:buNone/>
            </a:pPr>
            <a:r>
              <a:rPr lang="en-US" sz="1300" b="1" kern="0" spc="200" dirty="0">
                <a:solidFill>
                  <a:srgbClr val="6FB3D9"/>
                </a:solidFill>
                <a:latin typeface="Calibri" pitchFamily="34" charset="0"/>
                <a:ea typeface="Calibri" pitchFamily="34" charset="-122"/>
                <a:cs typeface="Calibri" pitchFamily="34" charset="-120"/>
              </a:rPr>
              <a:t>MACHINE LEARNING · PREDICCIÓN ACADÉMICA</a:t>
            </a:r>
            <a:endParaRPr lang="en-US" sz="1300" dirty="0"/>
          </a:p>
        </p:txBody>
      </p:sp>
      <p:sp>
        <p:nvSpPr>
          <p:cNvPr id="6" name="Text 4"/>
          <p:cNvSpPr/>
          <p:nvPr/>
        </p:nvSpPr>
        <p:spPr>
          <a:xfrm>
            <a:off x="457200" y="1156238"/>
            <a:ext cx="9875520" cy="14630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Variables </a:t>
            </a:r>
            <a:endParaRPr lang="en-US" sz="4000" dirty="0"/>
          </a:p>
        </p:txBody>
      </p:sp>
      <p:sp>
        <p:nvSpPr>
          <p:cNvPr id="7" name="Rectángulo 6"/>
          <p:cNvSpPr/>
          <p:nvPr/>
        </p:nvSpPr>
        <p:spPr>
          <a:xfrm>
            <a:off x="457200" y="2621756"/>
            <a:ext cx="7043530" cy="1292662"/>
          </a:xfrm>
          <a:prstGeom prst="rect">
            <a:avLst/>
          </a:prstGeom>
        </p:spPr>
        <p:txBody>
          <a:bodyPr wrap="square">
            <a:spAutoFit/>
          </a:bodyPr>
          <a:lstStyle/>
          <a:p>
            <a:r>
              <a:rPr lang="es-ES" sz="1300" b="1" kern="0" spc="200" dirty="0" err="1">
                <a:solidFill>
                  <a:schemeClr val="bg1"/>
                </a:solidFill>
                <a:latin typeface="Calibri" pitchFamily="34" charset="0"/>
                <a:ea typeface="Calibri" pitchFamily="34" charset="-122"/>
                <a:cs typeface="Calibri" pitchFamily="34" charset="-120"/>
              </a:rPr>
              <a:t>Dataset</a:t>
            </a:r>
            <a:r>
              <a:rPr lang="es-ES" sz="1300" b="1" kern="0" spc="200" dirty="0">
                <a:solidFill>
                  <a:schemeClr val="bg1"/>
                </a:solidFill>
                <a:latin typeface="Calibri" pitchFamily="34" charset="0"/>
                <a:ea typeface="Calibri" pitchFamily="34" charset="-122"/>
                <a:cs typeface="Calibri" pitchFamily="34" charset="-120"/>
              </a:rPr>
              <a:t> de 1,500 estudiantes (UTN FRC)</a:t>
            </a:r>
            <a:r>
              <a:rPr lang="es-ES" sz="1300" b="1" kern="0" spc="200" dirty="0" err="1">
                <a:solidFill>
                  <a:schemeClr val="bg1"/>
                </a:solidFill>
                <a:latin typeface="Calibri" pitchFamily="34" charset="0"/>
                <a:ea typeface="Calibri" pitchFamily="34" charset="-122"/>
                <a:cs typeface="Calibri" pitchFamily="34" charset="-120"/>
              </a:rPr>
              <a:t>Predictoras</a:t>
            </a:r>
            <a:r>
              <a:rPr lang="es-ES" sz="1300" b="1" kern="0" spc="200" dirty="0">
                <a:solidFill>
                  <a:schemeClr val="bg1"/>
                </a:solidFill>
                <a:latin typeface="Calibri" pitchFamily="34" charset="0"/>
                <a:ea typeface="Calibri" pitchFamily="34" charset="-122"/>
                <a:cs typeface="Calibri" pitchFamily="34" charset="-120"/>
              </a:rPr>
              <a:t> (Entrada):</a:t>
            </a:r>
          </a:p>
          <a:p>
            <a:r>
              <a:rPr lang="es-ES" sz="1300" b="1" kern="0" spc="200" dirty="0">
                <a:solidFill>
                  <a:schemeClr val="bg1"/>
                </a:solidFill>
                <a:latin typeface="Calibri" pitchFamily="34" charset="0"/>
                <a:ea typeface="Calibri" pitchFamily="34" charset="-122"/>
                <a:cs typeface="Calibri" pitchFamily="34" charset="-120"/>
              </a:rPr>
              <a:t>Nota_Parcial1_Informatica (Escala 1-10)</a:t>
            </a:r>
          </a:p>
          <a:p>
            <a:r>
              <a:rPr lang="es-ES" sz="1300" b="1" kern="0" spc="200" dirty="0" err="1">
                <a:solidFill>
                  <a:schemeClr val="bg1"/>
                </a:solidFill>
                <a:latin typeface="Calibri" pitchFamily="34" charset="0"/>
                <a:ea typeface="Calibri" pitchFamily="34" charset="-122"/>
                <a:cs typeface="Calibri" pitchFamily="34" charset="-120"/>
              </a:rPr>
              <a:t>Nota_TP_Individual</a:t>
            </a:r>
            <a:r>
              <a:rPr lang="es-ES" sz="1300" b="1" kern="0" spc="200" dirty="0">
                <a:solidFill>
                  <a:schemeClr val="bg1"/>
                </a:solidFill>
                <a:latin typeface="Calibri" pitchFamily="34" charset="0"/>
                <a:ea typeface="Calibri" pitchFamily="34" charset="-122"/>
                <a:cs typeface="Calibri" pitchFamily="34" charset="-120"/>
              </a:rPr>
              <a:t> y Grupal (Escala 1-10)</a:t>
            </a:r>
          </a:p>
          <a:p>
            <a:r>
              <a:rPr lang="es-ES" sz="1300" b="1" kern="0" spc="200" dirty="0" err="1">
                <a:solidFill>
                  <a:schemeClr val="bg1"/>
                </a:solidFill>
                <a:latin typeface="Calibri" pitchFamily="34" charset="0"/>
                <a:ea typeface="Calibri" pitchFamily="34" charset="-122"/>
                <a:cs typeface="Calibri" pitchFamily="34" charset="-120"/>
              </a:rPr>
              <a:t>Porcentaje_Asistencia</a:t>
            </a:r>
            <a:r>
              <a:rPr lang="es-ES" sz="1300" b="1" kern="0" spc="200" dirty="0">
                <a:solidFill>
                  <a:schemeClr val="bg1"/>
                </a:solidFill>
                <a:latin typeface="Calibri" pitchFamily="34" charset="0"/>
                <a:ea typeface="Calibri" pitchFamily="34" charset="-122"/>
                <a:cs typeface="Calibri" pitchFamily="34" charset="-120"/>
              </a:rPr>
              <a:t> (0% a 100%)</a:t>
            </a:r>
          </a:p>
          <a:p>
            <a:r>
              <a:rPr lang="es-ES" sz="1300" b="1" kern="0" spc="200" dirty="0">
                <a:solidFill>
                  <a:schemeClr val="bg1"/>
                </a:solidFill>
                <a:latin typeface="Calibri" pitchFamily="34" charset="0"/>
                <a:ea typeface="Calibri" pitchFamily="34" charset="-122"/>
                <a:cs typeface="Calibri" pitchFamily="34" charset="-120"/>
              </a:rPr>
              <a:t>Variable  Objetivo (Target):</a:t>
            </a:r>
          </a:p>
          <a:p>
            <a:r>
              <a:rPr lang="es-ES" sz="1300" b="1" kern="0" spc="200" dirty="0" err="1">
                <a:solidFill>
                  <a:schemeClr val="bg1"/>
                </a:solidFill>
                <a:latin typeface="Calibri" pitchFamily="34" charset="0"/>
                <a:ea typeface="Calibri" pitchFamily="34" charset="-122"/>
                <a:cs typeface="Calibri" pitchFamily="34" charset="-120"/>
              </a:rPr>
              <a:t>Condicion_Final</a:t>
            </a:r>
            <a:r>
              <a:rPr lang="es-ES" sz="1300" b="1" kern="0" spc="200" dirty="0">
                <a:solidFill>
                  <a:schemeClr val="bg1"/>
                </a:solidFill>
                <a:latin typeface="Calibri" pitchFamily="34" charset="0"/>
                <a:ea typeface="Calibri" pitchFamily="34" charset="-122"/>
                <a:cs typeface="Calibri" pitchFamily="34" charset="-120"/>
              </a:rPr>
              <a:t> (Regulariza / Desaprueba /Promociona)</a:t>
            </a:r>
            <a:endParaRPr lang="es-AR" sz="1300" b="1" kern="0" spc="200" dirty="0">
              <a:solidFill>
                <a:schemeClr val="bg1"/>
              </a:solidFill>
              <a:latin typeface="Calibri" pitchFamily="34" charset="0"/>
              <a:ea typeface="Calibri" pitchFamily="34" charset="-122"/>
              <a:cs typeface="Calibri" pitchFamily="34" charset="-120"/>
            </a:endParaRPr>
          </a:p>
        </p:txBody>
      </p:sp>
      <p:pic>
        <p:nvPicPr>
          <p:cNvPr id="8" name="Imagen 7"/>
          <p:cNvPicPr>
            <a:picLocks noChangeAspect="1"/>
          </p:cNvPicPr>
          <p:nvPr/>
        </p:nvPicPr>
        <p:blipFill>
          <a:blip r:embed="rId3"/>
          <a:stretch>
            <a:fillRect/>
          </a:stretch>
        </p:blipFill>
        <p:spPr>
          <a:xfrm>
            <a:off x="457200" y="4297680"/>
            <a:ext cx="8097520" cy="2320880"/>
          </a:xfrm>
          <a:prstGeom prst="rect">
            <a:avLst/>
          </a:prstGeom>
        </p:spPr>
      </p:pic>
      <p:pic>
        <p:nvPicPr>
          <p:cNvPr id="9" name="Imagen 8"/>
          <p:cNvPicPr>
            <a:picLocks noChangeAspect="1"/>
          </p:cNvPicPr>
          <p:nvPr/>
        </p:nvPicPr>
        <p:blipFill>
          <a:blip r:embed="rId4"/>
          <a:stretch>
            <a:fillRect/>
          </a:stretch>
        </p:blipFill>
        <p:spPr>
          <a:xfrm>
            <a:off x="8026386" y="3931920"/>
            <a:ext cx="3858163" cy="1390844"/>
          </a:xfrm>
          <a:prstGeom prst="rect">
            <a:avLst/>
          </a:prstGeom>
        </p:spPr>
      </p:pic>
      <p:sp>
        <p:nvSpPr>
          <p:cNvPr id="11" name="Rectángulo 10"/>
          <p:cNvSpPr/>
          <p:nvPr/>
        </p:nvSpPr>
        <p:spPr>
          <a:xfrm>
            <a:off x="5506720" y="558474"/>
            <a:ext cx="6096000" cy="2031325"/>
          </a:xfrm>
          <a:prstGeom prst="rect">
            <a:avLst/>
          </a:prstGeom>
        </p:spPr>
        <p:txBody>
          <a:bodyPr>
            <a:spAutoFit/>
          </a:bodyPr>
          <a:lstStyle/>
          <a:p>
            <a:r>
              <a:rPr lang="es-AR" dirty="0">
                <a:solidFill>
                  <a:schemeClr val="bg1"/>
                </a:solidFill>
              </a:rPr>
              <a:t>Nota_Parcial1_Informatica: Cuantitativa continua (</a:t>
            </a:r>
            <a:r>
              <a:rPr lang="es-AR" dirty="0" err="1">
                <a:solidFill>
                  <a:schemeClr val="bg1"/>
                </a:solidFill>
              </a:rPr>
              <a:t>Predictora</a:t>
            </a:r>
            <a:r>
              <a:rPr lang="es-AR" dirty="0">
                <a:solidFill>
                  <a:schemeClr val="bg1"/>
                </a:solidFill>
              </a:rPr>
              <a:t>).</a:t>
            </a:r>
            <a:r>
              <a:rPr lang="es-AR" dirty="0" err="1">
                <a:solidFill>
                  <a:schemeClr val="bg1"/>
                </a:solidFill>
              </a:rPr>
              <a:t>Nota_TP_Individual</a:t>
            </a:r>
            <a:r>
              <a:rPr lang="es-AR" dirty="0">
                <a:solidFill>
                  <a:schemeClr val="bg1"/>
                </a:solidFill>
              </a:rPr>
              <a:t>: Cuantitativa discreta (</a:t>
            </a:r>
            <a:r>
              <a:rPr lang="es-AR" dirty="0" err="1">
                <a:solidFill>
                  <a:schemeClr val="bg1"/>
                </a:solidFill>
              </a:rPr>
              <a:t>Predictora</a:t>
            </a:r>
            <a:r>
              <a:rPr lang="es-AR" dirty="0">
                <a:solidFill>
                  <a:schemeClr val="bg1"/>
                </a:solidFill>
              </a:rPr>
              <a:t>).</a:t>
            </a:r>
            <a:r>
              <a:rPr lang="es-AR" dirty="0" err="1">
                <a:solidFill>
                  <a:schemeClr val="bg1"/>
                </a:solidFill>
              </a:rPr>
              <a:t>Nota_TP_Grupal</a:t>
            </a:r>
            <a:r>
              <a:rPr lang="es-AR" dirty="0">
                <a:solidFill>
                  <a:schemeClr val="bg1"/>
                </a:solidFill>
              </a:rPr>
              <a:t>: Cuantitativa discreta (</a:t>
            </a:r>
            <a:r>
              <a:rPr lang="es-AR" dirty="0" err="1">
                <a:solidFill>
                  <a:schemeClr val="bg1"/>
                </a:solidFill>
              </a:rPr>
              <a:t>Predictora</a:t>
            </a:r>
            <a:r>
              <a:rPr lang="es-AR" dirty="0">
                <a:solidFill>
                  <a:schemeClr val="bg1"/>
                </a:solidFill>
              </a:rPr>
              <a:t>).</a:t>
            </a:r>
            <a:r>
              <a:rPr lang="es-AR" dirty="0" err="1">
                <a:solidFill>
                  <a:schemeClr val="bg1"/>
                </a:solidFill>
              </a:rPr>
              <a:t>Porcentaje_Asistencia</a:t>
            </a:r>
            <a:r>
              <a:rPr lang="es-AR" dirty="0">
                <a:solidFill>
                  <a:schemeClr val="bg1"/>
                </a:solidFill>
              </a:rPr>
              <a:t>: Cuantitativa continua / Porcentaje (</a:t>
            </a:r>
            <a:r>
              <a:rPr lang="es-AR" dirty="0" err="1">
                <a:solidFill>
                  <a:schemeClr val="bg1"/>
                </a:solidFill>
              </a:rPr>
              <a:t>Predictora</a:t>
            </a:r>
            <a:r>
              <a:rPr lang="es-AR" dirty="0">
                <a:solidFill>
                  <a:schemeClr val="bg1"/>
                </a:solidFill>
              </a:rPr>
              <a:t>).</a:t>
            </a:r>
            <a:r>
              <a:rPr lang="es-AR" dirty="0" err="1">
                <a:solidFill>
                  <a:schemeClr val="bg1"/>
                </a:solidFill>
              </a:rPr>
              <a:t>Condicion_Final</a:t>
            </a:r>
            <a:r>
              <a:rPr lang="es-AR" dirty="0">
                <a:solidFill>
                  <a:schemeClr val="bg1"/>
                </a:solidFill>
              </a:rPr>
              <a:t>: Categórica / </a:t>
            </a:r>
            <a:r>
              <a:rPr lang="es-AR" dirty="0" err="1">
                <a:solidFill>
                  <a:schemeClr val="bg1"/>
                </a:solidFill>
              </a:rPr>
              <a:t>Multiclase</a:t>
            </a:r>
            <a:r>
              <a:rPr lang="es-AR" dirty="0">
                <a:solidFill>
                  <a:schemeClr val="bg1"/>
                </a:solidFill>
              </a:rPr>
              <a:t> (Variable Objetivo / Target a predecir: regulariza, desaprueba, promociona).</a:t>
            </a:r>
          </a:p>
        </p:txBody>
      </p:sp>
    </p:spTree>
    <p:extLst>
      <p:ext uri="{BB962C8B-B14F-4D97-AF65-F5344CB8AC3E}">
        <p14:creationId xmlns:p14="http://schemas.microsoft.com/office/powerpoint/2010/main" val="1272749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457200"/>
            <a:ext cx="11064240" cy="822960"/>
          </a:xfrm>
          <a:prstGeom prst="rect">
            <a:avLst/>
          </a:prstGeom>
          <a:noFill/>
          <a:ln/>
        </p:spPr>
        <p:txBody>
          <a:bodyPr wrap="square" lIns="0" tIns="0" rIns="0" bIns="0" rtlCol="0" anchor="ctr"/>
          <a:lstStyle/>
          <a:p>
            <a:pPr marL="0" indent="0">
              <a:buNone/>
            </a:pPr>
            <a:r>
              <a:rPr lang="en-US" sz="3000" b="1" dirty="0">
                <a:solidFill>
                  <a:srgbClr val="1C2B36"/>
                </a:solidFill>
                <a:latin typeface="Cambria" pitchFamily="34" charset="0"/>
                <a:ea typeface="Cambria" pitchFamily="34" charset="-122"/>
                <a:cs typeface="Cambria" pitchFamily="34" charset="-120"/>
              </a:rPr>
              <a:t>Del dataset de Kaggle a un </a:t>
            </a:r>
            <a:r>
              <a:rPr lang="en-US" sz="3000" b="1" dirty="0" err="1">
                <a:solidFill>
                  <a:srgbClr val="1C2B36"/>
                </a:solidFill>
                <a:latin typeface="Cambria" pitchFamily="34" charset="0"/>
                <a:ea typeface="Cambria" pitchFamily="34" charset="-122"/>
                <a:cs typeface="Cambria" pitchFamily="34" charset="-120"/>
              </a:rPr>
              <a:t>caso</a:t>
            </a:r>
            <a:r>
              <a:rPr lang="en-US" sz="3000" b="1" dirty="0">
                <a:solidFill>
                  <a:srgbClr val="1C2B36"/>
                </a:solidFill>
                <a:latin typeface="Cambria" pitchFamily="34" charset="0"/>
                <a:ea typeface="Cambria" pitchFamily="34" charset="-122"/>
                <a:cs typeface="Cambria" pitchFamily="34" charset="-120"/>
              </a:rPr>
              <a:t> </a:t>
            </a:r>
            <a:r>
              <a:rPr lang="en-US" sz="3000" b="1" dirty="0" err="1">
                <a:solidFill>
                  <a:srgbClr val="1C2B36"/>
                </a:solidFill>
                <a:latin typeface="Cambria" pitchFamily="34" charset="0"/>
                <a:ea typeface="Cambria" pitchFamily="34" charset="-122"/>
                <a:cs typeface="Cambria" pitchFamily="34" charset="-120"/>
              </a:rPr>
              <a:t>propio</a:t>
            </a:r>
            <a:endParaRPr lang="en-US" sz="3000" dirty="0"/>
          </a:p>
        </p:txBody>
      </p:sp>
      <p:sp>
        <p:nvSpPr>
          <p:cNvPr id="4" name="Text 2"/>
          <p:cNvSpPr/>
          <p:nvPr/>
        </p:nvSpPr>
        <p:spPr>
          <a:xfrm>
            <a:off x="548640" y="1828800"/>
            <a:ext cx="5486400" cy="320040"/>
          </a:xfrm>
          <a:prstGeom prst="rect">
            <a:avLst/>
          </a:prstGeom>
          <a:noFill/>
          <a:ln/>
        </p:spPr>
        <p:txBody>
          <a:bodyPr wrap="square" lIns="0" tIns="0" rIns="0" bIns="0" rtlCol="0" anchor="ctr"/>
          <a:lstStyle/>
          <a:p>
            <a:pPr marL="0" indent="0">
              <a:buNone/>
            </a:pPr>
            <a:r>
              <a:rPr lang="en-US" sz="1300" b="1" dirty="0">
                <a:solidFill>
                  <a:srgbClr val="1C2B36"/>
                </a:solidFill>
                <a:latin typeface="Calibri" pitchFamily="34" charset="0"/>
                <a:ea typeface="Calibri" pitchFamily="34" charset="-122"/>
                <a:cs typeface="Calibri" pitchFamily="34" charset="-120"/>
              </a:rPr>
              <a:t>Estudiantes.csv (Kaggle) — 5.000 registros originales</a:t>
            </a:r>
            <a:endParaRPr lang="en-US" sz="1300" dirty="0"/>
          </a:p>
        </p:txBody>
      </p:sp>
      <p:sp>
        <p:nvSpPr>
          <p:cNvPr id="5" name="Text 3"/>
          <p:cNvSpPr/>
          <p:nvPr/>
        </p:nvSpPr>
        <p:spPr>
          <a:xfrm>
            <a:off x="548640" y="2240280"/>
            <a:ext cx="5577840" cy="274320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en-US" sz="1250" dirty="0">
                <a:solidFill>
                  <a:srgbClr val="6B7A88"/>
                </a:solidFill>
                <a:latin typeface="Calibri" pitchFamily="34" charset="0"/>
                <a:ea typeface="Calibri" pitchFamily="34" charset="-122"/>
                <a:cs typeface="Calibri" pitchFamily="34" charset="-120"/>
              </a:rPr>
              <a:t>Se filtran alumnos ≥ 18 años y se toma una muestra de 1.500 (equivalente a un ingreso de la materia).</a:t>
            </a:r>
            <a:endParaRPr lang="en-US" sz="1250" dirty="0"/>
          </a:p>
          <a:p>
            <a:pPr marL="342900" indent="-342900">
              <a:lnSpc>
                <a:spcPct val="125000"/>
              </a:lnSpc>
              <a:spcAft>
                <a:spcPts val="1200"/>
              </a:spcAft>
              <a:buSzPct val="100000"/>
              <a:buChar char="•"/>
            </a:pPr>
            <a:r>
              <a:rPr lang="en-US" sz="1250" dirty="0">
                <a:solidFill>
                  <a:srgbClr val="6B7A88"/>
                </a:solidFill>
                <a:latin typeface="Calibri" pitchFamily="34" charset="0"/>
                <a:ea typeface="Calibri" pitchFamily="34" charset="-122"/>
                <a:cs typeface="Calibri" pitchFamily="34" charset="-120"/>
              </a:rPr>
              <a:t>Las columnas se traducen y adaptan al contexto de Informática y Análisis 1: notas de parcial, TP individual, TP grupal, Análisis 1, Legislación, asistencia y participación en plataforma.</a:t>
            </a:r>
            <a:endParaRPr lang="en-US" sz="1250" dirty="0"/>
          </a:p>
          <a:p>
            <a:pPr marL="342900" indent="-342900">
              <a:lnSpc>
                <a:spcPct val="125000"/>
              </a:lnSpc>
              <a:buSzPct val="100000"/>
              <a:buChar char="•"/>
            </a:pPr>
            <a:r>
              <a:rPr lang="en-US" sz="1250" dirty="0">
                <a:solidFill>
                  <a:srgbClr val="6B7A88"/>
                </a:solidFill>
                <a:latin typeface="Calibri" pitchFamily="34" charset="0"/>
                <a:ea typeface="Calibri" pitchFamily="34" charset="-122"/>
                <a:cs typeface="Calibri" pitchFamily="34" charset="-120"/>
              </a:rPr>
              <a:t>Se define una regla institucional que construye la variable objetivo Condición_Final a partir de asistencia y notas clave.</a:t>
            </a:r>
            <a:endParaRPr lang="en-US" sz="1250" dirty="0"/>
          </a:p>
        </p:txBody>
      </p:sp>
      <p:sp>
        <p:nvSpPr>
          <p:cNvPr id="6" name="Shape 4"/>
          <p:cNvSpPr/>
          <p:nvPr/>
        </p:nvSpPr>
        <p:spPr>
          <a:xfrm>
            <a:off x="548640" y="5029200"/>
            <a:ext cx="5577840" cy="1097280"/>
          </a:xfrm>
          <a:prstGeom prst="roundRect">
            <a:avLst>
              <a:gd name="adj" fmla="val 6667"/>
            </a:avLst>
          </a:prstGeom>
          <a:solidFill>
            <a:srgbClr val="FDF0E7"/>
          </a:solidFill>
          <a:ln/>
        </p:spPr>
      </p:sp>
      <p:sp>
        <p:nvSpPr>
          <p:cNvPr id="7" name="Text 5"/>
          <p:cNvSpPr/>
          <p:nvPr/>
        </p:nvSpPr>
        <p:spPr>
          <a:xfrm>
            <a:off x="777240" y="5138928"/>
            <a:ext cx="5120640" cy="274320"/>
          </a:xfrm>
          <a:prstGeom prst="rect">
            <a:avLst/>
          </a:prstGeom>
          <a:noFill/>
          <a:ln/>
        </p:spPr>
        <p:txBody>
          <a:bodyPr wrap="square" lIns="0" tIns="0" rIns="0" bIns="0" rtlCol="0" anchor="ctr"/>
          <a:lstStyle/>
          <a:p>
            <a:pPr marL="0" indent="0">
              <a:buNone/>
            </a:pPr>
            <a:r>
              <a:rPr lang="en-US" sz="1150" b="1" dirty="0">
                <a:solidFill>
                  <a:srgbClr val="E8743B"/>
                </a:solidFill>
                <a:latin typeface="Calibri" pitchFamily="34" charset="0"/>
                <a:ea typeface="Calibri" pitchFamily="34" charset="-122"/>
                <a:cs typeface="Calibri" pitchFamily="34" charset="-120"/>
              </a:rPr>
              <a:t>Regla de asignación de Condición_Final</a:t>
            </a:r>
            <a:endParaRPr lang="en-US" sz="1150" dirty="0"/>
          </a:p>
        </p:txBody>
      </p:sp>
      <p:sp>
        <p:nvSpPr>
          <p:cNvPr id="8" name="Text 6"/>
          <p:cNvSpPr/>
          <p:nvPr/>
        </p:nvSpPr>
        <p:spPr>
          <a:xfrm>
            <a:off x="777240" y="5440680"/>
            <a:ext cx="5120640" cy="594360"/>
          </a:xfrm>
          <a:prstGeom prst="rect">
            <a:avLst/>
          </a:prstGeom>
          <a:noFill/>
          <a:ln/>
        </p:spPr>
        <p:txBody>
          <a:bodyPr wrap="square" lIns="0" tIns="0" rIns="0" bIns="0" rtlCol="0" anchor="ctr"/>
          <a:lstStyle/>
          <a:p>
            <a:pPr marL="0" indent="0">
              <a:lnSpc>
                <a:spcPct val="120000"/>
              </a:lnSpc>
              <a:buNone/>
            </a:pPr>
            <a:r>
              <a:rPr lang="en-US" sz="1050" dirty="0">
                <a:solidFill>
                  <a:srgbClr val="7A4A2E"/>
                </a:solidFill>
                <a:latin typeface="Calibri" pitchFamily="34" charset="0"/>
                <a:ea typeface="Calibri" pitchFamily="34" charset="-122"/>
                <a:cs typeface="Calibri" pitchFamily="34" charset="-120"/>
              </a:rPr>
              <a:t>Abandona: asistencia &lt; 45% o nota Análisis 1 &lt; 4  ·  Promociona: asistencia ≥ 75% y notas altas  ·  Regulariza: resto de los casos</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0" y="1828800"/>
          <a:ext cx="5257800" cy="4096512"/>
        </p:xfrm>
        <a:graphic>
          <a:graphicData uri="http://schemas.openxmlformats.org/drawingml/2006/table">
            <a:tbl>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tblGrid>
              <a:tr h="365760">
                <a:tc>
                  <a:txBody>
                    <a:bodyPr/>
                    <a:lstStyle/>
                    <a:p>
                      <a:pPr marL="0" indent="0">
                        <a:buNone/>
                      </a:pPr>
                      <a:r>
                        <a:rPr lang="en-US" sz="1050" dirty="0">
                          <a:solidFill>
                            <a:srgbClr val="1C2B36"/>
                          </a:solidFill>
                          <a:latin typeface="Calibri" pitchFamily="34" charset="0"/>
                          <a:ea typeface="Calibri" pitchFamily="34" charset="-122"/>
                          <a:cs typeface="Calibri" pitchFamily="34" charset="-120"/>
                        </a:rPr>
                        <a:t>Variable</a:t>
                      </a:r>
                      <a:endParaRPr lang="en-US" sz="1050" dirty="0">
                        <a:latin typeface="Calibri" charset="0"/>
                        <a:ea typeface="Calibri" charset="0"/>
                        <a:cs typeface="Calibri" charset="0"/>
                      </a:endParaRPr>
                    </a:p>
                  </a:txBody>
                  <a:tcP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FFFFFF"/>
                    </a:solidFill>
                  </a:tcPr>
                </a:tc>
                <a:tc>
                  <a:txBody>
                    <a:bodyPr/>
                    <a:lstStyle/>
                    <a:p>
                      <a:pPr marL="0" indent="0">
                        <a:buNone/>
                      </a:pPr>
                      <a:r>
                        <a:rPr lang="en-US" sz="1050" dirty="0">
                          <a:solidFill>
                            <a:srgbClr val="1C2B36"/>
                          </a:solidFill>
                          <a:latin typeface="Calibri" pitchFamily="34" charset="0"/>
                          <a:ea typeface="Calibri" pitchFamily="34" charset="-122"/>
                          <a:cs typeface="Calibri" pitchFamily="34" charset="-120"/>
                        </a:rPr>
                        <a:t>Descripción</a:t>
                      </a:r>
                      <a:endParaRPr lang="en-US" sz="1050" dirty="0">
                        <a:latin typeface="Calibri" charset="0"/>
                        <a:ea typeface="Calibri" charset="0"/>
                        <a:cs typeface="Calibri" charset="0"/>
                      </a:endParaRPr>
                    </a:p>
                  </a:txBody>
                  <a:tcP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21792">
                <a:tc>
                  <a:txBody>
                    <a:bodyPr/>
                    <a:lstStyle/>
                    <a:p>
                      <a:pPr marL="0" indent="0">
                        <a:buNone/>
                      </a:pPr>
                      <a:r>
                        <a:rPr lang="en-US" sz="1050" dirty="0">
                          <a:solidFill>
                            <a:srgbClr val="1C2B36"/>
                          </a:solidFill>
                          <a:latin typeface="Calibri" pitchFamily="34" charset="0"/>
                          <a:ea typeface="Calibri" pitchFamily="34" charset="-122"/>
                          <a:cs typeface="Calibri" pitchFamily="34" charset="-120"/>
                        </a:rPr>
                        <a:t>Porcentaje_Asistencia</a:t>
                      </a:r>
                      <a:endParaRPr lang="en-US" sz="1050" dirty="0">
                        <a:latin typeface="Calibri" charset="0"/>
                        <a:ea typeface="Calibri" charset="0"/>
                        <a:cs typeface="Calibri" charset="0"/>
                      </a:endParaRPr>
                    </a:p>
                  </a:txBody>
                  <a:tcP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FFFFFF"/>
                    </a:solidFill>
                  </a:tcPr>
                </a:tc>
                <a:tc>
                  <a:txBody>
                    <a:bodyPr/>
                    <a:lstStyle/>
                    <a:p>
                      <a:pPr marL="0" indent="0">
                        <a:buNone/>
                      </a:pPr>
                      <a:r>
                        <a:rPr lang="en-US" sz="1050" dirty="0">
                          <a:solidFill>
                            <a:srgbClr val="1C2B36"/>
                          </a:solidFill>
                          <a:latin typeface="Calibri" pitchFamily="34" charset="0"/>
                          <a:ea typeface="Calibri" pitchFamily="34" charset="-122"/>
                          <a:cs typeface="Calibri" pitchFamily="34" charset="-120"/>
                        </a:rPr>
                        <a:t>% de clases asistidas</a:t>
                      </a:r>
                      <a:endParaRPr lang="en-US" sz="1050" dirty="0">
                        <a:latin typeface="Calibri" charset="0"/>
                        <a:ea typeface="Calibri" charset="0"/>
                        <a:cs typeface="Calibri" charset="0"/>
                      </a:endParaRPr>
                    </a:p>
                  </a:txBody>
                  <a:tcP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buNone/>
                      </a:pPr>
                      <a:r>
                        <a:rPr lang="en-US" sz="1050" dirty="0">
                          <a:solidFill>
                            <a:srgbClr val="1C2B36"/>
                          </a:solidFill>
                          <a:latin typeface="Calibri" pitchFamily="34" charset="0"/>
                          <a:ea typeface="Calibri" pitchFamily="34" charset="-122"/>
                          <a:cs typeface="Calibri" pitchFamily="34" charset="-120"/>
                        </a:rPr>
                        <a:t>Nota_Parcial_Informática</a:t>
                      </a:r>
                      <a:endParaRPr lang="en-US" sz="1050" dirty="0">
                        <a:latin typeface="Calibri" charset="0"/>
                        <a:ea typeface="Calibri" charset="0"/>
                        <a:cs typeface="Calibri" charset="0"/>
                      </a:endParaRPr>
                    </a:p>
                  </a:txBody>
                  <a:tcP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FFFFFF"/>
                    </a:solidFill>
                  </a:tcPr>
                </a:tc>
                <a:tc>
                  <a:txBody>
                    <a:bodyPr/>
                    <a:lstStyle/>
                    <a:p>
                      <a:pPr marL="0" indent="0">
                        <a:buNone/>
                      </a:pPr>
                      <a:r>
                        <a:rPr lang="en-US" sz="1050" dirty="0">
                          <a:solidFill>
                            <a:srgbClr val="1C2B36"/>
                          </a:solidFill>
                          <a:latin typeface="Calibri" pitchFamily="34" charset="0"/>
                          <a:ea typeface="Calibri" pitchFamily="34" charset="-122"/>
                          <a:cs typeface="Calibri" pitchFamily="34" charset="-120"/>
                        </a:rPr>
                        <a:t>Parcial de la materia (1–10)</a:t>
                      </a:r>
                      <a:endParaRPr lang="en-US" sz="1050" dirty="0">
                        <a:latin typeface="Calibri" charset="0"/>
                        <a:ea typeface="Calibri" charset="0"/>
                        <a:cs typeface="Calibri" charset="0"/>
                      </a:endParaRPr>
                    </a:p>
                  </a:txBody>
                  <a:tcP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1792">
                <a:tc>
                  <a:txBody>
                    <a:bodyPr/>
                    <a:lstStyle/>
                    <a:p>
                      <a:pPr marL="0" indent="0">
                        <a:buNone/>
                      </a:pPr>
                      <a:r>
                        <a:rPr lang="en-US" sz="1050" dirty="0">
                          <a:solidFill>
                            <a:srgbClr val="1C2B36"/>
                          </a:solidFill>
                          <a:latin typeface="Calibri" pitchFamily="34" charset="0"/>
                          <a:ea typeface="Calibri" pitchFamily="34" charset="-122"/>
                          <a:cs typeface="Calibri" pitchFamily="34" charset="-120"/>
                        </a:rPr>
                        <a:t>Nota_Analisis_1</a:t>
                      </a:r>
                      <a:endParaRPr lang="en-US" sz="1050" dirty="0">
                        <a:latin typeface="Calibri" charset="0"/>
                        <a:ea typeface="Calibri" charset="0"/>
                        <a:cs typeface="Calibri" charset="0"/>
                      </a:endParaRPr>
                    </a:p>
                  </a:txBody>
                  <a:tcP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FFFFFF"/>
                    </a:solidFill>
                  </a:tcPr>
                </a:tc>
                <a:tc>
                  <a:txBody>
                    <a:bodyPr/>
                    <a:lstStyle/>
                    <a:p>
                      <a:pPr marL="0" indent="0">
                        <a:buNone/>
                      </a:pPr>
                      <a:r>
                        <a:rPr lang="en-US" sz="1050" dirty="0">
                          <a:solidFill>
                            <a:srgbClr val="1C2B36"/>
                          </a:solidFill>
                          <a:latin typeface="Calibri" pitchFamily="34" charset="0"/>
                          <a:ea typeface="Calibri" pitchFamily="34" charset="-122"/>
                          <a:cs typeface="Calibri" pitchFamily="34" charset="-120"/>
                        </a:rPr>
                        <a:t>Materia troncal exigente (1–10)</a:t>
                      </a:r>
                      <a:endParaRPr lang="en-US" sz="1050" dirty="0">
                        <a:latin typeface="Calibri" charset="0"/>
                        <a:ea typeface="Calibri" charset="0"/>
                        <a:cs typeface="Calibri" charset="0"/>
                      </a:endParaRPr>
                    </a:p>
                  </a:txBody>
                  <a:tcP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buNone/>
                      </a:pPr>
                      <a:r>
                        <a:rPr lang="en-US" sz="1050" dirty="0">
                          <a:solidFill>
                            <a:srgbClr val="1C2B36"/>
                          </a:solidFill>
                          <a:latin typeface="Calibri" pitchFamily="34" charset="0"/>
                          <a:ea typeface="Calibri" pitchFamily="34" charset="-122"/>
                          <a:cs typeface="Calibri" pitchFamily="34" charset="-120"/>
                        </a:rPr>
                        <a:t>Nota_TP_Individual / Grupal</a:t>
                      </a:r>
                      <a:endParaRPr lang="en-US" sz="1050" dirty="0">
                        <a:latin typeface="Calibri" charset="0"/>
                        <a:ea typeface="Calibri" charset="0"/>
                        <a:cs typeface="Calibri" charset="0"/>
                      </a:endParaRPr>
                    </a:p>
                  </a:txBody>
                  <a:tcP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FFFFFF"/>
                    </a:solidFill>
                  </a:tcPr>
                </a:tc>
                <a:tc>
                  <a:txBody>
                    <a:bodyPr/>
                    <a:lstStyle/>
                    <a:p>
                      <a:pPr marL="0" indent="0">
                        <a:buNone/>
                      </a:pPr>
                      <a:r>
                        <a:rPr lang="en-US" sz="1050" dirty="0">
                          <a:solidFill>
                            <a:srgbClr val="1C2B36"/>
                          </a:solidFill>
                          <a:latin typeface="Calibri" pitchFamily="34" charset="0"/>
                          <a:ea typeface="Calibri" pitchFamily="34" charset="-122"/>
                          <a:cs typeface="Calibri" pitchFamily="34" charset="-120"/>
                        </a:rPr>
                        <a:t>Trabajos prácticos (1–10)</a:t>
                      </a:r>
                      <a:endParaRPr lang="en-US" sz="1050" dirty="0">
                        <a:latin typeface="Calibri" charset="0"/>
                        <a:ea typeface="Calibri" charset="0"/>
                        <a:cs typeface="Calibri" charset="0"/>
                      </a:endParaRPr>
                    </a:p>
                  </a:txBody>
                  <a:tcP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21792">
                <a:tc>
                  <a:txBody>
                    <a:bodyPr/>
                    <a:lstStyle/>
                    <a:p>
                      <a:pPr marL="0" indent="0">
                        <a:buNone/>
                      </a:pPr>
                      <a:r>
                        <a:rPr lang="en-US" sz="1050" dirty="0">
                          <a:solidFill>
                            <a:srgbClr val="1C2B36"/>
                          </a:solidFill>
                          <a:latin typeface="Calibri" pitchFamily="34" charset="0"/>
                          <a:ea typeface="Calibri" pitchFamily="34" charset="-122"/>
                          <a:cs typeface="Calibri" pitchFamily="34" charset="-120"/>
                        </a:rPr>
                        <a:t>Nota_Legislación</a:t>
                      </a:r>
                      <a:endParaRPr lang="en-US" sz="1050" dirty="0">
                        <a:latin typeface="Calibri" charset="0"/>
                        <a:ea typeface="Calibri" charset="0"/>
                        <a:cs typeface="Calibri" charset="0"/>
                      </a:endParaRPr>
                    </a:p>
                  </a:txBody>
                  <a:tcP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FFFFFF"/>
                    </a:solidFill>
                  </a:tcPr>
                </a:tc>
                <a:tc>
                  <a:txBody>
                    <a:bodyPr/>
                    <a:lstStyle/>
                    <a:p>
                      <a:pPr marL="0" indent="0">
                        <a:buNone/>
                      </a:pPr>
                      <a:r>
                        <a:rPr lang="en-US" sz="1050" dirty="0">
                          <a:solidFill>
                            <a:srgbClr val="1C2B36"/>
                          </a:solidFill>
                          <a:latin typeface="Calibri" pitchFamily="34" charset="0"/>
                          <a:ea typeface="Calibri" pitchFamily="34" charset="-122"/>
                          <a:cs typeface="Calibri" pitchFamily="34" charset="-120"/>
                        </a:rPr>
                        <a:t>Materia complementaria (1–10)</a:t>
                      </a:r>
                      <a:endParaRPr lang="en-US" sz="1050" dirty="0">
                        <a:latin typeface="Calibri" charset="0"/>
                        <a:ea typeface="Calibri" charset="0"/>
                        <a:cs typeface="Calibri" charset="0"/>
                      </a:endParaRPr>
                    </a:p>
                  </a:txBody>
                  <a:tcP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21792">
                <a:tc>
                  <a:txBody>
                    <a:bodyPr/>
                    <a:lstStyle/>
                    <a:p>
                      <a:pPr marL="0" indent="0">
                        <a:buNone/>
                      </a:pPr>
                      <a:r>
                        <a:rPr lang="en-US" sz="1050" dirty="0">
                          <a:solidFill>
                            <a:srgbClr val="1C2B36"/>
                          </a:solidFill>
                          <a:latin typeface="Calibri" pitchFamily="34" charset="0"/>
                          <a:ea typeface="Calibri" pitchFamily="34" charset="-122"/>
                          <a:cs typeface="Calibri" pitchFamily="34" charset="-120"/>
                        </a:rPr>
                        <a:t>Tipo_Secundario, Acceso_Internet,</a:t>
                      </a:r>
                      <a:endParaRPr lang="en-US" sz="1050" dirty="0">
                        <a:latin typeface="Calibri" charset="0"/>
                        <a:ea typeface="Calibri" charset="0"/>
                        <a:cs typeface="Calibri" charset="0"/>
                      </a:endParaRPr>
                    </a:p>
                    <a:p>
                      <a:pPr marL="0" indent="0">
                        <a:buNone/>
                      </a:pPr>
                      <a:r>
                        <a:rPr lang="en-US" sz="1050" dirty="0">
                          <a:solidFill>
                            <a:srgbClr val="1C2B36"/>
                          </a:solidFill>
                          <a:latin typeface="Calibri" pitchFamily="34" charset="0"/>
                          <a:ea typeface="Calibri" pitchFamily="34" charset="-122"/>
                          <a:cs typeface="Calibri" pitchFamily="34" charset="-120"/>
                        </a:rPr>
                        <a:t>Participación_Plataforma, Género, Edad</a:t>
                      </a:r>
                      <a:endParaRPr lang="en-US" sz="1050" dirty="0">
                        <a:latin typeface="Calibri" charset="0"/>
                        <a:ea typeface="Calibri" charset="0"/>
                        <a:cs typeface="Calibri" charset="0"/>
                      </a:endParaRPr>
                    </a:p>
                  </a:txBody>
                  <a:tcP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FFFFFF"/>
                    </a:solidFill>
                  </a:tcPr>
                </a:tc>
                <a:tc>
                  <a:txBody>
                    <a:bodyPr/>
                    <a:lstStyle/>
                    <a:p>
                      <a:pPr marL="0" indent="0">
                        <a:buNone/>
                      </a:pPr>
                      <a:r>
                        <a:rPr lang="en-US" sz="1050" dirty="0">
                          <a:solidFill>
                            <a:srgbClr val="1C2B36"/>
                          </a:solidFill>
                          <a:latin typeface="Calibri" pitchFamily="34" charset="0"/>
                          <a:ea typeface="Calibri" pitchFamily="34" charset="-122"/>
                          <a:cs typeface="Calibri" pitchFamily="34" charset="-120"/>
                        </a:rPr>
                        <a:t>Variables de contexto</a:t>
                      </a:r>
                      <a:endParaRPr lang="en-US" sz="1050" dirty="0">
                        <a:latin typeface="Calibri" charset="0"/>
                        <a:ea typeface="Calibri" charset="0"/>
                        <a:cs typeface="Calibri" charset="0"/>
                      </a:endParaRPr>
                    </a:p>
                  </a:txBody>
                  <a:tcP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0" name="Shape 7"/>
          <p:cNvSpPr/>
          <p:nvPr/>
        </p:nvSpPr>
        <p:spPr>
          <a:xfrm>
            <a:off x="6400800" y="1828800"/>
            <a:ext cx="5257800" cy="365760"/>
          </a:xfrm>
          <a:prstGeom prst="rect">
            <a:avLst/>
          </a:prstGeom>
          <a:solidFill>
            <a:srgbClr val="16324F"/>
          </a:solidFill>
          <a:ln/>
        </p:spPr>
      </p:sp>
      <p:sp>
        <p:nvSpPr>
          <p:cNvPr id="11" name="Text 8"/>
          <p:cNvSpPr/>
          <p:nvPr/>
        </p:nvSpPr>
        <p:spPr>
          <a:xfrm>
            <a:off x="6537960" y="1828800"/>
            <a:ext cx="23774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p>
        </p:txBody>
      </p:sp>
      <p:sp>
        <p:nvSpPr>
          <p:cNvPr id="12" name="Text 9"/>
          <p:cNvSpPr/>
          <p:nvPr/>
        </p:nvSpPr>
        <p:spPr>
          <a:xfrm>
            <a:off x="9144000" y="1828800"/>
            <a:ext cx="23774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Descripción</a:t>
            </a:r>
            <a:endParaRPr lang="en-US" sz="1100" dirty="0"/>
          </a:p>
        </p:txBody>
      </p:sp>
      <p:sp>
        <p:nvSpPr>
          <p:cNvPr id="13" name="Text 10"/>
          <p:cNvSpPr/>
          <p:nvPr/>
        </p:nvSpPr>
        <p:spPr>
          <a:xfrm>
            <a:off x="457200" y="6473952"/>
            <a:ext cx="86868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TP Hackatón · Informática y Análisis 1 — Predicción de rendimiento académico</a:t>
            </a:r>
            <a:endParaRPr lang="en-US" sz="900" dirty="0"/>
          </a:p>
        </p:txBody>
      </p:sp>
      <p:sp>
        <p:nvSpPr>
          <p:cNvPr id="14" name="Text 11"/>
          <p:cNvSpPr/>
          <p:nvPr/>
        </p:nvSpPr>
        <p:spPr>
          <a:xfrm>
            <a:off x="10817352" y="6473952"/>
            <a:ext cx="9144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6324F"/>
        </a:solidFill>
        <a:effectLst/>
      </p:bgPr>
    </p:bg>
    <p:spTree>
      <p:nvGrpSpPr>
        <p:cNvPr id="1" name=""/>
        <p:cNvGrpSpPr/>
        <p:nvPr/>
      </p:nvGrpSpPr>
      <p:grpSpPr>
        <a:xfrm>
          <a:off x="0" y="0"/>
          <a:ext cx="0" cy="0"/>
          <a:chOff x="0" y="0"/>
          <a:chExt cx="0" cy="0"/>
        </a:xfrm>
      </p:grpSpPr>
      <p:sp>
        <p:nvSpPr>
          <p:cNvPr id="3" name="Shape 1"/>
          <p:cNvSpPr/>
          <p:nvPr/>
        </p:nvSpPr>
        <p:spPr>
          <a:xfrm>
            <a:off x="6705600" y="18103"/>
            <a:ext cx="5486400" cy="5486400"/>
          </a:xfrm>
          <a:prstGeom prst="ellipse">
            <a:avLst/>
          </a:prstGeom>
          <a:solidFill>
            <a:srgbClr val="1E4569"/>
          </a:solidFill>
          <a:ln/>
        </p:spPr>
      </p:sp>
      <p:sp>
        <p:nvSpPr>
          <p:cNvPr id="4" name="Shape 2"/>
          <p:cNvSpPr/>
          <p:nvPr/>
        </p:nvSpPr>
        <p:spPr>
          <a:xfrm>
            <a:off x="8226949" y="3246120"/>
            <a:ext cx="3657600" cy="3657600"/>
          </a:xfrm>
          <a:prstGeom prst="ellipse">
            <a:avLst/>
          </a:prstGeom>
          <a:solidFill>
            <a:srgbClr val="0F2338"/>
          </a:solidFill>
          <a:ln/>
        </p:spPr>
      </p:sp>
      <p:sp>
        <p:nvSpPr>
          <p:cNvPr id="5" name="Text 3"/>
          <p:cNvSpPr/>
          <p:nvPr/>
        </p:nvSpPr>
        <p:spPr>
          <a:xfrm>
            <a:off x="457200" y="85795"/>
            <a:ext cx="8229600" cy="365760"/>
          </a:xfrm>
          <a:prstGeom prst="rect">
            <a:avLst/>
          </a:prstGeom>
          <a:noFill/>
          <a:ln/>
        </p:spPr>
        <p:txBody>
          <a:bodyPr wrap="square" lIns="0" tIns="0" rIns="0" bIns="0" rtlCol="0" anchor="ctr"/>
          <a:lstStyle/>
          <a:p>
            <a:pPr marL="0" indent="0">
              <a:buNone/>
            </a:pPr>
            <a:r>
              <a:rPr lang="en-US" sz="1300" b="1" kern="0" spc="200" dirty="0">
                <a:solidFill>
                  <a:srgbClr val="6FB3D9"/>
                </a:solidFill>
                <a:latin typeface="Calibri" pitchFamily="34" charset="0"/>
                <a:ea typeface="Calibri" pitchFamily="34" charset="-122"/>
                <a:cs typeface="Calibri" pitchFamily="34" charset="-120"/>
              </a:rPr>
              <a:t>MACHINE LEARNING · PREDICCIÓN ACADÉMICA</a:t>
            </a:r>
            <a:endParaRPr lang="en-US" sz="1300" dirty="0"/>
          </a:p>
        </p:txBody>
      </p:sp>
      <p:sp>
        <p:nvSpPr>
          <p:cNvPr id="6" name="Text 4"/>
          <p:cNvSpPr/>
          <p:nvPr/>
        </p:nvSpPr>
        <p:spPr>
          <a:xfrm>
            <a:off x="563217" y="841159"/>
            <a:ext cx="9875520" cy="14630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EDA </a:t>
            </a:r>
            <a:endParaRPr lang="en-US" sz="4000" dirty="0"/>
          </a:p>
        </p:txBody>
      </p:sp>
      <p:pic>
        <p:nvPicPr>
          <p:cNvPr id="2" name="Imagen 1"/>
          <p:cNvPicPr>
            <a:picLocks noChangeAspect="1"/>
          </p:cNvPicPr>
          <p:nvPr/>
        </p:nvPicPr>
        <p:blipFill>
          <a:blip r:embed="rId3"/>
          <a:stretch>
            <a:fillRect/>
          </a:stretch>
        </p:blipFill>
        <p:spPr>
          <a:xfrm>
            <a:off x="457200" y="3744065"/>
            <a:ext cx="10363461" cy="2661709"/>
          </a:xfrm>
          <a:prstGeom prst="rect">
            <a:avLst/>
          </a:prstGeom>
        </p:spPr>
      </p:pic>
      <p:sp>
        <p:nvSpPr>
          <p:cNvPr id="17" name="Rectángulo 16"/>
          <p:cNvSpPr/>
          <p:nvPr/>
        </p:nvSpPr>
        <p:spPr>
          <a:xfrm>
            <a:off x="2130948" y="735726"/>
            <a:ext cx="8689711" cy="2862322"/>
          </a:xfrm>
          <a:prstGeom prst="rect">
            <a:avLst/>
          </a:prstGeom>
        </p:spPr>
        <p:txBody>
          <a:bodyPr wrap="square">
            <a:spAutoFit/>
          </a:bodyPr>
          <a:lstStyle/>
          <a:p>
            <a:r>
              <a:rPr lang="es-ES" dirty="0">
                <a:solidFill>
                  <a:schemeClr val="bg1"/>
                </a:solidFill>
              </a:rPr>
              <a:t>A través del análisis exploratorio (EDA) de las variables cuantitativas, observamos un </a:t>
            </a:r>
            <a:r>
              <a:rPr lang="es-ES" b="1" dirty="0">
                <a:solidFill>
                  <a:schemeClr val="bg1"/>
                </a:solidFill>
              </a:rPr>
              <a:t>comportamiento general muy equilibrado</a:t>
            </a:r>
            <a:r>
              <a:rPr lang="es-ES" dirty="0">
                <a:solidFill>
                  <a:schemeClr val="bg1"/>
                </a:solidFill>
              </a:rPr>
              <a:t> en el curso:</a:t>
            </a:r>
          </a:p>
          <a:p>
            <a:pPr>
              <a:buFont typeface="Arial" panose="020B0604020202020204" pitchFamily="34" charset="0"/>
              <a:buChar char="•"/>
            </a:pPr>
            <a:r>
              <a:rPr lang="es-ES" b="1" dirty="0">
                <a:solidFill>
                  <a:schemeClr val="bg1"/>
                </a:solidFill>
              </a:rPr>
              <a:t>Tendencia central estable:</a:t>
            </a:r>
            <a:r>
              <a:rPr lang="es-ES" dirty="0">
                <a:solidFill>
                  <a:schemeClr val="bg1"/>
                </a:solidFill>
              </a:rPr>
              <a:t> Las medias y medianas se ubican cerca de los 6.8 puntos en las evaluaciones y en un 75% de asistencia, lo que muestra distribuciones simétricas sin sesgos extremos hacia </a:t>
            </a:r>
            <a:r>
              <a:rPr lang="es-ES" dirty="0" err="1">
                <a:solidFill>
                  <a:schemeClr val="bg1"/>
                </a:solidFill>
              </a:rPr>
              <a:t>aplazos</a:t>
            </a:r>
            <a:r>
              <a:rPr lang="es-ES" dirty="0">
                <a:solidFill>
                  <a:schemeClr val="bg1"/>
                </a:solidFill>
              </a:rPr>
              <a:t> o notas perfectas.</a:t>
            </a:r>
          </a:p>
          <a:p>
            <a:pPr>
              <a:buFont typeface="Arial" panose="020B0604020202020204" pitchFamily="34" charset="0"/>
              <a:buChar char="•"/>
            </a:pPr>
            <a:r>
              <a:rPr lang="es-ES" b="1" dirty="0">
                <a:solidFill>
                  <a:schemeClr val="bg1"/>
                </a:solidFill>
              </a:rPr>
              <a:t>Dispersión:</a:t>
            </a:r>
            <a:r>
              <a:rPr lang="es-ES" dirty="0">
                <a:solidFill>
                  <a:schemeClr val="bg1"/>
                </a:solidFill>
              </a:rPr>
              <a:t> La desviación estándar en las notas ronda los 1.8-1.9 puntos, reflejando una variabilidad normal en el rendimiento de los estudiantes.</a:t>
            </a:r>
          </a:p>
          <a:p>
            <a:pPr>
              <a:buFont typeface="Arial" panose="020B0604020202020204" pitchFamily="34" charset="0"/>
              <a:buChar char="•"/>
            </a:pPr>
            <a:r>
              <a:rPr lang="es-ES" b="1" dirty="0">
                <a:solidFill>
                  <a:schemeClr val="bg1"/>
                </a:solidFill>
              </a:rPr>
              <a:t>Cuartiles:</a:t>
            </a:r>
            <a:r>
              <a:rPr lang="es-ES" dirty="0">
                <a:solidFill>
                  <a:schemeClr val="bg1"/>
                </a:solidFill>
              </a:rPr>
              <a:t> El 50% central del alumnado se concentra en un rango de notas que va aproximadamente del 5.0 (Q1) al 8.4 (Q3).</a:t>
            </a:r>
          </a:p>
          <a:p>
            <a:pPr>
              <a:buFont typeface="Arial" panose="020B0604020202020204" pitchFamily="34" charset="0"/>
              <a:buChar char="•"/>
            </a:pPr>
            <a:r>
              <a:rPr lang="es-ES" dirty="0">
                <a:solidFill>
                  <a:schemeClr val="bg1"/>
                </a:solidFill>
              </a:rPr>
              <a:t>Correlación.</a:t>
            </a:r>
          </a:p>
        </p:txBody>
      </p:sp>
    </p:spTree>
    <p:extLst>
      <p:ext uri="{BB962C8B-B14F-4D97-AF65-F5344CB8AC3E}">
        <p14:creationId xmlns:p14="http://schemas.microsoft.com/office/powerpoint/2010/main" val="1886551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03543" y="1322975"/>
            <a:ext cx="5520180" cy="3416320"/>
          </a:xfrm>
          <a:prstGeom prst="rect">
            <a:avLst/>
          </a:prstGeom>
        </p:spPr>
        <p:txBody>
          <a:bodyPr wrap="square">
            <a:spAutoFit/>
          </a:bodyPr>
          <a:lstStyle/>
          <a:p>
            <a:r>
              <a:rPr lang="es-ES" dirty="0"/>
              <a:t>A través del análisis exploratorio (EDA) de las variables cuantitativas, observamos un comportamiento general muy equilibrado en el curso.</a:t>
            </a:r>
          </a:p>
          <a:p>
            <a:endParaRPr lang="es-ES" dirty="0"/>
          </a:p>
          <a:p>
            <a:endParaRPr lang="es-ES" dirty="0"/>
          </a:p>
          <a:p>
            <a:endParaRPr lang="es-ES" dirty="0"/>
          </a:p>
          <a:p>
            <a:r>
              <a:rPr lang="es-ES" dirty="0"/>
              <a:t>Tendencia central estable: Las medias y medianas se ubican cerca de los 6.8 puntos en las evaluaciones y en un 75% de asistencia, lo que muestra distribuciones simétricas sin sesgos extremos hacia </a:t>
            </a:r>
            <a:r>
              <a:rPr lang="es-ES" dirty="0" err="1"/>
              <a:t>aplazos</a:t>
            </a:r>
            <a:r>
              <a:rPr lang="es-ES" dirty="0"/>
              <a:t> o notas perfectas.</a:t>
            </a:r>
          </a:p>
          <a:p>
            <a:endParaRPr lang="es-ES" dirty="0"/>
          </a:p>
        </p:txBody>
      </p:sp>
      <p:pic>
        <p:nvPicPr>
          <p:cNvPr id="4" name="Imagen 3"/>
          <p:cNvPicPr>
            <a:picLocks noChangeAspect="1"/>
          </p:cNvPicPr>
          <p:nvPr/>
        </p:nvPicPr>
        <p:blipFill>
          <a:blip r:embed="rId2"/>
          <a:stretch>
            <a:fillRect/>
          </a:stretch>
        </p:blipFill>
        <p:spPr>
          <a:xfrm>
            <a:off x="6016765" y="834862"/>
            <a:ext cx="5803895" cy="3627434"/>
          </a:xfrm>
          <a:prstGeom prst="rect">
            <a:avLst/>
          </a:prstGeom>
        </p:spPr>
      </p:pic>
      <p:sp>
        <p:nvSpPr>
          <p:cNvPr id="5" name="Rectángulo 4"/>
          <p:cNvSpPr/>
          <p:nvPr/>
        </p:nvSpPr>
        <p:spPr>
          <a:xfrm>
            <a:off x="403542" y="580647"/>
            <a:ext cx="6266459" cy="400110"/>
          </a:xfrm>
          <a:prstGeom prst="rect">
            <a:avLst/>
          </a:prstGeom>
          <a:ln>
            <a:solidFill>
              <a:srgbClr val="0070C0"/>
            </a:solidFill>
          </a:ln>
        </p:spPr>
        <p:txBody>
          <a:bodyPr wrap="none">
            <a:spAutoFit/>
          </a:bodyPr>
          <a:lstStyle/>
          <a:p>
            <a:r>
              <a:rPr lang="es-AR" sz="2000" b="1" kern="0" spc="200" dirty="0">
                <a:solidFill>
                  <a:srgbClr val="6FB3D9"/>
                </a:solidFill>
                <a:latin typeface="Calibri" pitchFamily="34" charset="0"/>
                <a:ea typeface="Calibri" pitchFamily="34" charset="-122"/>
                <a:cs typeface="Calibri" pitchFamily="34" charset="-120"/>
              </a:rPr>
              <a:t>EDA: Medidas de tendencia central y posición </a:t>
            </a:r>
          </a:p>
        </p:txBody>
      </p:sp>
      <p:sp>
        <p:nvSpPr>
          <p:cNvPr id="17" name="Rectángulo 16"/>
          <p:cNvSpPr/>
          <p:nvPr/>
        </p:nvSpPr>
        <p:spPr>
          <a:xfrm>
            <a:off x="6966797" y="4436098"/>
            <a:ext cx="4509586" cy="1754326"/>
          </a:xfrm>
          <a:prstGeom prst="rect">
            <a:avLst/>
          </a:prstGeom>
        </p:spPr>
        <p:txBody>
          <a:bodyPr wrap="square">
            <a:spAutoFit/>
          </a:bodyPr>
          <a:lstStyle/>
          <a:p>
            <a:r>
              <a:rPr lang="es-ES" dirty="0"/>
              <a:t>La simetría entre la media y la mediana en las notas del parcia1(</a:t>
            </a:r>
            <a:r>
              <a:rPr lang="es-ES" dirty="0" err="1"/>
              <a:t>aprox</a:t>
            </a:r>
            <a:r>
              <a:rPr lang="es-ES" dirty="0"/>
              <a:t> 6.83 vs 6.90)</a:t>
            </a:r>
          </a:p>
          <a:p>
            <a:r>
              <a:rPr lang="es-ES" dirty="0"/>
              <a:t> y en los trabajos prácticos indica distribuciones bastante equilibradas, sin sesgos extremos hacia </a:t>
            </a:r>
            <a:r>
              <a:rPr lang="es-ES" dirty="0" err="1"/>
              <a:t>aplazos</a:t>
            </a:r>
            <a:r>
              <a:rPr lang="es-ES" dirty="0"/>
              <a:t> masivos o notas </a:t>
            </a:r>
            <a:r>
              <a:rPr lang="es-ES" dirty="0">
                <a:solidFill>
                  <a:schemeClr val="bg1"/>
                </a:solidFill>
              </a:rPr>
              <a:t>perfectas.</a:t>
            </a:r>
          </a:p>
        </p:txBody>
      </p:sp>
      <p:sp>
        <p:nvSpPr>
          <p:cNvPr id="18" name="Rectángulo 17"/>
          <p:cNvSpPr/>
          <p:nvPr/>
        </p:nvSpPr>
        <p:spPr>
          <a:xfrm>
            <a:off x="403543" y="2302330"/>
            <a:ext cx="2517913" cy="692497"/>
          </a:xfrm>
          <a:prstGeom prst="rect">
            <a:avLst/>
          </a:prstGeom>
        </p:spPr>
        <p:txBody>
          <a:bodyPr wrap="square">
            <a:spAutoFit/>
          </a:bodyPr>
          <a:lstStyle/>
          <a:p>
            <a:r>
              <a:rPr lang="es-ES" sz="1300" b="1" kern="0" spc="200" dirty="0">
                <a:solidFill>
                  <a:srgbClr val="6FB3D9"/>
                </a:solidFill>
                <a:latin typeface="Calibri" pitchFamily="34" charset="0"/>
                <a:ea typeface="Calibri" pitchFamily="34" charset="-122"/>
                <a:cs typeface="Calibri" pitchFamily="34" charset="-120"/>
              </a:rPr>
              <a:t>Moda (7.90) </a:t>
            </a:r>
          </a:p>
          <a:p>
            <a:r>
              <a:rPr lang="es-ES" sz="1300" b="1" kern="0" spc="200" dirty="0">
                <a:solidFill>
                  <a:srgbClr val="6FB3D9"/>
                </a:solidFill>
                <a:latin typeface="Calibri" pitchFamily="34" charset="0"/>
                <a:ea typeface="Calibri" pitchFamily="34" charset="-122"/>
                <a:cs typeface="Calibri" pitchFamily="34" charset="-120"/>
              </a:rPr>
              <a:t>Mediana (6.90)</a:t>
            </a:r>
          </a:p>
          <a:p>
            <a:r>
              <a:rPr lang="es-ES" sz="1300" b="1" kern="0" spc="200" dirty="0">
                <a:solidFill>
                  <a:srgbClr val="6FB3D9"/>
                </a:solidFill>
                <a:latin typeface="Calibri" pitchFamily="34" charset="0"/>
                <a:ea typeface="Calibri" pitchFamily="34" charset="-122"/>
                <a:cs typeface="Calibri" pitchFamily="34" charset="-120"/>
              </a:rPr>
              <a:t>Media (6.83)</a:t>
            </a:r>
          </a:p>
        </p:txBody>
      </p:sp>
      <p:pic>
        <p:nvPicPr>
          <p:cNvPr id="7" name="Imagen 6"/>
          <p:cNvPicPr>
            <a:picLocks noChangeAspect="1"/>
          </p:cNvPicPr>
          <p:nvPr/>
        </p:nvPicPr>
        <p:blipFill>
          <a:blip r:embed="rId3"/>
          <a:stretch>
            <a:fillRect/>
          </a:stretch>
        </p:blipFill>
        <p:spPr>
          <a:xfrm>
            <a:off x="912267" y="4716511"/>
            <a:ext cx="5249008" cy="1724266"/>
          </a:xfrm>
          <a:prstGeom prst="rect">
            <a:avLst/>
          </a:prstGeom>
        </p:spPr>
      </p:pic>
    </p:spTree>
    <p:extLst>
      <p:ext uri="{BB962C8B-B14F-4D97-AF65-F5344CB8AC3E}">
        <p14:creationId xmlns:p14="http://schemas.microsoft.com/office/powerpoint/2010/main" val="3997153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84313" y="676054"/>
            <a:ext cx="11415860" cy="1477328"/>
          </a:xfrm>
          <a:prstGeom prst="rect">
            <a:avLst/>
          </a:prstGeom>
        </p:spPr>
        <p:txBody>
          <a:bodyPr wrap="square">
            <a:spAutoFit/>
          </a:bodyPr>
          <a:lstStyle/>
          <a:p>
            <a:r>
              <a:rPr lang="es-ES" dirty="0"/>
              <a:t>El rango </a:t>
            </a:r>
            <a:r>
              <a:rPr lang="es-ES" dirty="0" err="1"/>
              <a:t>intercuartil</a:t>
            </a:r>
            <a:r>
              <a:rPr lang="es-ES" dirty="0"/>
              <a:t> (Q3 - Q1) en el parcial1 va de 5.30 a 8.40, lo que nos muestra que la mayor parte del curso se concentra en ese segmento de rendimiento medio-alto. Respecto al </a:t>
            </a:r>
            <a:r>
              <a:rPr lang="es-ES" b="1" dirty="0"/>
              <a:t>TP Grupal</a:t>
            </a:r>
            <a:r>
              <a:rPr lang="es-ES" dirty="0"/>
              <a:t> se observa que se extiende un poco más hacia arriba en su parte superior, lo cual indica que la modalidad grupal facilitó que las notas más altas del cuarto superior se estiraran un poco más hacia la excelencia en comparación con el parcial individual.(diagrama de caja (</a:t>
            </a:r>
            <a:r>
              <a:rPr lang="es-ES" dirty="0" err="1"/>
              <a:t>boxplot</a:t>
            </a:r>
            <a:r>
              <a:rPr lang="es-ES" dirty="0"/>
              <a:t>) </a:t>
            </a:r>
          </a:p>
        </p:txBody>
      </p:sp>
      <p:pic>
        <p:nvPicPr>
          <p:cNvPr id="4" name="Imagen 3"/>
          <p:cNvPicPr>
            <a:picLocks noChangeAspect="1"/>
          </p:cNvPicPr>
          <p:nvPr/>
        </p:nvPicPr>
        <p:blipFill>
          <a:blip r:embed="rId2"/>
          <a:stretch>
            <a:fillRect/>
          </a:stretch>
        </p:blipFill>
        <p:spPr>
          <a:xfrm>
            <a:off x="5129901" y="1833026"/>
            <a:ext cx="6746027" cy="4498757"/>
          </a:xfrm>
          <a:prstGeom prst="rect">
            <a:avLst/>
          </a:prstGeom>
        </p:spPr>
      </p:pic>
      <p:sp>
        <p:nvSpPr>
          <p:cNvPr id="5" name="Rectángulo 4"/>
          <p:cNvSpPr/>
          <p:nvPr/>
        </p:nvSpPr>
        <p:spPr>
          <a:xfrm>
            <a:off x="401666" y="2682446"/>
            <a:ext cx="3742850" cy="2031325"/>
          </a:xfrm>
          <a:prstGeom prst="rect">
            <a:avLst/>
          </a:prstGeom>
        </p:spPr>
        <p:txBody>
          <a:bodyPr wrap="square">
            <a:spAutoFit/>
          </a:bodyPr>
          <a:lstStyle/>
          <a:p>
            <a:r>
              <a:rPr lang="es-ES" dirty="0"/>
              <a:t>Por otro lado, las notas están acotadas de forma estricta entre los valores mínimos y máximos de la escala (de 3.5 a 10), sin comportamientos anómalos extremos en las calificaciones de estas instancias.</a:t>
            </a:r>
            <a:endParaRPr lang="es-AR" dirty="0"/>
          </a:p>
        </p:txBody>
      </p:sp>
      <p:sp>
        <p:nvSpPr>
          <p:cNvPr id="9" name="Rectángulo 8"/>
          <p:cNvSpPr/>
          <p:nvPr/>
        </p:nvSpPr>
        <p:spPr>
          <a:xfrm>
            <a:off x="290658" y="4990455"/>
            <a:ext cx="4839243" cy="1200329"/>
          </a:xfrm>
          <a:prstGeom prst="rect">
            <a:avLst/>
          </a:prstGeom>
        </p:spPr>
        <p:txBody>
          <a:bodyPr wrap="square">
            <a:spAutoFit/>
          </a:bodyPr>
          <a:lstStyle/>
          <a:p>
            <a:r>
              <a:rPr lang="es-ES" dirty="0"/>
              <a:t>Q_1 = 5.30 es un límite del curso y nos indica que el 25% que peor rendimiento tuvo en el parcial1 quedó por debajo de 5.30, marcando la zona de riesgo o de mayor atención académica.</a:t>
            </a:r>
            <a:endParaRPr lang="es-AR" dirty="0"/>
          </a:p>
        </p:txBody>
      </p:sp>
      <p:sp>
        <p:nvSpPr>
          <p:cNvPr id="3" name="Rectángulo 2"/>
          <p:cNvSpPr/>
          <p:nvPr/>
        </p:nvSpPr>
        <p:spPr>
          <a:xfrm>
            <a:off x="510664" y="258442"/>
            <a:ext cx="3621504" cy="400110"/>
          </a:xfrm>
          <a:prstGeom prst="rect">
            <a:avLst/>
          </a:prstGeom>
        </p:spPr>
        <p:txBody>
          <a:bodyPr wrap="none">
            <a:spAutoFit/>
          </a:bodyPr>
          <a:lstStyle/>
          <a:p>
            <a:r>
              <a:rPr lang="es-ES" sz="2000" b="1" kern="0" spc="200" dirty="0">
                <a:solidFill>
                  <a:srgbClr val="6FB3D9"/>
                </a:solidFill>
                <a:latin typeface="Calibri" pitchFamily="34" charset="0"/>
                <a:ea typeface="Calibri" pitchFamily="34" charset="-122"/>
                <a:cs typeface="Calibri" pitchFamily="34" charset="-120"/>
              </a:rPr>
              <a:t>EDA: Análisis de cuartiles</a:t>
            </a:r>
          </a:p>
        </p:txBody>
      </p:sp>
    </p:spTree>
    <p:extLst>
      <p:ext uri="{BB962C8B-B14F-4D97-AF65-F5344CB8AC3E}">
        <p14:creationId xmlns:p14="http://schemas.microsoft.com/office/powerpoint/2010/main" val="4102381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660344" y="590978"/>
            <a:ext cx="6211503" cy="3432381"/>
          </a:xfrm>
          <a:prstGeom prst="rect">
            <a:avLst/>
          </a:prstGeom>
        </p:spPr>
      </p:pic>
      <p:pic>
        <p:nvPicPr>
          <p:cNvPr id="3" name="Imagen 2"/>
          <p:cNvPicPr>
            <a:picLocks noChangeAspect="1"/>
          </p:cNvPicPr>
          <p:nvPr/>
        </p:nvPicPr>
        <p:blipFill>
          <a:blip r:embed="rId3"/>
          <a:stretch>
            <a:fillRect/>
          </a:stretch>
        </p:blipFill>
        <p:spPr>
          <a:xfrm>
            <a:off x="5349807" y="2937569"/>
            <a:ext cx="5515745" cy="3705742"/>
          </a:xfrm>
          <a:prstGeom prst="rect">
            <a:avLst/>
          </a:prstGeom>
        </p:spPr>
      </p:pic>
    </p:spTree>
    <p:extLst>
      <p:ext uri="{BB962C8B-B14F-4D97-AF65-F5344CB8AC3E}">
        <p14:creationId xmlns:p14="http://schemas.microsoft.com/office/powerpoint/2010/main" val="2868719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88730" y="4125327"/>
            <a:ext cx="10505440" cy="2185214"/>
          </a:xfrm>
          <a:prstGeom prst="rect">
            <a:avLst/>
          </a:prstGeom>
        </p:spPr>
        <p:txBody>
          <a:bodyPr wrap="square">
            <a:spAutoFit/>
          </a:bodyPr>
          <a:lstStyle/>
          <a:p>
            <a:r>
              <a:rPr lang="es-ES" sz="2400" b="1" dirty="0"/>
              <a:t>El fenómeno dinámico de los trabajos grupales</a:t>
            </a:r>
            <a:endParaRPr lang="es-ES" sz="2800" b="1" dirty="0"/>
          </a:p>
          <a:p>
            <a:r>
              <a:rPr lang="es-ES" sz="1600" dirty="0"/>
              <a:t>En la práctica, las calificaciones grupales suelen generar dos efectos contrastantes:</a:t>
            </a:r>
          </a:p>
          <a:p>
            <a:r>
              <a:rPr lang="es-ES" sz="1600" dirty="0"/>
              <a:t>Efecto de sinergia (Notas altas): Los alumnos con alto rendimiento se potencian, debaten y logran productos de mayor calidad, elevando el techo del curso.</a:t>
            </a:r>
          </a:p>
          <a:p>
            <a:r>
              <a:rPr lang="es-ES" sz="1600" dirty="0"/>
              <a:t>Efecto de asimetría o carga desigual (Valores bajos): Por otro lado, la nota grupal a veces expone diferencias en el nivel de compromiso o ritmo de trabajo dentro de los equipos. Esto puede provocar que algunos integrantes obtengan notas más bajas debido a dinámicas donde no todos participan por igual, ampliando la brecha y estirando la caja del </a:t>
            </a:r>
            <a:r>
              <a:rPr lang="es-ES" sz="1600" dirty="0" err="1"/>
              <a:t>boxplot</a:t>
            </a:r>
            <a:r>
              <a:rPr lang="es-ES" sz="1600" dirty="0"/>
              <a:t> hacia abajo en comparación con una evaluación estrictamente individual.</a:t>
            </a:r>
            <a:endParaRPr lang="es-AR" sz="1600" dirty="0"/>
          </a:p>
        </p:txBody>
      </p:sp>
      <p:sp>
        <p:nvSpPr>
          <p:cNvPr id="3" name="Rectángulo 2"/>
          <p:cNvSpPr/>
          <p:nvPr/>
        </p:nvSpPr>
        <p:spPr>
          <a:xfrm>
            <a:off x="388730" y="220460"/>
            <a:ext cx="4633843" cy="646331"/>
          </a:xfrm>
          <a:prstGeom prst="rect">
            <a:avLst/>
          </a:prstGeom>
        </p:spPr>
        <p:txBody>
          <a:bodyPr wrap="square">
            <a:spAutoFit/>
          </a:bodyPr>
          <a:lstStyle/>
          <a:p>
            <a:r>
              <a:rPr lang="es-ES" b="1" dirty="0"/>
              <a:t>Si miramos los datos precisos de las tres instancias de evaluación  son:</a:t>
            </a:r>
          </a:p>
        </p:txBody>
      </p:sp>
      <p:sp>
        <p:nvSpPr>
          <p:cNvPr id="4" name="Rectángulo 3"/>
          <p:cNvSpPr/>
          <p:nvPr/>
        </p:nvSpPr>
        <p:spPr>
          <a:xfrm>
            <a:off x="388730" y="1341897"/>
            <a:ext cx="4077252" cy="2308324"/>
          </a:xfrm>
          <a:prstGeom prst="rect">
            <a:avLst/>
          </a:prstGeom>
        </p:spPr>
        <p:txBody>
          <a:bodyPr wrap="square">
            <a:spAutoFit/>
          </a:bodyPr>
          <a:lstStyle/>
          <a:p>
            <a:r>
              <a:rPr lang="es-ES" sz="1600" dirty="0"/>
              <a:t>Parcial de Informática: Q_3 = 8.40</a:t>
            </a:r>
          </a:p>
          <a:p>
            <a:r>
              <a:rPr lang="es-ES" sz="1600" dirty="0"/>
              <a:t>TP Individual: Q_3 = 8.20</a:t>
            </a:r>
          </a:p>
          <a:p>
            <a:r>
              <a:rPr lang="es-ES" sz="1600" dirty="0"/>
              <a:t>TP Grupal:Q_3 =8.50</a:t>
            </a:r>
          </a:p>
          <a:p>
            <a:r>
              <a:rPr lang="es-ES" sz="1600" dirty="0"/>
              <a:t>El techo del rendimiento central es más alto en grupo: Mientras que en el trabajo práctico individual el Q_3 baja un poco a 8.20, en el Trabajo Práctico Grupal trepa a 8.50, superando incluso al parcial individual.(Se observa sinergia grupal)</a:t>
            </a:r>
            <a:endParaRPr lang="es-AR" sz="1600" dirty="0"/>
          </a:p>
        </p:txBody>
      </p:sp>
      <p:pic>
        <p:nvPicPr>
          <p:cNvPr id="5" name="Imagen 4"/>
          <p:cNvPicPr>
            <a:picLocks noChangeAspect="1"/>
          </p:cNvPicPr>
          <p:nvPr/>
        </p:nvPicPr>
        <p:blipFill>
          <a:blip r:embed="rId2"/>
          <a:stretch>
            <a:fillRect/>
          </a:stretch>
        </p:blipFill>
        <p:spPr>
          <a:xfrm>
            <a:off x="5344106" y="407916"/>
            <a:ext cx="5550064" cy="3703388"/>
          </a:xfrm>
          <a:prstGeom prst="rect">
            <a:avLst/>
          </a:prstGeom>
        </p:spPr>
      </p:pic>
    </p:spTree>
    <p:extLst>
      <p:ext uri="{BB962C8B-B14F-4D97-AF65-F5344CB8AC3E}">
        <p14:creationId xmlns:p14="http://schemas.microsoft.com/office/powerpoint/2010/main" val="3325867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26570" y="1528639"/>
            <a:ext cx="3657600" cy="2893100"/>
          </a:xfrm>
          <a:prstGeom prst="rect">
            <a:avLst/>
          </a:prstGeom>
        </p:spPr>
        <p:txBody>
          <a:bodyPr wrap="square">
            <a:spAutoFit/>
          </a:bodyPr>
          <a:lstStyle/>
          <a:p>
            <a:r>
              <a:rPr lang="es-ES" b="1" dirty="0"/>
              <a:t>Detección de Valores Atípicos (</a:t>
            </a:r>
            <a:r>
              <a:rPr lang="es-ES" b="1" dirty="0" err="1"/>
              <a:t>Outliers</a:t>
            </a:r>
            <a:r>
              <a:rPr lang="es-ES" b="1" dirty="0"/>
              <a:t>):</a:t>
            </a:r>
          </a:p>
          <a:p>
            <a:endParaRPr lang="es-ES" dirty="0"/>
          </a:p>
          <a:p>
            <a:r>
              <a:rPr lang="es-ES" sz="1600" dirty="0"/>
              <a:t>Al observar los bigotes superior e inferior, no se aprecian puntos aislados más allá de los límites normales. Esto indica que las notas están acotadas de forma estricta entre los valores mínimos y máximos de la escala (de 3.5 a 10), sin comportamientos anómalos extremos en las calificaciones de estas instancias.</a:t>
            </a:r>
            <a:endParaRPr lang="es-AR" sz="1600" dirty="0"/>
          </a:p>
        </p:txBody>
      </p:sp>
      <p:pic>
        <p:nvPicPr>
          <p:cNvPr id="3" name="Imagen 2"/>
          <p:cNvPicPr>
            <a:picLocks noChangeAspect="1"/>
          </p:cNvPicPr>
          <p:nvPr/>
        </p:nvPicPr>
        <p:blipFill>
          <a:blip r:embed="rId2"/>
          <a:stretch>
            <a:fillRect/>
          </a:stretch>
        </p:blipFill>
        <p:spPr>
          <a:xfrm>
            <a:off x="4378656" y="680288"/>
            <a:ext cx="6604633" cy="4406612"/>
          </a:xfrm>
          <a:prstGeom prst="rect">
            <a:avLst/>
          </a:prstGeom>
        </p:spPr>
      </p:pic>
    </p:spTree>
    <p:extLst>
      <p:ext uri="{BB962C8B-B14F-4D97-AF65-F5344CB8AC3E}">
        <p14:creationId xmlns:p14="http://schemas.microsoft.com/office/powerpoint/2010/main" val="1654327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4811133" y="2696791"/>
            <a:ext cx="6127845" cy="3829903"/>
          </a:xfrm>
          <a:prstGeom prst="rect">
            <a:avLst/>
          </a:prstGeom>
        </p:spPr>
      </p:pic>
      <p:sp>
        <p:nvSpPr>
          <p:cNvPr id="3" name="Rectángulo 2"/>
          <p:cNvSpPr/>
          <p:nvPr/>
        </p:nvSpPr>
        <p:spPr>
          <a:xfrm>
            <a:off x="219082" y="1288252"/>
            <a:ext cx="11304105" cy="1200329"/>
          </a:xfrm>
          <a:prstGeom prst="rect">
            <a:avLst/>
          </a:prstGeom>
        </p:spPr>
        <p:txBody>
          <a:bodyPr wrap="square">
            <a:spAutoFit/>
          </a:bodyPr>
          <a:lstStyle/>
          <a:p>
            <a:r>
              <a:rPr lang="es-ES" dirty="0"/>
              <a:t>Métrica / Parámetro	Nota Parcial Informática	Nota TP Individual	Nota TP Grupal	%de Asistencia</a:t>
            </a:r>
          </a:p>
          <a:p>
            <a:r>
              <a:rPr lang="es-ES" dirty="0"/>
              <a:t>Mínimo	                                     3.50	                                                     3.50	3.50	                       50.00%</a:t>
            </a:r>
          </a:p>
          <a:p>
            <a:r>
              <a:rPr lang="es-ES" dirty="0"/>
              <a:t>Máximo	                                     10.00	                                                     10.00	10.00	                     100.00%</a:t>
            </a:r>
          </a:p>
          <a:p>
            <a:r>
              <a:rPr lang="es-ES" dirty="0"/>
              <a:t>Desviación Estándar	1.86	                                                     1.90	1.94	                        14.43%</a:t>
            </a:r>
            <a:endParaRPr lang="es-AR" dirty="0"/>
          </a:p>
        </p:txBody>
      </p:sp>
      <p:sp>
        <p:nvSpPr>
          <p:cNvPr id="5" name="Rectángulo 4"/>
          <p:cNvSpPr/>
          <p:nvPr/>
        </p:nvSpPr>
        <p:spPr>
          <a:xfrm>
            <a:off x="172278" y="258442"/>
            <a:ext cx="2266967" cy="400110"/>
          </a:xfrm>
          <a:prstGeom prst="rect">
            <a:avLst/>
          </a:prstGeom>
        </p:spPr>
        <p:txBody>
          <a:bodyPr wrap="none">
            <a:spAutoFit/>
          </a:bodyPr>
          <a:lstStyle/>
          <a:p>
            <a:r>
              <a:rPr lang="es-ES" sz="2000" b="1" kern="0" spc="200" dirty="0">
                <a:solidFill>
                  <a:srgbClr val="6FB3D9"/>
                </a:solidFill>
                <a:latin typeface="Calibri" pitchFamily="34" charset="0"/>
                <a:ea typeface="Calibri" pitchFamily="34" charset="-122"/>
                <a:cs typeface="Calibri" pitchFamily="34" charset="-120"/>
              </a:rPr>
              <a:t>EDA: Dispersión</a:t>
            </a:r>
          </a:p>
        </p:txBody>
      </p:sp>
      <p:sp>
        <p:nvSpPr>
          <p:cNvPr id="6" name="Rectángulo 5"/>
          <p:cNvSpPr/>
          <p:nvPr/>
        </p:nvSpPr>
        <p:spPr>
          <a:xfrm>
            <a:off x="172277" y="633885"/>
            <a:ext cx="10243931" cy="412934"/>
          </a:xfrm>
          <a:prstGeom prst="rect">
            <a:avLst/>
          </a:prstGeom>
        </p:spPr>
        <p:txBody>
          <a:bodyPr wrap="square">
            <a:spAutoFit/>
          </a:bodyPr>
          <a:lstStyle/>
          <a:p>
            <a:pPr>
              <a:lnSpc>
                <a:spcPct val="125000"/>
              </a:lnSpc>
            </a:pPr>
            <a:r>
              <a:rPr lang="es-ES" dirty="0"/>
              <a:t>Se analizó la variabilidad del curso a través del rango </a:t>
            </a:r>
            <a:r>
              <a:rPr lang="es-ES" dirty="0" err="1"/>
              <a:t>intercuartil</a:t>
            </a:r>
            <a:r>
              <a:rPr lang="es-ES" dirty="0"/>
              <a:t> y la desviación típica  aprox. 1.86</a:t>
            </a:r>
          </a:p>
        </p:txBody>
      </p:sp>
      <p:pic>
        <p:nvPicPr>
          <p:cNvPr id="7" name="Imagen 6"/>
          <p:cNvPicPr>
            <a:picLocks noChangeAspect="1"/>
          </p:cNvPicPr>
          <p:nvPr/>
        </p:nvPicPr>
        <p:blipFill>
          <a:blip r:embed="rId3"/>
          <a:stretch>
            <a:fillRect/>
          </a:stretch>
        </p:blipFill>
        <p:spPr>
          <a:xfrm>
            <a:off x="894815" y="3470271"/>
            <a:ext cx="4976319" cy="3056423"/>
          </a:xfrm>
          <a:prstGeom prst="rect">
            <a:avLst/>
          </a:prstGeom>
        </p:spPr>
      </p:pic>
    </p:spTree>
    <p:extLst>
      <p:ext uri="{BB962C8B-B14F-4D97-AF65-F5344CB8AC3E}">
        <p14:creationId xmlns:p14="http://schemas.microsoft.com/office/powerpoint/2010/main" val="565365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15211" y="644870"/>
            <a:ext cx="3951989" cy="2031325"/>
          </a:xfrm>
          <a:prstGeom prst="rect">
            <a:avLst/>
          </a:prstGeom>
        </p:spPr>
        <p:txBody>
          <a:bodyPr wrap="square">
            <a:spAutoFit/>
          </a:bodyPr>
          <a:lstStyle/>
          <a:p>
            <a:r>
              <a:rPr lang="es-ES" dirty="0"/>
              <a:t>En el análisis de los estudiantes de Informática 1, utilizamos la correlación de Pearson para comprobar empíricamente el impacto de la </a:t>
            </a:r>
            <a:r>
              <a:rPr lang="es-ES" dirty="0" err="1"/>
              <a:t>presencialidad</a:t>
            </a:r>
            <a:r>
              <a:rPr lang="es-ES" dirty="0"/>
              <a:t> sobre las calificaciones, respaldando la tendencia positiva del modelo. </a:t>
            </a:r>
            <a:endParaRPr lang="es-AR" dirty="0"/>
          </a:p>
        </p:txBody>
      </p:sp>
      <p:sp>
        <p:nvSpPr>
          <p:cNvPr id="4" name="Rectángulo 3"/>
          <p:cNvSpPr/>
          <p:nvPr/>
        </p:nvSpPr>
        <p:spPr>
          <a:xfrm>
            <a:off x="315211" y="5603066"/>
            <a:ext cx="10342880" cy="923330"/>
          </a:xfrm>
          <a:prstGeom prst="rect">
            <a:avLst/>
          </a:prstGeom>
        </p:spPr>
        <p:txBody>
          <a:bodyPr wrap="square">
            <a:spAutoFit/>
          </a:bodyPr>
          <a:lstStyle/>
          <a:p>
            <a:r>
              <a:rPr lang="es-ES" dirty="0"/>
              <a:t>El valor del coeficiente (r):En nuestro análisis cruzando Porcentaje de Asistencia vs. Nota del Parcial, el coeficiente de Pearson es de r = 0.66.La interpretación </a:t>
            </a:r>
            <a:r>
              <a:rPr lang="es-ES" dirty="0" err="1"/>
              <a:t>cuantitativa:Al</a:t>
            </a:r>
            <a:r>
              <a:rPr lang="es-ES" dirty="0"/>
              <a:t> estar cerca de 0.7, indica una correlación positiva moderada-fuerte</a:t>
            </a:r>
          </a:p>
        </p:txBody>
      </p:sp>
      <p:pic>
        <p:nvPicPr>
          <p:cNvPr id="6" name="Imagen 5"/>
          <p:cNvPicPr>
            <a:picLocks noChangeAspect="1"/>
          </p:cNvPicPr>
          <p:nvPr/>
        </p:nvPicPr>
        <p:blipFill>
          <a:blip r:embed="rId2"/>
          <a:stretch>
            <a:fillRect/>
          </a:stretch>
        </p:blipFill>
        <p:spPr>
          <a:xfrm>
            <a:off x="205874" y="2676195"/>
            <a:ext cx="8067144" cy="2665787"/>
          </a:xfrm>
          <a:prstGeom prst="rect">
            <a:avLst/>
          </a:prstGeom>
        </p:spPr>
      </p:pic>
      <p:sp>
        <p:nvSpPr>
          <p:cNvPr id="7" name="Rectángulo 6"/>
          <p:cNvSpPr/>
          <p:nvPr/>
        </p:nvSpPr>
        <p:spPr>
          <a:xfrm>
            <a:off x="172278" y="258442"/>
            <a:ext cx="6304931" cy="707886"/>
          </a:xfrm>
          <a:prstGeom prst="rect">
            <a:avLst/>
          </a:prstGeom>
        </p:spPr>
        <p:txBody>
          <a:bodyPr wrap="none">
            <a:spAutoFit/>
          </a:bodyPr>
          <a:lstStyle/>
          <a:p>
            <a:r>
              <a:rPr lang="es-ES" sz="2000" b="1" kern="0" spc="200" dirty="0">
                <a:solidFill>
                  <a:srgbClr val="6FB3D9"/>
                </a:solidFill>
                <a:latin typeface="Calibri" pitchFamily="34" charset="0"/>
                <a:ea typeface="Calibri" pitchFamily="34" charset="-122"/>
                <a:cs typeface="Calibri" pitchFamily="34" charset="-120"/>
              </a:rPr>
              <a:t>EDA: Correlación (Asistencia vs. Rendimiento).</a:t>
            </a:r>
          </a:p>
          <a:p>
            <a:endParaRPr lang="es-ES" sz="2000" b="1" kern="0" spc="200" dirty="0">
              <a:solidFill>
                <a:srgbClr val="6FB3D9"/>
              </a:solidFill>
              <a:latin typeface="Calibri" pitchFamily="34" charset="0"/>
              <a:ea typeface="Calibri" pitchFamily="34" charset="-122"/>
              <a:cs typeface="Calibri" pitchFamily="34" charset="-120"/>
            </a:endParaRPr>
          </a:p>
        </p:txBody>
      </p:sp>
      <p:pic>
        <p:nvPicPr>
          <p:cNvPr id="3" name="Imagen 2"/>
          <p:cNvPicPr>
            <a:picLocks noChangeAspect="1"/>
          </p:cNvPicPr>
          <p:nvPr/>
        </p:nvPicPr>
        <p:blipFill>
          <a:blip r:embed="rId3"/>
          <a:stretch>
            <a:fillRect/>
          </a:stretch>
        </p:blipFill>
        <p:spPr>
          <a:xfrm>
            <a:off x="5704535" y="1017005"/>
            <a:ext cx="6487465" cy="4324977"/>
          </a:xfrm>
          <a:prstGeom prst="rect">
            <a:avLst/>
          </a:prstGeom>
        </p:spPr>
      </p:pic>
    </p:spTree>
    <p:extLst>
      <p:ext uri="{BB962C8B-B14F-4D97-AF65-F5344CB8AC3E}">
        <p14:creationId xmlns:p14="http://schemas.microsoft.com/office/powerpoint/2010/main" val="4113928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345756" y="445678"/>
            <a:ext cx="5132018" cy="377283"/>
          </a:xfrm>
          <a:prstGeom prst="rect">
            <a:avLst/>
          </a:prstGeom>
        </p:spPr>
        <p:txBody>
          <a:bodyPr wrap="square">
            <a:spAutoFit/>
          </a:bodyPr>
          <a:lstStyle/>
          <a:p>
            <a:pPr>
              <a:lnSpc>
                <a:spcPct val="125000"/>
              </a:lnSpc>
            </a:pPr>
            <a:r>
              <a:rPr lang="es-ES" sz="1600" b="1" dirty="0"/>
              <a:t>¿Por qué elegimos cruzar estas variables y no otras?</a:t>
            </a:r>
          </a:p>
        </p:txBody>
      </p:sp>
      <p:pic>
        <p:nvPicPr>
          <p:cNvPr id="7" name="Imagen 6"/>
          <p:cNvPicPr>
            <a:picLocks noChangeAspect="1"/>
          </p:cNvPicPr>
          <p:nvPr/>
        </p:nvPicPr>
        <p:blipFill>
          <a:blip r:embed="rId2"/>
          <a:stretch>
            <a:fillRect/>
          </a:stretch>
        </p:blipFill>
        <p:spPr>
          <a:xfrm>
            <a:off x="5168347" y="477718"/>
            <a:ext cx="7044234" cy="4697846"/>
          </a:xfrm>
          <a:prstGeom prst="rect">
            <a:avLst/>
          </a:prstGeom>
        </p:spPr>
      </p:pic>
      <p:sp>
        <p:nvSpPr>
          <p:cNvPr id="8" name="Rectángulo 7"/>
          <p:cNvSpPr/>
          <p:nvPr/>
        </p:nvSpPr>
        <p:spPr>
          <a:xfrm>
            <a:off x="276744" y="1410869"/>
            <a:ext cx="4891603" cy="2831544"/>
          </a:xfrm>
          <a:prstGeom prst="rect">
            <a:avLst/>
          </a:prstGeom>
        </p:spPr>
        <p:txBody>
          <a:bodyPr wrap="square">
            <a:spAutoFit/>
          </a:bodyPr>
          <a:lstStyle/>
          <a:p>
            <a:endParaRPr lang="es-ES" dirty="0"/>
          </a:p>
          <a:p>
            <a:r>
              <a:rPr lang="es-ES" sz="1600" dirty="0"/>
              <a:t>Queremos comprobar empíricamente si "el estudiante que va a clase rinde mejor" se cumple de forma real en los números o si alumnos que estudian por su cuenta  rinden bien asistiendo poco.</a:t>
            </a:r>
          </a:p>
          <a:p>
            <a:endParaRPr lang="es-ES" sz="1600" dirty="0"/>
          </a:p>
          <a:p>
            <a:r>
              <a:rPr lang="es-ES" sz="1600" dirty="0"/>
              <a:t>Cruzar estas variables permite detectar visualmente cuadrángulos críticos (por ejemplo, alumnos con baja asistencia y notas por debajo del Q_1, lo que sirve para justificar políticas de tutorías o seguimiento en la facultad.</a:t>
            </a:r>
            <a:endParaRPr lang="es-AR" sz="1600" dirty="0"/>
          </a:p>
        </p:txBody>
      </p:sp>
      <p:sp>
        <p:nvSpPr>
          <p:cNvPr id="11" name="Rectángulo 10"/>
          <p:cNvSpPr/>
          <p:nvPr/>
        </p:nvSpPr>
        <p:spPr>
          <a:xfrm>
            <a:off x="261459" y="5335104"/>
            <a:ext cx="11669082" cy="1077218"/>
          </a:xfrm>
          <a:prstGeom prst="rect">
            <a:avLst/>
          </a:prstGeom>
        </p:spPr>
        <p:txBody>
          <a:bodyPr wrap="square">
            <a:spAutoFit/>
          </a:bodyPr>
          <a:lstStyle/>
          <a:p>
            <a:r>
              <a:rPr lang="es-ES" sz="1600" dirty="0"/>
              <a:t>.¿Qué significa para la cátedra? No es una línea perfecta (de 1.0), lo que nos dice que hay excepciones (alumnos que van poco y les va bien, o que van mucho y les va mal), pero la tendencia general confirma estadísticamente que la </a:t>
            </a:r>
            <a:r>
              <a:rPr lang="es-ES" sz="1600" dirty="0" err="1"/>
              <a:t>presencialidad</a:t>
            </a:r>
            <a:r>
              <a:rPr lang="es-ES" sz="1600" dirty="0"/>
              <a:t> impacta de manera directa y significativa en el rendimiento del parcial. : Los datos confirman que los estudiantes con menor asistencia tienden a concentrarse en los tramos inferiores de calificaciones, validando empíricamente la importancia del seguimiento de la </a:t>
            </a:r>
            <a:r>
              <a:rPr lang="es-ES" sz="1600" dirty="0" err="1"/>
              <a:t>presencialidad</a:t>
            </a:r>
            <a:r>
              <a:rPr lang="es-ES" sz="1600" dirty="0"/>
              <a:t> en la materia.</a:t>
            </a:r>
            <a:endParaRPr lang="es-AR" sz="1600" dirty="0"/>
          </a:p>
        </p:txBody>
      </p:sp>
    </p:spTree>
    <p:extLst>
      <p:ext uri="{BB962C8B-B14F-4D97-AF65-F5344CB8AC3E}">
        <p14:creationId xmlns:p14="http://schemas.microsoft.com/office/powerpoint/2010/main" val="888688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583002" y="680169"/>
            <a:ext cx="8059275" cy="3343742"/>
          </a:xfrm>
          <a:prstGeom prst="rect">
            <a:avLst/>
          </a:prstGeom>
        </p:spPr>
      </p:pic>
      <p:pic>
        <p:nvPicPr>
          <p:cNvPr id="3" name="Imagen 2"/>
          <p:cNvPicPr>
            <a:picLocks noChangeAspect="1"/>
          </p:cNvPicPr>
          <p:nvPr/>
        </p:nvPicPr>
        <p:blipFill>
          <a:blip r:embed="rId3"/>
          <a:stretch>
            <a:fillRect/>
          </a:stretch>
        </p:blipFill>
        <p:spPr>
          <a:xfrm>
            <a:off x="3227222" y="3007443"/>
            <a:ext cx="6916115" cy="3362794"/>
          </a:xfrm>
          <a:prstGeom prst="rect">
            <a:avLst/>
          </a:prstGeom>
        </p:spPr>
      </p:pic>
    </p:spTree>
    <p:extLst>
      <p:ext uri="{BB962C8B-B14F-4D97-AF65-F5344CB8AC3E}">
        <p14:creationId xmlns:p14="http://schemas.microsoft.com/office/powerpoint/2010/main" val="2846362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3557" y="437626"/>
            <a:ext cx="5486400" cy="320040"/>
          </a:xfrm>
          <a:prstGeom prst="rect">
            <a:avLst/>
          </a:prstGeom>
          <a:noFill/>
          <a:ln/>
        </p:spPr>
        <p:txBody>
          <a:bodyPr wrap="square" lIns="0" tIns="0" rIns="0" bIns="0" rtlCol="0" anchor="ctr"/>
          <a:lstStyle/>
          <a:p>
            <a:r>
              <a:rPr lang="en-US" sz="2000" b="1" kern="0" spc="100" dirty="0">
                <a:solidFill>
                  <a:srgbClr val="2E86AB"/>
                </a:solidFill>
                <a:latin typeface="Calibri" pitchFamily="34" charset="0"/>
                <a:ea typeface="Calibri" pitchFamily="34" charset="-122"/>
                <a:cs typeface="Calibri" pitchFamily="34" charset="-120"/>
              </a:rPr>
              <a:t>EDA: </a:t>
            </a:r>
            <a:r>
              <a:rPr lang="es-ES" sz="2000" b="1" kern="0" spc="100" dirty="0">
                <a:solidFill>
                  <a:srgbClr val="2E86AB"/>
                </a:solidFill>
                <a:latin typeface="Calibri" pitchFamily="34" charset="0"/>
                <a:ea typeface="Calibri" pitchFamily="34" charset="-122"/>
                <a:cs typeface="Calibri" pitchFamily="34" charset="-120"/>
              </a:rPr>
              <a:t>Gráfico de barras por Condición Final</a:t>
            </a:r>
          </a:p>
          <a:p>
            <a:pPr marL="0" indent="0">
              <a:buNone/>
            </a:pP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endParaRPr lang="en-US" sz="3000" dirty="0"/>
          </a:p>
        </p:txBody>
      </p:sp>
      <p:sp>
        <p:nvSpPr>
          <p:cNvPr id="21" name="Text 18"/>
          <p:cNvSpPr/>
          <p:nvPr/>
        </p:nvSpPr>
        <p:spPr>
          <a:xfrm>
            <a:off x="457200" y="6473952"/>
            <a:ext cx="86868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TP Hackatón · Informática y Análisis 1 — Predicción de rendimiento académico</a:t>
            </a:r>
            <a:endParaRPr lang="en-US" sz="900" dirty="0"/>
          </a:p>
        </p:txBody>
      </p:sp>
      <p:sp>
        <p:nvSpPr>
          <p:cNvPr id="22" name="Text 19"/>
          <p:cNvSpPr/>
          <p:nvPr/>
        </p:nvSpPr>
        <p:spPr>
          <a:xfrm>
            <a:off x="10817352" y="6473952"/>
            <a:ext cx="9144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a:t>
            </a:r>
            <a:endParaRPr lang="en-US" sz="900" dirty="0"/>
          </a:p>
        </p:txBody>
      </p:sp>
      <p:sp>
        <p:nvSpPr>
          <p:cNvPr id="23" name="Rectángulo 22"/>
          <p:cNvSpPr/>
          <p:nvPr/>
        </p:nvSpPr>
        <p:spPr>
          <a:xfrm>
            <a:off x="323557" y="1786170"/>
            <a:ext cx="3936390" cy="3539430"/>
          </a:xfrm>
          <a:prstGeom prst="rect">
            <a:avLst/>
          </a:prstGeom>
        </p:spPr>
        <p:txBody>
          <a:bodyPr wrap="square">
            <a:spAutoFit/>
          </a:bodyPr>
          <a:lstStyle/>
          <a:p>
            <a:r>
              <a:rPr lang="es-ES" sz="1600" dirty="0"/>
              <a:t>Regularizan: Es el grupo más numeroso, concentrando aproximadamente el 43.7% de los estudiantes (656 alumnos). Esto indica que la gran mayoría logra cumplir con los requisitos mínimos de aprobación de la cursada.</a:t>
            </a:r>
          </a:p>
          <a:p>
            <a:r>
              <a:rPr lang="es-ES" sz="1600" dirty="0"/>
              <a:t>Promocionan: Representa un sólido 35.5% (533 alumnos), lo que evidencia un buen nivel de apropiación de los conceptos centrales de la materia.</a:t>
            </a:r>
          </a:p>
          <a:p>
            <a:r>
              <a:rPr lang="es-ES" sz="1600" dirty="0"/>
              <a:t>Libre / Abandona: Abarca al 20.7% restante (311 alumnos), marcando una tasa de deserción o reprobación que requiere atención pedagógica.</a:t>
            </a:r>
            <a:endParaRPr lang="es-AR" sz="1600" dirty="0"/>
          </a:p>
        </p:txBody>
      </p:sp>
      <p:pic>
        <p:nvPicPr>
          <p:cNvPr id="24" name="Imagen 23"/>
          <p:cNvPicPr>
            <a:picLocks noChangeAspect="1"/>
          </p:cNvPicPr>
          <p:nvPr/>
        </p:nvPicPr>
        <p:blipFill>
          <a:blip r:embed="rId3"/>
          <a:stretch>
            <a:fillRect/>
          </a:stretch>
        </p:blipFill>
        <p:spPr>
          <a:xfrm>
            <a:off x="4352528" y="1345720"/>
            <a:ext cx="7678476" cy="4799047"/>
          </a:xfrm>
          <a:prstGeom prst="rect">
            <a:avLst/>
          </a:prstGeom>
        </p:spPr>
      </p:pic>
    </p:spTree>
    <p:extLst>
      <p:ext uri="{BB962C8B-B14F-4D97-AF65-F5344CB8AC3E}">
        <p14:creationId xmlns:p14="http://schemas.microsoft.com/office/powerpoint/2010/main" val="2536142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540551"/>
            <a:ext cx="11064240" cy="822960"/>
          </a:xfrm>
          <a:prstGeom prst="rect">
            <a:avLst/>
          </a:prstGeom>
          <a:noFill/>
          <a:ln/>
        </p:spPr>
        <p:txBody>
          <a:bodyPr wrap="square" lIns="0" tIns="0" rIns="0" bIns="0" rtlCol="0" anchor="ctr"/>
          <a:lstStyle/>
          <a:p>
            <a:pPr marL="0" indent="0">
              <a:buNone/>
            </a:pPr>
            <a:r>
              <a:rPr lang="en-US" sz="3000" b="1" dirty="0" err="1">
                <a:solidFill>
                  <a:srgbClr val="1C2B36"/>
                </a:solidFill>
                <a:latin typeface="Cambria" pitchFamily="34" charset="0"/>
                <a:ea typeface="Cambria" pitchFamily="34" charset="-122"/>
                <a:cs typeface="Cambria" pitchFamily="34" charset="-120"/>
              </a:rPr>
              <a:t>Desarrollo</a:t>
            </a:r>
            <a:r>
              <a:rPr lang="en-US" sz="3000" b="1" dirty="0">
                <a:solidFill>
                  <a:srgbClr val="1C2B36"/>
                </a:solidFill>
                <a:latin typeface="Cambria" pitchFamily="34" charset="0"/>
                <a:ea typeface="Cambria" pitchFamily="34" charset="-122"/>
                <a:cs typeface="Cambria" pitchFamily="34" charset="-120"/>
              </a:rPr>
              <a:t> del </a:t>
            </a:r>
            <a:r>
              <a:rPr lang="en-US" sz="3000" b="1" dirty="0" err="1">
                <a:solidFill>
                  <a:srgbClr val="1C2B36"/>
                </a:solidFill>
                <a:latin typeface="Cambria" pitchFamily="34" charset="0"/>
                <a:ea typeface="Cambria" pitchFamily="34" charset="-122"/>
                <a:cs typeface="Cambria" pitchFamily="34" charset="-120"/>
              </a:rPr>
              <a:t>problema</a:t>
            </a:r>
            <a:r>
              <a:rPr lang="en-US" sz="3000" b="1" dirty="0">
                <a:solidFill>
                  <a:srgbClr val="1C2B36"/>
                </a:solidFill>
                <a:latin typeface="Cambria" pitchFamily="34" charset="0"/>
                <a:ea typeface="Cambria" pitchFamily="34" charset="-122"/>
                <a:cs typeface="Cambria" pitchFamily="34" charset="-120"/>
              </a:rPr>
              <a:t> de clasificación supervisada</a:t>
            </a:r>
            <a:endParaRPr lang="en-US" sz="3000" dirty="0"/>
          </a:p>
        </p:txBody>
      </p:sp>
      <p:sp>
        <p:nvSpPr>
          <p:cNvPr id="4" name="Shape 2"/>
          <p:cNvSpPr/>
          <p:nvPr/>
        </p:nvSpPr>
        <p:spPr>
          <a:xfrm>
            <a:off x="548640" y="1801368"/>
            <a:ext cx="384048" cy="384048"/>
          </a:xfrm>
          <a:prstGeom prst="ellipse">
            <a:avLst/>
          </a:prstGeom>
          <a:solidFill>
            <a:srgbClr val="16324F"/>
          </a:solidFill>
          <a:ln/>
        </p:spPr>
      </p:sp>
      <p:sp>
        <p:nvSpPr>
          <p:cNvPr id="5" name="Text 3"/>
          <p:cNvSpPr/>
          <p:nvPr/>
        </p:nvSpPr>
        <p:spPr>
          <a:xfrm>
            <a:off x="548640" y="18013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097280" y="1728216"/>
            <a:ext cx="2743200" cy="502920"/>
          </a:xfrm>
          <a:prstGeom prst="rect">
            <a:avLst/>
          </a:prstGeom>
          <a:noFill/>
          <a:ln/>
        </p:spPr>
        <p:txBody>
          <a:bodyPr wrap="square" lIns="0" tIns="0" rIns="0" bIns="0" rtlCol="0" anchor="ctr"/>
          <a:lstStyle/>
          <a:p>
            <a:pPr marL="0" indent="0">
              <a:buNone/>
            </a:pPr>
            <a:r>
              <a:rPr lang="en-US" sz="1350" b="1" dirty="0">
                <a:solidFill>
                  <a:srgbClr val="1C2B36"/>
                </a:solidFill>
                <a:latin typeface="Calibri" pitchFamily="34" charset="0"/>
                <a:ea typeface="Calibri" pitchFamily="34" charset="-122"/>
                <a:cs typeface="Calibri" pitchFamily="34" charset="-120"/>
              </a:rPr>
              <a:t>EDA</a:t>
            </a:r>
            <a:endParaRPr lang="en-US" sz="1350" dirty="0"/>
          </a:p>
        </p:txBody>
      </p:sp>
      <p:sp>
        <p:nvSpPr>
          <p:cNvPr id="7" name="Text 5"/>
          <p:cNvSpPr/>
          <p:nvPr/>
        </p:nvSpPr>
        <p:spPr>
          <a:xfrm>
            <a:off x="3977640" y="1728216"/>
            <a:ext cx="7680960" cy="502920"/>
          </a:xfrm>
          <a:prstGeom prst="rect">
            <a:avLst/>
          </a:prstGeom>
          <a:noFill/>
          <a:ln/>
        </p:spPr>
        <p:txBody>
          <a:bodyPr wrap="square" lIns="0" tIns="0" rIns="0" bIns="0" rtlCol="0" anchor="ctr"/>
          <a:lstStyle/>
          <a:p>
            <a:pPr marL="0" indent="0">
              <a:lnSpc>
                <a:spcPct val="110000"/>
              </a:lnSpc>
              <a:buNone/>
            </a:pPr>
            <a:r>
              <a:rPr lang="en-US" sz="1150" dirty="0">
                <a:solidFill>
                  <a:srgbClr val="6B7A88"/>
                </a:solidFill>
                <a:latin typeface="Calibri" pitchFamily="34" charset="0"/>
                <a:ea typeface="Calibri" pitchFamily="34" charset="-122"/>
                <a:cs typeface="Calibri" pitchFamily="34" charset="-120"/>
              </a:rPr>
              <a:t>Se revisan tipos de datos y valores nulos con df.info() e isnull().sum(). El dataset queda sin faltantes.</a:t>
            </a:r>
            <a:endParaRPr lang="en-US" sz="1150" dirty="0"/>
          </a:p>
        </p:txBody>
      </p:sp>
      <p:sp>
        <p:nvSpPr>
          <p:cNvPr id="8" name="Shape 6"/>
          <p:cNvSpPr/>
          <p:nvPr/>
        </p:nvSpPr>
        <p:spPr>
          <a:xfrm>
            <a:off x="740664" y="2203704"/>
            <a:ext cx="0" cy="475488"/>
          </a:xfrm>
          <a:prstGeom prst="line">
            <a:avLst/>
          </a:prstGeom>
          <a:noFill/>
          <a:ln w="15875">
            <a:solidFill>
              <a:srgbClr val="D7DEE4"/>
            </a:solidFill>
            <a:prstDash val="dash"/>
          </a:ln>
        </p:spPr>
      </p:sp>
      <p:sp>
        <p:nvSpPr>
          <p:cNvPr id="9" name="Shape 7"/>
          <p:cNvSpPr/>
          <p:nvPr/>
        </p:nvSpPr>
        <p:spPr>
          <a:xfrm>
            <a:off x="548640" y="2697480"/>
            <a:ext cx="384048" cy="384048"/>
          </a:xfrm>
          <a:prstGeom prst="ellipse">
            <a:avLst/>
          </a:prstGeom>
          <a:solidFill>
            <a:srgbClr val="16324F"/>
          </a:solidFill>
          <a:ln/>
        </p:spPr>
      </p:sp>
      <p:sp>
        <p:nvSpPr>
          <p:cNvPr id="10" name="Text 8"/>
          <p:cNvSpPr/>
          <p:nvPr/>
        </p:nvSpPr>
        <p:spPr>
          <a:xfrm>
            <a:off x="548640" y="26974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70631" y="2615011"/>
            <a:ext cx="2743200" cy="502920"/>
          </a:xfrm>
          <a:prstGeom prst="rect">
            <a:avLst/>
          </a:prstGeom>
          <a:noFill/>
          <a:ln/>
        </p:spPr>
        <p:txBody>
          <a:bodyPr wrap="square" lIns="0" tIns="0" rIns="0" bIns="0" rtlCol="0" anchor="ctr"/>
          <a:lstStyle/>
          <a:p>
            <a:pPr marL="0" indent="0">
              <a:buNone/>
            </a:pPr>
            <a:r>
              <a:rPr lang="en-US" sz="1350" b="1" dirty="0" err="1">
                <a:solidFill>
                  <a:srgbClr val="1C2B36"/>
                </a:solidFill>
                <a:latin typeface="Calibri" pitchFamily="34" charset="0"/>
                <a:ea typeface="Calibri" pitchFamily="34" charset="-122"/>
                <a:cs typeface="Calibri" pitchFamily="34" charset="-120"/>
              </a:rPr>
              <a:t>Limpieza</a:t>
            </a:r>
            <a:r>
              <a:rPr lang="en-US" sz="1350" b="1" dirty="0">
                <a:solidFill>
                  <a:srgbClr val="1C2B36"/>
                </a:solidFill>
                <a:latin typeface="Calibri" pitchFamily="34" charset="0"/>
                <a:ea typeface="Calibri" pitchFamily="34" charset="-122"/>
                <a:cs typeface="Calibri" pitchFamily="34" charset="-120"/>
              </a:rPr>
              <a:t> del dataset</a:t>
            </a:r>
            <a:endParaRPr lang="en-US" sz="1350" dirty="0"/>
          </a:p>
        </p:txBody>
      </p:sp>
      <p:sp>
        <p:nvSpPr>
          <p:cNvPr id="12" name="Text 10"/>
          <p:cNvSpPr/>
          <p:nvPr/>
        </p:nvSpPr>
        <p:spPr>
          <a:xfrm>
            <a:off x="3977640" y="2624328"/>
            <a:ext cx="7680960" cy="502920"/>
          </a:xfrm>
          <a:prstGeom prst="rect">
            <a:avLst/>
          </a:prstGeom>
          <a:noFill/>
          <a:ln/>
        </p:spPr>
        <p:txBody>
          <a:bodyPr wrap="square" lIns="0" tIns="0" rIns="0" bIns="0" rtlCol="0" anchor="ctr"/>
          <a:lstStyle/>
          <a:p>
            <a:pPr marL="0" indent="0">
              <a:lnSpc>
                <a:spcPct val="110000"/>
              </a:lnSpc>
              <a:buNone/>
            </a:pPr>
            <a:r>
              <a:rPr lang="en-US" sz="1150" dirty="0">
                <a:solidFill>
                  <a:srgbClr val="6B7A88"/>
                </a:solidFill>
                <a:latin typeface="Calibri" pitchFamily="34" charset="0"/>
                <a:ea typeface="Calibri" pitchFamily="34" charset="-122"/>
                <a:cs typeface="Calibri" pitchFamily="34" charset="-120"/>
              </a:rPr>
              <a:t>Las variables categóricas (Género, Tipo_Secundario, Acceso_Internet, Participación_Plataforma) se convierten a numéricas con LabelEncoder.</a:t>
            </a:r>
            <a:endParaRPr lang="en-US" sz="1150" dirty="0"/>
          </a:p>
        </p:txBody>
      </p:sp>
      <p:sp>
        <p:nvSpPr>
          <p:cNvPr id="13" name="Shape 11"/>
          <p:cNvSpPr/>
          <p:nvPr/>
        </p:nvSpPr>
        <p:spPr>
          <a:xfrm>
            <a:off x="740664" y="3099816"/>
            <a:ext cx="0" cy="475488"/>
          </a:xfrm>
          <a:prstGeom prst="line">
            <a:avLst/>
          </a:prstGeom>
          <a:noFill/>
          <a:ln w="15875">
            <a:solidFill>
              <a:srgbClr val="D7DEE4"/>
            </a:solidFill>
            <a:prstDash val="dash"/>
          </a:ln>
        </p:spPr>
      </p:sp>
      <p:sp>
        <p:nvSpPr>
          <p:cNvPr id="14" name="Shape 12"/>
          <p:cNvSpPr/>
          <p:nvPr/>
        </p:nvSpPr>
        <p:spPr>
          <a:xfrm>
            <a:off x="548640" y="3593592"/>
            <a:ext cx="384048" cy="384048"/>
          </a:xfrm>
          <a:prstGeom prst="ellipse">
            <a:avLst/>
          </a:prstGeom>
          <a:solidFill>
            <a:srgbClr val="16324F"/>
          </a:solidFill>
          <a:ln/>
        </p:spPr>
      </p:sp>
      <p:sp>
        <p:nvSpPr>
          <p:cNvPr id="15" name="Text 13"/>
          <p:cNvSpPr/>
          <p:nvPr/>
        </p:nvSpPr>
        <p:spPr>
          <a:xfrm>
            <a:off x="548640" y="35935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3977640" y="3520440"/>
            <a:ext cx="7680960" cy="502920"/>
          </a:xfrm>
          <a:prstGeom prst="rect">
            <a:avLst/>
          </a:prstGeom>
          <a:noFill/>
          <a:ln/>
        </p:spPr>
        <p:txBody>
          <a:bodyPr wrap="square" lIns="0" tIns="0" rIns="0" bIns="0" rtlCol="0" anchor="ctr"/>
          <a:lstStyle/>
          <a:p>
            <a:pPr marL="0" indent="0">
              <a:lnSpc>
                <a:spcPct val="110000"/>
              </a:lnSpc>
              <a:buNone/>
            </a:pPr>
            <a:r>
              <a:rPr lang="en-US" sz="1150" dirty="0">
                <a:solidFill>
                  <a:srgbClr val="6B7A88"/>
                </a:solidFill>
                <a:latin typeface="Calibri" pitchFamily="34" charset="0"/>
                <a:ea typeface="Calibri" pitchFamily="34" charset="-122"/>
                <a:cs typeface="Calibri" pitchFamily="34" charset="-120"/>
              </a:rPr>
              <a:t>X: todas las variables predictoras (se descarta ID_Estudiante, que no aporta información). y: Condición_Final (variable objetivo, 3 clases).</a:t>
            </a:r>
            <a:endParaRPr lang="en-US" sz="1150" dirty="0"/>
          </a:p>
        </p:txBody>
      </p:sp>
      <p:sp>
        <p:nvSpPr>
          <p:cNvPr id="18" name="Shape 16"/>
          <p:cNvSpPr/>
          <p:nvPr/>
        </p:nvSpPr>
        <p:spPr>
          <a:xfrm>
            <a:off x="740664" y="3995928"/>
            <a:ext cx="0" cy="475488"/>
          </a:xfrm>
          <a:prstGeom prst="line">
            <a:avLst/>
          </a:prstGeom>
          <a:noFill/>
          <a:ln w="15875">
            <a:solidFill>
              <a:srgbClr val="D7DEE4"/>
            </a:solidFill>
            <a:prstDash val="dash"/>
          </a:ln>
        </p:spPr>
      </p:sp>
      <p:sp>
        <p:nvSpPr>
          <p:cNvPr id="19" name="Shape 17"/>
          <p:cNvSpPr/>
          <p:nvPr/>
        </p:nvSpPr>
        <p:spPr>
          <a:xfrm>
            <a:off x="548640" y="4489704"/>
            <a:ext cx="384048" cy="384048"/>
          </a:xfrm>
          <a:prstGeom prst="ellipse">
            <a:avLst/>
          </a:prstGeom>
          <a:solidFill>
            <a:srgbClr val="16324F"/>
          </a:solidFill>
          <a:ln/>
        </p:spPr>
      </p:sp>
      <p:sp>
        <p:nvSpPr>
          <p:cNvPr id="20" name="Text 18"/>
          <p:cNvSpPr/>
          <p:nvPr/>
        </p:nvSpPr>
        <p:spPr>
          <a:xfrm>
            <a:off x="548640" y="44897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79575" y="3534156"/>
            <a:ext cx="2743200" cy="502920"/>
          </a:xfrm>
          <a:prstGeom prst="rect">
            <a:avLst/>
          </a:prstGeom>
          <a:noFill/>
          <a:ln/>
        </p:spPr>
        <p:txBody>
          <a:bodyPr wrap="square" lIns="0" tIns="0" rIns="0" bIns="0" rtlCol="0" anchor="ctr"/>
          <a:lstStyle/>
          <a:p>
            <a:r>
              <a:rPr lang="en-US" sz="1350" b="1" dirty="0">
                <a:solidFill>
                  <a:srgbClr val="1C2B36"/>
                </a:solidFill>
                <a:latin typeface="Calibri" pitchFamily="34" charset="0"/>
                <a:ea typeface="Calibri" pitchFamily="34" charset="-122"/>
                <a:cs typeface="Calibri" pitchFamily="34" charset="-120"/>
              </a:rPr>
              <a:t>Train / Test</a:t>
            </a:r>
            <a:endParaRPr lang="en-US" sz="1350" dirty="0"/>
          </a:p>
        </p:txBody>
      </p:sp>
      <p:sp>
        <p:nvSpPr>
          <p:cNvPr id="23" name="Shape 21"/>
          <p:cNvSpPr/>
          <p:nvPr/>
        </p:nvSpPr>
        <p:spPr>
          <a:xfrm>
            <a:off x="740664" y="4892040"/>
            <a:ext cx="0" cy="475488"/>
          </a:xfrm>
          <a:prstGeom prst="line">
            <a:avLst/>
          </a:prstGeom>
          <a:noFill/>
          <a:ln w="15875">
            <a:solidFill>
              <a:srgbClr val="D7DEE4"/>
            </a:solidFill>
            <a:prstDash val="dash"/>
          </a:ln>
        </p:spPr>
      </p:sp>
      <p:sp>
        <p:nvSpPr>
          <p:cNvPr id="24" name="Shape 22"/>
          <p:cNvSpPr/>
          <p:nvPr/>
        </p:nvSpPr>
        <p:spPr>
          <a:xfrm>
            <a:off x="548640" y="5385816"/>
            <a:ext cx="384048" cy="384048"/>
          </a:xfrm>
          <a:prstGeom prst="ellipse">
            <a:avLst/>
          </a:prstGeom>
          <a:solidFill>
            <a:srgbClr val="16324F"/>
          </a:solidFill>
          <a:ln/>
        </p:spPr>
      </p:sp>
      <p:sp>
        <p:nvSpPr>
          <p:cNvPr id="25" name="Text 23"/>
          <p:cNvSpPr/>
          <p:nvPr/>
        </p:nvSpPr>
        <p:spPr>
          <a:xfrm>
            <a:off x="548640" y="538581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4501662" y="3659885"/>
            <a:ext cx="7680960" cy="502920"/>
          </a:xfrm>
          <a:prstGeom prst="rect">
            <a:avLst/>
          </a:prstGeom>
          <a:noFill/>
          <a:ln/>
        </p:spPr>
        <p:txBody>
          <a:bodyPr wrap="square" lIns="0" tIns="0" rIns="0" bIns="0" rtlCol="0" anchor="ctr"/>
          <a:lstStyle/>
          <a:p>
            <a:pPr marL="0" indent="0">
              <a:lnSpc>
                <a:spcPct val="110000"/>
              </a:lnSpc>
              <a:buNone/>
            </a:pPr>
            <a:r>
              <a:rPr lang="en-US" sz="1150" dirty="0">
                <a:solidFill>
                  <a:srgbClr val="6B7A88"/>
                </a:solidFill>
                <a:latin typeface="Calibri" pitchFamily="34" charset="0"/>
                <a:ea typeface="Calibri" pitchFamily="34" charset="-122"/>
                <a:cs typeface="Calibri" pitchFamily="34" charset="-120"/>
              </a:rPr>
              <a:t>División 80% / 20% con train_test_split(random_state=42): 1.200 alumnos para entrenar y 300 para evaluar.</a:t>
            </a:r>
            <a:endParaRPr lang="en-US" sz="1150" dirty="0"/>
          </a:p>
        </p:txBody>
      </p:sp>
      <p:sp>
        <p:nvSpPr>
          <p:cNvPr id="28" name="Text 26"/>
          <p:cNvSpPr/>
          <p:nvPr/>
        </p:nvSpPr>
        <p:spPr>
          <a:xfrm>
            <a:off x="457200" y="6473952"/>
            <a:ext cx="86868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TP Hackatón · Informática y Análisis 1 — Predicción de rendimiento académico</a:t>
            </a:r>
            <a:endParaRPr lang="en-US" sz="900" dirty="0"/>
          </a:p>
        </p:txBody>
      </p:sp>
      <p:sp>
        <p:nvSpPr>
          <p:cNvPr id="29" name="Text 27"/>
          <p:cNvSpPr/>
          <p:nvPr/>
        </p:nvSpPr>
        <p:spPr>
          <a:xfrm>
            <a:off x="10817352" y="6473952"/>
            <a:ext cx="9144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5</a:t>
            </a:r>
            <a:endParaRPr lang="en-US" sz="900" dirty="0"/>
          </a:p>
        </p:txBody>
      </p:sp>
      <p:sp>
        <p:nvSpPr>
          <p:cNvPr id="30" name="Text 19"/>
          <p:cNvSpPr/>
          <p:nvPr/>
        </p:nvSpPr>
        <p:spPr>
          <a:xfrm>
            <a:off x="1170631" y="4438709"/>
            <a:ext cx="4234375" cy="502920"/>
          </a:xfrm>
          <a:prstGeom prst="rect">
            <a:avLst/>
          </a:prstGeom>
          <a:noFill/>
          <a:ln/>
        </p:spPr>
        <p:txBody>
          <a:bodyPr wrap="square" lIns="0" tIns="0" rIns="0" bIns="0" rtlCol="0" anchor="ctr"/>
          <a:lstStyle/>
          <a:p>
            <a:r>
              <a:rPr lang="en-US" sz="1350" b="1" dirty="0" err="1">
                <a:solidFill>
                  <a:srgbClr val="1C2B36"/>
                </a:solidFill>
                <a:latin typeface="Calibri" pitchFamily="34" charset="0"/>
                <a:ea typeface="Calibri" pitchFamily="34" charset="-122"/>
                <a:cs typeface="Calibri" pitchFamily="34" charset="-120"/>
              </a:rPr>
              <a:t>Selección</a:t>
            </a:r>
            <a:r>
              <a:rPr lang="en-US" sz="1350" b="1" dirty="0">
                <a:solidFill>
                  <a:srgbClr val="1C2B36"/>
                </a:solidFill>
                <a:latin typeface="Calibri" pitchFamily="34" charset="0"/>
                <a:ea typeface="Calibri" pitchFamily="34" charset="-122"/>
                <a:cs typeface="Calibri" pitchFamily="34" charset="-120"/>
              </a:rPr>
              <a:t> del Modelo: AdaBoost y Random Forest.</a:t>
            </a:r>
          </a:p>
        </p:txBody>
      </p:sp>
      <p:sp>
        <p:nvSpPr>
          <p:cNvPr id="31" name="Rectángulo 30"/>
          <p:cNvSpPr/>
          <p:nvPr/>
        </p:nvSpPr>
        <p:spPr>
          <a:xfrm>
            <a:off x="1073810" y="5413719"/>
            <a:ext cx="1609543" cy="300082"/>
          </a:xfrm>
          <a:prstGeom prst="rect">
            <a:avLst/>
          </a:prstGeom>
        </p:spPr>
        <p:txBody>
          <a:bodyPr wrap="none">
            <a:spAutoFit/>
          </a:bodyPr>
          <a:lstStyle/>
          <a:p>
            <a:r>
              <a:rPr lang="es-AR" sz="1350" b="1" dirty="0">
                <a:solidFill>
                  <a:srgbClr val="1C2B36"/>
                </a:solidFill>
                <a:latin typeface="Calibri" pitchFamily="34" charset="0"/>
                <a:ea typeface="Calibri" pitchFamily="34" charset="-122"/>
                <a:cs typeface="Calibri" pitchFamily="34" charset="-120"/>
              </a:rPr>
              <a:t>Matriz de confusión</a:t>
            </a:r>
          </a:p>
        </p:txBody>
      </p:sp>
      <p:sp>
        <p:nvSpPr>
          <p:cNvPr id="32" name="Shape 22"/>
          <p:cNvSpPr/>
          <p:nvPr/>
        </p:nvSpPr>
        <p:spPr>
          <a:xfrm>
            <a:off x="546370" y="5953589"/>
            <a:ext cx="384048" cy="384048"/>
          </a:xfrm>
          <a:prstGeom prst="ellipse">
            <a:avLst/>
          </a:prstGeom>
          <a:solidFill>
            <a:srgbClr val="16324F"/>
          </a:solidFill>
          <a:ln/>
        </p:spPr>
        <p:txBody>
          <a:bodyPr/>
          <a:lstStyle/>
          <a:p>
            <a:r>
              <a:rPr lang="es-AR" dirty="0">
                <a:solidFill>
                  <a:schemeClr val="bg1"/>
                </a:solidFill>
              </a:rPr>
              <a:t>6</a:t>
            </a:r>
          </a:p>
        </p:txBody>
      </p:sp>
      <p:sp>
        <p:nvSpPr>
          <p:cNvPr id="33" name="Rectángulo 32"/>
          <p:cNvSpPr/>
          <p:nvPr/>
        </p:nvSpPr>
        <p:spPr>
          <a:xfrm>
            <a:off x="1085088" y="5981262"/>
            <a:ext cx="809261" cy="300082"/>
          </a:xfrm>
          <a:prstGeom prst="rect">
            <a:avLst/>
          </a:prstGeom>
        </p:spPr>
        <p:txBody>
          <a:bodyPr wrap="none">
            <a:spAutoFit/>
          </a:bodyPr>
          <a:lstStyle/>
          <a:p>
            <a:r>
              <a:rPr lang="es-AR" sz="1350" b="1" dirty="0">
                <a:solidFill>
                  <a:srgbClr val="1C2B36"/>
                </a:solidFill>
                <a:latin typeface="Calibri" pitchFamily="34" charset="0"/>
                <a:ea typeface="Calibri" pitchFamily="34" charset="-122"/>
                <a:cs typeface="Calibri" pitchFamily="34" charset="-120"/>
              </a:rPr>
              <a:t>Métricas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713232"/>
            <a:ext cx="5781822" cy="822960"/>
          </a:xfrm>
          <a:prstGeom prst="rect">
            <a:avLst/>
          </a:prstGeom>
          <a:noFill/>
          <a:ln/>
        </p:spPr>
        <p:txBody>
          <a:bodyPr wrap="square" lIns="0" tIns="0" rIns="0" bIns="0" rtlCol="0" anchor="ctr"/>
          <a:lstStyle/>
          <a:p>
            <a:r>
              <a:rPr lang="es-ES" sz="3000" b="1" dirty="0">
                <a:solidFill>
                  <a:srgbClr val="1C2B36"/>
                </a:solidFill>
                <a:latin typeface="Cambria" pitchFamily="34" charset="0"/>
                <a:ea typeface="Cambria" pitchFamily="34" charset="-122"/>
                <a:cs typeface="Cambria" pitchFamily="34" charset="-120"/>
              </a:rPr>
              <a:t>2.Limpieza y Preparación del </a:t>
            </a:r>
            <a:r>
              <a:rPr lang="es-ES" sz="3000" b="1" dirty="0" err="1">
                <a:solidFill>
                  <a:srgbClr val="1C2B36"/>
                </a:solidFill>
                <a:latin typeface="Cambria" pitchFamily="34" charset="0"/>
                <a:ea typeface="Cambria" pitchFamily="34" charset="-122"/>
                <a:cs typeface="Cambria" pitchFamily="34" charset="-120"/>
              </a:rPr>
              <a:t>Dataset</a:t>
            </a:r>
            <a:r>
              <a:rPr lang="es-ES" sz="3000" b="1" dirty="0">
                <a:solidFill>
                  <a:srgbClr val="1C2B36"/>
                </a:solidFill>
                <a:latin typeface="Cambria" pitchFamily="34" charset="0"/>
                <a:ea typeface="Cambria" pitchFamily="34" charset="-122"/>
                <a:cs typeface="Cambria" pitchFamily="34" charset="-120"/>
              </a:rPr>
              <a:t> Integridad de los Datos</a:t>
            </a:r>
            <a:endParaRPr lang="en-US" sz="3000" b="1" dirty="0">
              <a:solidFill>
                <a:srgbClr val="1C2B36"/>
              </a:solidFill>
              <a:latin typeface="Cambria" pitchFamily="34" charset="0"/>
              <a:ea typeface="Cambria" pitchFamily="34" charset="-122"/>
              <a:cs typeface="Cambria" pitchFamily="34" charset="-120"/>
            </a:endParaRPr>
          </a:p>
        </p:txBody>
      </p:sp>
      <p:sp>
        <p:nvSpPr>
          <p:cNvPr id="6" name="Shape 3"/>
          <p:cNvSpPr/>
          <p:nvPr/>
        </p:nvSpPr>
        <p:spPr>
          <a:xfrm>
            <a:off x="7223760" y="1920240"/>
            <a:ext cx="109728" cy="1051560"/>
          </a:xfrm>
          <a:prstGeom prst="rect">
            <a:avLst/>
          </a:prstGeom>
          <a:solidFill>
            <a:srgbClr val="2E86AB"/>
          </a:solidFill>
          <a:ln/>
        </p:spPr>
      </p:sp>
      <p:sp>
        <p:nvSpPr>
          <p:cNvPr id="9" name="Text 6"/>
          <p:cNvSpPr/>
          <p:nvPr/>
        </p:nvSpPr>
        <p:spPr>
          <a:xfrm>
            <a:off x="9692640" y="2057400"/>
            <a:ext cx="1828800" cy="777240"/>
          </a:xfrm>
          <a:prstGeom prst="rect">
            <a:avLst/>
          </a:prstGeom>
          <a:noFill/>
          <a:ln/>
        </p:spPr>
        <p:txBody>
          <a:bodyPr wrap="square" lIns="0" tIns="0" rIns="0" bIns="0" rtlCol="0" anchor="ctr"/>
          <a:lstStyle/>
          <a:p>
            <a:pPr marL="0" indent="0" algn="r">
              <a:buNone/>
            </a:pPr>
            <a:r>
              <a:rPr lang="en-US" sz="2600" b="1" dirty="0">
                <a:solidFill>
                  <a:srgbClr val="2E86AB"/>
                </a:solidFill>
                <a:latin typeface="Cambria" pitchFamily="34" charset="0"/>
                <a:ea typeface="Cambria" pitchFamily="34" charset="-122"/>
                <a:cs typeface="Cambria" pitchFamily="34" charset="-120"/>
              </a:rPr>
              <a:t>58,3%</a:t>
            </a:r>
            <a:endParaRPr lang="en-US" sz="2600" dirty="0"/>
          </a:p>
        </p:txBody>
      </p:sp>
      <p:sp>
        <p:nvSpPr>
          <p:cNvPr id="10" name="Shape 7"/>
          <p:cNvSpPr/>
          <p:nvPr/>
        </p:nvSpPr>
        <p:spPr>
          <a:xfrm>
            <a:off x="7223760" y="3154680"/>
            <a:ext cx="4389120" cy="1051560"/>
          </a:xfrm>
          <a:prstGeom prst="roundRect">
            <a:avLst>
              <a:gd name="adj" fmla="val 6957"/>
            </a:avLst>
          </a:prstGeom>
          <a:solidFill>
            <a:srgbClr val="F4F6F8"/>
          </a:solidFill>
          <a:ln/>
        </p:spPr>
      </p:sp>
      <p:sp>
        <p:nvSpPr>
          <p:cNvPr id="11" name="Shape 8"/>
          <p:cNvSpPr/>
          <p:nvPr/>
        </p:nvSpPr>
        <p:spPr>
          <a:xfrm>
            <a:off x="7223760" y="3154680"/>
            <a:ext cx="109728" cy="1051560"/>
          </a:xfrm>
          <a:prstGeom prst="rect">
            <a:avLst/>
          </a:prstGeom>
          <a:solidFill>
            <a:srgbClr val="E8743B"/>
          </a:solidFill>
          <a:ln/>
        </p:spPr>
      </p:sp>
      <p:sp>
        <p:nvSpPr>
          <p:cNvPr id="12" name="Text 9"/>
          <p:cNvSpPr/>
          <p:nvPr/>
        </p:nvSpPr>
        <p:spPr>
          <a:xfrm>
            <a:off x="7498080" y="3246120"/>
            <a:ext cx="2194560" cy="365760"/>
          </a:xfrm>
          <a:prstGeom prst="rect">
            <a:avLst/>
          </a:prstGeom>
          <a:noFill/>
          <a:ln/>
        </p:spPr>
        <p:txBody>
          <a:bodyPr wrap="square" lIns="0" tIns="0" rIns="0" bIns="0" rtlCol="0" anchor="ctr"/>
          <a:lstStyle/>
          <a:p>
            <a:pPr marL="0" indent="0">
              <a:buNone/>
            </a:pPr>
            <a:r>
              <a:rPr lang="en-US" sz="1400" b="1" dirty="0">
                <a:solidFill>
                  <a:srgbClr val="1C2B36"/>
                </a:solidFill>
                <a:latin typeface="Cambria" pitchFamily="34" charset="0"/>
                <a:ea typeface="Cambria" pitchFamily="34" charset="-122"/>
                <a:cs typeface="Cambria" pitchFamily="34" charset="-120"/>
              </a:rPr>
              <a:t>Abandona</a:t>
            </a:r>
            <a:endParaRPr lang="en-US" sz="1400" dirty="0"/>
          </a:p>
        </p:txBody>
      </p:sp>
      <p:sp>
        <p:nvSpPr>
          <p:cNvPr id="13" name="Text 10"/>
          <p:cNvSpPr/>
          <p:nvPr/>
        </p:nvSpPr>
        <p:spPr>
          <a:xfrm>
            <a:off x="7498080" y="3657600"/>
            <a:ext cx="2194560" cy="365760"/>
          </a:xfrm>
          <a:prstGeom prst="rect">
            <a:avLst/>
          </a:prstGeom>
          <a:noFill/>
          <a:ln/>
        </p:spPr>
        <p:txBody>
          <a:bodyPr wrap="square" lIns="0" tIns="0" rIns="0" bIns="0" rtlCol="0" anchor="ctr"/>
          <a:lstStyle/>
          <a:p>
            <a:pPr marL="0" indent="0">
              <a:buNone/>
            </a:pPr>
            <a:r>
              <a:rPr lang="en-US" sz="1200" dirty="0">
                <a:solidFill>
                  <a:srgbClr val="6B7A88"/>
                </a:solidFill>
                <a:latin typeface="Calibri" pitchFamily="34" charset="0"/>
                <a:ea typeface="Calibri" pitchFamily="34" charset="-122"/>
                <a:cs typeface="Calibri" pitchFamily="34" charset="-120"/>
              </a:rPr>
              <a:t>359 alumnos</a:t>
            </a:r>
            <a:endParaRPr lang="en-US" sz="1200" dirty="0"/>
          </a:p>
        </p:txBody>
      </p:sp>
      <p:sp>
        <p:nvSpPr>
          <p:cNvPr id="14" name="Text 11"/>
          <p:cNvSpPr/>
          <p:nvPr/>
        </p:nvSpPr>
        <p:spPr>
          <a:xfrm>
            <a:off x="9692640" y="3291840"/>
            <a:ext cx="1828800" cy="777240"/>
          </a:xfrm>
          <a:prstGeom prst="rect">
            <a:avLst/>
          </a:prstGeom>
          <a:noFill/>
          <a:ln/>
        </p:spPr>
        <p:txBody>
          <a:bodyPr wrap="square" lIns="0" tIns="0" rIns="0" bIns="0" rtlCol="0" anchor="ctr"/>
          <a:lstStyle/>
          <a:p>
            <a:pPr marL="0" indent="0" algn="r">
              <a:buNone/>
            </a:pPr>
            <a:r>
              <a:rPr lang="en-US" sz="2600" b="1" dirty="0">
                <a:solidFill>
                  <a:srgbClr val="E8743B"/>
                </a:solidFill>
                <a:latin typeface="Cambria" pitchFamily="34" charset="0"/>
                <a:ea typeface="Cambria" pitchFamily="34" charset="-122"/>
                <a:cs typeface="Cambria" pitchFamily="34" charset="-120"/>
              </a:rPr>
              <a:t>23,9%</a:t>
            </a:r>
            <a:endParaRPr lang="en-US" sz="2600" dirty="0"/>
          </a:p>
        </p:txBody>
      </p:sp>
      <p:sp>
        <p:nvSpPr>
          <p:cNvPr id="15" name="Shape 12"/>
          <p:cNvSpPr/>
          <p:nvPr/>
        </p:nvSpPr>
        <p:spPr>
          <a:xfrm>
            <a:off x="7223760" y="4389120"/>
            <a:ext cx="4389120" cy="1051560"/>
          </a:xfrm>
          <a:prstGeom prst="roundRect">
            <a:avLst>
              <a:gd name="adj" fmla="val 6957"/>
            </a:avLst>
          </a:prstGeom>
          <a:solidFill>
            <a:srgbClr val="F4F6F8"/>
          </a:solidFill>
          <a:ln/>
        </p:spPr>
      </p:sp>
      <p:sp>
        <p:nvSpPr>
          <p:cNvPr id="16" name="Shape 13"/>
          <p:cNvSpPr/>
          <p:nvPr/>
        </p:nvSpPr>
        <p:spPr>
          <a:xfrm>
            <a:off x="7223760" y="4389120"/>
            <a:ext cx="109728" cy="1051560"/>
          </a:xfrm>
          <a:prstGeom prst="rect">
            <a:avLst/>
          </a:prstGeom>
          <a:solidFill>
            <a:srgbClr val="3DA35D"/>
          </a:solidFill>
          <a:ln/>
        </p:spPr>
      </p:sp>
      <p:sp>
        <p:nvSpPr>
          <p:cNvPr id="17" name="Text 14"/>
          <p:cNvSpPr/>
          <p:nvPr/>
        </p:nvSpPr>
        <p:spPr>
          <a:xfrm>
            <a:off x="7498080" y="4480560"/>
            <a:ext cx="2194560" cy="365760"/>
          </a:xfrm>
          <a:prstGeom prst="rect">
            <a:avLst/>
          </a:prstGeom>
          <a:noFill/>
          <a:ln/>
        </p:spPr>
        <p:txBody>
          <a:bodyPr wrap="square" lIns="0" tIns="0" rIns="0" bIns="0" rtlCol="0" anchor="ctr"/>
          <a:lstStyle/>
          <a:p>
            <a:pPr marL="0" indent="0">
              <a:buNone/>
            </a:pPr>
            <a:r>
              <a:rPr lang="en-US" sz="1400" b="1" dirty="0">
                <a:solidFill>
                  <a:srgbClr val="1C2B36"/>
                </a:solidFill>
                <a:latin typeface="Cambria" pitchFamily="34" charset="0"/>
                <a:ea typeface="Cambria" pitchFamily="34" charset="-122"/>
                <a:cs typeface="Cambria" pitchFamily="34" charset="-120"/>
              </a:rPr>
              <a:t>Promociona</a:t>
            </a:r>
            <a:endParaRPr lang="en-US" sz="1400" dirty="0"/>
          </a:p>
        </p:txBody>
      </p:sp>
      <p:sp>
        <p:nvSpPr>
          <p:cNvPr id="18" name="Text 15"/>
          <p:cNvSpPr/>
          <p:nvPr/>
        </p:nvSpPr>
        <p:spPr>
          <a:xfrm>
            <a:off x="7498080" y="4892040"/>
            <a:ext cx="2194560" cy="365760"/>
          </a:xfrm>
          <a:prstGeom prst="rect">
            <a:avLst/>
          </a:prstGeom>
          <a:noFill/>
          <a:ln/>
        </p:spPr>
        <p:txBody>
          <a:bodyPr wrap="square" lIns="0" tIns="0" rIns="0" bIns="0" rtlCol="0" anchor="ctr"/>
          <a:lstStyle/>
          <a:p>
            <a:pPr marL="0" indent="0">
              <a:buNone/>
            </a:pPr>
            <a:r>
              <a:rPr lang="en-US" sz="1200" dirty="0">
                <a:solidFill>
                  <a:srgbClr val="6B7A88"/>
                </a:solidFill>
                <a:latin typeface="Calibri" pitchFamily="34" charset="0"/>
                <a:ea typeface="Calibri" pitchFamily="34" charset="-122"/>
                <a:cs typeface="Calibri" pitchFamily="34" charset="-120"/>
              </a:rPr>
              <a:t>267 alumnos</a:t>
            </a:r>
            <a:endParaRPr lang="en-US" sz="1200" dirty="0"/>
          </a:p>
        </p:txBody>
      </p:sp>
      <p:sp>
        <p:nvSpPr>
          <p:cNvPr id="19" name="Text 16"/>
          <p:cNvSpPr/>
          <p:nvPr/>
        </p:nvSpPr>
        <p:spPr>
          <a:xfrm>
            <a:off x="9692640" y="4526280"/>
            <a:ext cx="1828800" cy="777240"/>
          </a:xfrm>
          <a:prstGeom prst="rect">
            <a:avLst/>
          </a:prstGeom>
          <a:noFill/>
          <a:ln/>
        </p:spPr>
        <p:txBody>
          <a:bodyPr wrap="square" lIns="0" tIns="0" rIns="0" bIns="0" rtlCol="0" anchor="ctr"/>
          <a:lstStyle/>
          <a:p>
            <a:pPr marL="0" indent="0" algn="r">
              <a:buNone/>
            </a:pPr>
            <a:r>
              <a:rPr lang="en-US" sz="2600" b="1" dirty="0">
                <a:solidFill>
                  <a:srgbClr val="3DA35D"/>
                </a:solidFill>
                <a:latin typeface="Cambria" pitchFamily="34" charset="0"/>
                <a:ea typeface="Cambria" pitchFamily="34" charset="-122"/>
                <a:cs typeface="Cambria" pitchFamily="34" charset="-120"/>
              </a:rPr>
              <a:t>17,8%</a:t>
            </a:r>
            <a:endParaRPr lang="en-US" sz="2600" dirty="0"/>
          </a:p>
        </p:txBody>
      </p:sp>
      <p:sp>
        <p:nvSpPr>
          <p:cNvPr id="20" name="Text 17"/>
          <p:cNvSpPr/>
          <p:nvPr/>
        </p:nvSpPr>
        <p:spPr>
          <a:xfrm>
            <a:off x="7223760" y="5715000"/>
            <a:ext cx="4389120" cy="914400"/>
          </a:xfrm>
          <a:prstGeom prst="rect">
            <a:avLst/>
          </a:prstGeom>
          <a:noFill/>
          <a:ln/>
        </p:spPr>
        <p:txBody>
          <a:bodyPr wrap="square" lIns="0" tIns="0" rIns="0" bIns="0" rtlCol="0" anchor="ctr"/>
          <a:lstStyle/>
          <a:p>
            <a:pPr marL="0" indent="0">
              <a:lnSpc>
                <a:spcPct val="125000"/>
              </a:lnSpc>
              <a:buNone/>
            </a:pPr>
            <a:r>
              <a:rPr lang="en-US" sz="1150" i="1" dirty="0">
                <a:solidFill>
                  <a:srgbClr val="6B7A88"/>
                </a:solidFill>
                <a:latin typeface="Calibri" pitchFamily="34" charset="0"/>
                <a:ea typeface="Calibri" pitchFamily="34" charset="-122"/>
                <a:cs typeface="Calibri" pitchFamily="34" charset="-120"/>
              </a:rPr>
              <a:t>Las clases están desbalanceadas (más alumnos que "Regulariza"), algo que se tiene en cuenta al leer los resultados de los modelos.</a:t>
            </a:r>
            <a:endParaRPr lang="en-US" sz="1150" dirty="0"/>
          </a:p>
        </p:txBody>
      </p:sp>
      <p:sp>
        <p:nvSpPr>
          <p:cNvPr id="21" name="Text 18"/>
          <p:cNvSpPr/>
          <p:nvPr/>
        </p:nvSpPr>
        <p:spPr>
          <a:xfrm>
            <a:off x="457200" y="6473952"/>
            <a:ext cx="86868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TP Hackatón · Informática y Análisis 1 — Predicción de rendimiento académico</a:t>
            </a:r>
            <a:endParaRPr lang="en-US" sz="900" dirty="0"/>
          </a:p>
        </p:txBody>
      </p:sp>
      <p:sp>
        <p:nvSpPr>
          <p:cNvPr id="22" name="Text 19"/>
          <p:cNvSpPr/>
          <p:nvPr/>
        </p:nvSpPr>
        <p:spPr>
          <a:xfrm>
            <a:off x="10817352" y="6473952"/>
            <a:ext cx="9144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4</a:t>
            </a:r>
            <a:endParaRPr lang="en-US" sz="900" dirty="0"/>
          </a:p>
        </p:txBody>
      </p:sp>
      <p:pic>
        <p:nvPicPr>
          <p:cNvPr id="23" name="Imagen 22"/>
          <p:cNvPicPr>
            <a:picLocks noChangeAspect="1"/>
          </p:cNvPicPr>
          <p:nvPr/>
        </p:nvPicPr>
        <p:blipFill>
          <a:blip r:embed="rId3"/>
          <a:stretch>
            <a:fillRect/>
          </a:stretch>
        </p:blipFill>
        <p:spPr>
          <a:xfrm>
            <a:off x="6639951" y="239117"/>
            <a:ext cx="5399345" cy="6115963"/>
          </a:xfrm>
          <a:prstGeom prst="rect">
            <a:avLst/>
          </a:prstGeom>
        </p:spPr>
      </p:pic>
      <p:sp>
        <p:nvSpPr>
          <p:cNvPr id="25" name="Rectángulo 24"/>
          <p:cNvSpPr/>
          <p:nvPr/>
        </p:nvSpPr>
        <p:spPr>
          <a:xfrm>
            <a:off x="457200" y="2441235"/>
            <a:ext cx="5309417" cy="2554545"/>
          </a:xfrm>
          <a:prstGeom prst="rect">
            <a:avLst/>
          </a:prstGeom>
        </p:spPr>
        <p:txBody>
          <a:bodyPr wrap="square">
            <a:spAutoFit/>
          </a:bodyPr>
          <a:lstStyle/>
          <a:p>
            <a:r>
              <a:rPr lang="es-ES" sz="1600" dirty="0"/>
              <a:t>Se verificó el universo completo de 1,500 registros, obteniendo cero valores nulos en las 13 variables del modelo.   </a:t>
            </a:r>
          </a:p>
          <a:p>
            <a:endParaRPr lang="es-ES" sz="1600" dirty="0"/>
          </a:p>
          <a:p>
            <a:r>
              <a:rPr lang="es-ES" sz="1600" dirty="0"/>
              <a:t>Tipos de Datos Consistentes: Las variables cuantitativas (asistencia, calificaciones) y cualitativas se encuentran correctamente </a:t>
            </a:r>
            <a:r>
              <a:rPr lang="es-ES" sz="1600" dirty="0" err="1"/>
              <a:t>tipadas</a:t>
            </a:r>
            <a:r>
              <a:rPr lang="es-ES" sz="1600" dirty="0"/>
              <a:t> y estructuradas.   </a:t>
            </a:r>
          </a:p>
          <a:p>
            <a:endParaRPr lang="es-ES" sz="1600" dirty="0"/>
          </a:p>
          <a:p>
            <a:r>
              <a:rPr lang="es-ES" sz="1600" dirty="0"/>
              <a:t>Al no registrarse datos faltantes, se preserva la totalidad de la muestra, garantizando una base robusta y sin sesgos para el entrenamiento del algoritmo </a:t>
            </a:r>
            <a:r>
              <a:rPr lang="es-ES" sz="1600" dirty="0" err="1"/>
              <a:t>Random</a:t>
            </a:r>
            <a:r>
              <a:rPr lang="es-ES" sz="1600" dirty="0"/>
              <a:t> </a:t>
            </a:r>
            <a:r>
              <a:rPr lang="es-ES" sz="1600" dirty="0" err="1"/>
              <a:t>Forest</a:t>
            </a:r>
            <a:r>
              <a:rPr lang="es-ES" sz="1600" dirty="0"/>
              <a:t>.</a:t>
            </a:r>
            <a:endParaRPr lang="es-AR"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713232"/>
            <a:ext cx="11064240" cy="822960"/>
          </a:xfrm>
          <a:prstGeom prst="rect">
            <a:avLst/>
          </a:prstGeom>
          <a:noFill/>
          <a:ln/>
        </p:spPr>
        <p:txBody>
          <a:bodyPr wrap="square" lIns="0" tIns="0" rIns="0" bIns="0" rtlCol="0" anchor="ctr"/>
          <a:lstStyle/>
          <a:p>
            <a:r>
              <a:rPr lang="es-ES" sz="3000" b="1" dirty="0">
                <a:solidFill>
                  <a:srgbClr val="1C2B36"/>
                </a:solidFill>
                <a:latin typeface="Cambria" pitchFamily="34" charset="0"/>
                <a:ea typeface="Cambria" pitchFamily="34" charset="-122"/>
                <a:cs typeface="Cambria" pitchFamily="34" charset="-120"/>
              </a:rPr>
              <a:t>3.Preparación y </a:t>
            </a:r>
            <a:r>
              <a:rPr lang="es-ES" sz="3000" b="1" dirty="0" err="1">
                <a:solidFill>
                  <a:srgbClr val="1C2B36"/>
                </a:solidFill>
                <a:latin typeface="Cambria" pitchFamily="34" charset="0"/>
                <a:ea typeface="Cambria" pitchFamily="34" charset="-122"/>
                <a:cs typeface="Cambria" pitchFamily="34" charset="-120"/>
              </a:rPr>
              <a:t>Particionamiento</a:t>
            </a:r>
            <a:r>
              <a:rPr lang="es-ES" sz="3000" b="1" dirty="0">
                <a:solidFill>
                  <a:srgbClr val="1C2B36"/>
                </a:solidFill>
                <a:latin typeface="Cambria" pitchFamily="34" charset="0"/>
                <a:ea typeface="Cambria" pitchFamily="34" charset="-122"/>
                <a:cs typeface="Cambria" pitchFamily="34" charset="-120"/>
              </a:rPr>
              <a:t> del Modelo (Train/Test Split)</a:t>
            </a:r>
            <a:endParaRPr lang="en-US" sz="3000" dirty="0"/>
          </a:p>
        </p:txBody>
      </p:sp>
      <p:sp>
        <p:nvSpPr>
          <p:cNvPr id="16" name="Text 13"/>
          <p:cNvSpPr/>
          <p:nvPr/>
        </p:nvSpPr>
        <p:spPr>
          <a:xfrm>
            <a:off x="457200" y="6473952"/>
            <a:ext cx="86868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TP Hackatón · Informática y Análisis 1 — Predicción de rendimiento académico</a:t>
            </a:r>
            <a:endParaRPr lang="en-US" sz="900" dirty="0"/>
          </a:p>
        </p:txBody>
      </p:sp>
      <p:sp>
        <p:nvSpPr>
          <p:cNvPr id="17" name="Text 14"/>
          <p:cNvSpPr/>
          <p:nvPr/>
        </p:nvSpPr>
        <p:spPr>
          <a:xfrm>
            <a:off x="10817352" y="6473952"/>
            <a:ext cx="9144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6</a:t>
            </a:r>
            <a:endParaRPr lang="en-US" sz="900" dirty="0"/>
          </a:p>
        </p:txBody>
      </p:sp>
      <p:sp>
        <p:nvSpPr>
          <p:cNvPr id="22" name="Rectángulo 21"/>
          <p:cNvSpPr/>
          <p:nvPr/>
        </p:nvSpPr>
        <p:spPr>
          <a:xfrm>
            <a:off x="548640" y="2323284"/>
            <a:ext cx="4712678" cy="2585323"/>
          </a:xfrm>
          <a:prstGeom prst="rect">
            <a:avLst/>
          </a:prstGeom>
        </p:spPr>
        <p:txBody>
          <a:bodyPr wrap="square">
            <a:spAutoFit/>
          </a:bodyPr>
          <a:lstStyle/>
          <a:p>
            <a:r>
              <a:rPr lang="es-ES" sz="1600" dirty="0"/>
              <a:t>Se aplicó </a:t>
            </a:r>
            <a:r>
              <a:rPr lang="es-ES" sz="1600" dirty="0" err="1"/>
              <a:t>Label</a:t>
            </a:r>
            <a:r>
              <a:rPr lang="es-ES" sz="1600" dirty="0"/>
              <a:t> </a:t>
            </a:r>
            <a:r>
              <a:rPr lang="es-ES" sz="1600" dirty="0" err="1"/>
              <a:t>Encoding</a:t>
            </a:r>
            <a:r>
              <a:rPr lang="es-ES" sz="1600" dirty="0"/>
              <a:t> para transformar las variables cualitativas y categóricas en valores numéricos aptos para los algoritmos de Machine </a:t>
            </a:r>
            <a:r>
              <a:rPr lang="es-ES" sz="1600" dirty="0" err="1"/>
              <a:t>Learning</a:t>
            </a:r>
            <a:r>
              <a:rPr lang="es-ES" sz="1600" dirty="0"/>
              <a:t>, excluyendo identificadores únicos (</a:t>
            </a:r>
            <a:r>
              <a:rPr lang="es-ES" sz="1600" dirty="0" err="1"/>
              <a:t>ID_Estudiante</a:t>
            </a:r>
            <a:r>
              <a:rPr lang="es-ES" sz="1600" dirty="0"/>
              <a:t>) para evitar sesgos.</a:t>
            </a:r>
          </a:p>
          <a:p>
            <a:r>
              <a:rPr lang="es-ES" sz="1600" dirty="0"/>
              <a:t>El conjunto total de datos fue particionado en dos subconjuntos independientes: un 80% destinado al entrenamiento del modelo y un 20% reservado exclusivamente para la prueba.</a:t>
            </a:r>
          </a:p>
          <a:p>
            <a:endParaRPr lang="es-AR" dirty="0"/>
          </a:p>
        </p:txBody>
      </p:sp>
      <p:pic>
        <p:nvPicPr>
          <p:cNvPr id="23" name="Imagen 22"/>
          <p:cNvPicPr>
            <a:picLocks noChangeAspect="1"/>
          </p:cNvPicPr>
          <p:nvPr/>
        </p:nvPicPr>
        <p:blipFill>
          <a:blip r:embed="rId3"/>
          <a:stretch>
            <a:fillRect/>
          </a:stretch>
        </p:blipFill>
        <p:spPr>
          <a:xfrm>
            <a:off x="6091311" y="1536191"/>
            <a:ext cx="5521569" cy="4392393"/>
          </a:xfrm>
          <a:prstGeom prst="rect">
            <a:avLst/>
          </a:prstGeom>
        </p:spPr>
      </p:pic>
    </p:spTree>
    <p:extLst>
      <p:ext uri="{BB962C8B-B14F-4D97-AF65-F5344CB8AC3E}">
        <p14:creationId xmlns:p14="http://schemas.microsoft.com/office/powerpoint/2010/main" val="3723668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584864"/>
            <a:ext cx="11064240" cy="822960"/>
          </a:xfrm>
          <a:prstGeom prst="rect">
            <a:avLst/>
          </a:prstGeom>
          <a:noFill/>
          <a:ln/>
        </p:spPr>
        <p:txBody>
          <a:bodyPr wrap="square" lIns="0" tIns="0" rIns="0" bIns="0" rtlCol="0" anchor="ctr"/>
          <a:lstStyle/>
          <a:p>
            <a:pPr marL="0" indent="0">
              <a:buNone/>
            </a:pPr>
            <a:r>
              <a:rPr lang="en-US" sz="3000" b="1" dirty="0">
                <a:solidFill>
                  <a:srgbClr val="1C2B36"/>
                </a:solidFill>
                <a:latin typeface="Cambria" pitchFamily="34" charset="0"/>
                <a:ea typeface="Cambria" pitchFamily="34" charset="-122"/>
                <a:cs typeface="Cambria" pitchFamily="34" charset="-120"/>
              </a:rPr>
              <a:t>4.Selección del </a:t>
            </a:r>
            <a:r>
              <a:rPr lang="en-US" sz="3000" b="1" dirty="0" err="1">
                <a:solidFill>
                  <a:srgbClr val="1C2B36"/>
                </a:solidFill>
                <a:latin typeface="Cambria" pitchFamily="34" charset="0"/>
                <a:ea typeface="Cambria" pitchFamily="34" charset="-122"/>
                <a:cs typeface="Cambria" pitchFamily="34" charset="-120"/>
              </a:rPr>
              <a:t>modelo</a:t>
            </a:r>
            <a:r>
              <a:rPr lang="en-US" sz="3000" b="1" dirty="0">
                <a:solidFill>
                  <a:srgbClr val="1C2B36"/>
                </a:solidFill>
                <a:latin typeface="Cambria" pitchFamily="34" charset="0"/>
                <a:ea typeface="Cambria" pitchFamily="34" charset="-122"/>
                <a:cs typeface="Cambria" pitchFamily="34" charset="-120"/>
              </a:rPr>
              <a:t>.</a:t>
            </a:r>
            <a:endParaRPr lang="en-US" sz="3000" dirty="0"/>
          </a:p>
        </p:txBody>
      </p:sp>
      <p:sp>
        <p:nvSpPr>
          <p:cNvPr id="4" name="Shape 2"/>
          <p:cNvSpPr/>
          <p:nvPr/>
        </p:nvSpPr>
        <p:spPr>
          <a:xfrm>
            <a:off x="548640" y="1783080"/>
            <a:ext cx="5440680" cy="2331720"/>
          </a:xfrm>
          <a:prstGeom prst="roundRect">
            <a:avLst>
              <a:gd name="adj" fmla="val 3137"/>
            </a:avLst>
          </a:prstGeom>
          <a:solidFill>
            <a:srgbClr val="F4F6F8"/>
          </a:solidFill>
          <a:ln/>
        </p:spPr>
      </p:sp>
      <p:sp>
        <p:nvSpPr>
          <p:cNvPr id="5" name="Text 3"/>
          <p:cNvSpPr/>
          <p:nvPr/>
        </p:nvSpPr>
        <p:spPr>
          <a:xfrm>
            <a:off x="822960" y="1965960"/>
            <a:ext cx="3291840" cy="411480"/>
          </a:xfrm>
          <a:prstGeom prst="rect">
            <a:avLst/>
          </a:prstGeom>
          <a:noFill/>
          <a:ln/>
        </p:spPr>
        <p:txBody>
          <a:bodyPr wrap="square" lIns="0" tIns="0" rIns="0" bIns="0" rtlCol="0" anchor="ctr"/>
          <a:lstStyle/>
          <a:p>
            <a:pPr marL="0" indent="0">
              <a:buNone/>
            </a:pPr>
            <a:r>
              <a:rPr lang="en-US" sz="1700" b="1" dirty="0">
                <a:solidFill>
                  <a:srgbClr val="1C2B36"/>
                </a:solidFill>
                <a:latin typeface="Cambria" pitchFamily="34" charset="0"/>
                <a:ea typeface="Cambria" pitchFamily="34" charset="-122"/>
                <a:cs typeface="Cambria" pitchFamily="34" charset="-120"/>
              </a:rPr>
              <a:t>Random Forest</a:t>
            </a:r>
            <a:endParaRPr lang="en-US" sz="1700" dirty="0"/>
          </a:p>
        </p:txBody>
      </p:sp>
      <p:sp>
        <p:nvSpPr>
          <p:cNvPr id="6" name="Text 4"/>
          <p:cNvSpPr/>
          <p:nvPr/>
        </p:nvSpPr>
        <p:spPr>
          <a:xfrm>
            <a:off x="822960" y="2423160"/>
            <a:ext cx="3291840" cy="1463040"/>
          </a:xfrm>
          <a:prstGeom prst="rect">
            <a:avLst/>
          </a:prstGeom>
          <a:noFill/>
          <a:ln/>
        </p:spPr>
        <p:txBody>
          <a:bodyPr wrap="square" lIns="0" tIns="0" rIns="0" bIns="0" rtlCol="0" anchor="ctr"/>
          <a:lstStyle/>
          <a:p>
            <a:pPr marL="0" indent="0">
              <a:lnSpc>
                <a:spcPct val="125000"/>
              </a:lnSpc>
              <a:buNone/>
            </a:pPr>
            <a:r>
              <a:rPr lang="en-US" sz="1150" dirty="0">
                <a:solidFill>
                  <a:srgbClr val="6B7A88"/>
                </a:solidFill>
                <a:latin typeface="Calibri" pitchFamily="34" charset="0"/>
                <a:ea typeface="Calibri" pitchFamily="34" charset="-122"/>
                <a:cs typeface="Calibri" pitchFamily="34" charset="-120"/>
              </a:rPr>
              <a:t>Ensamble de árboles de decisión entrenados sobre subconjuntos aleatorios de datos y variables; combina sus votos.</a:t>
            </a:r>
            <a:endParaRPr lang="en-US" sz="1150" dirty="0"/>
          </a:p>
        </p:txBody>
      </p:sp>
      <p:sp>
        <p:nvSpPr>
          <p:cNvPr id="7" name="Text 5"/>
          <p:cNvSpPr/>
          <p:nvPr/>
        </p:nvSpPr>
        <p:spPr>
          <a:xfrm>
            <a:off x="4206240" y="1965960"/>
            <a:ext cx="1600200" cy="914400"/>
          </a:xfrm>
          <a:prstGeom prst="rect">
            <a:avLst/>
          </a:prstGeom>
          <a:noFill/>
          <a:ln/>
        </p:spPr>
        <p:txBody>
          <a:bodyPr wrap="square" lIns="0" tIns="0" rIns="0" bIns="0" rtlCol="0" anchor="ctr"/>
          <a:lstStyle/>
          <a:p>
            <a:pPr marL="0" indent="0" algn="r">
              <a:buNone/>
            </a:pPr>
            <a:r>
              <a:rPr lang="en-US" sz="3000" b="1" dirty="0">
                <a:solidFill>
                  <a:srgbClr val="2E86AB"/>
                </a:solidFill>
                <a:latin typeface="Cambria" pitchFamily="34" charset="0"/>
                <a:ea typeface="Cambria" pitchFamily="34" charset="-122"/>
                <a:cs typeface="Cambria" pitchFamily="34" charset="-120"/>
              </a:rPr>
              <a:t>86,7%</a:t>
            </a:r>
            <a:endParaRPr lang="en-US" sz="3000" dirty="0"/>
          </a:p>
        </p:txBody>
      </p:sp>
      <p:sp>
        <p:nvSpPr>
          <p:cNvPr id="8" name="Text 6"/>
          <p:cNvSpPr/>
          <p:nvPr/>
        </p:nvSpPr>
        <p:spPr>
          <a:xfrm>
            <a:off x="4206240" y="2788920"/>
            <a:ext cx="1600200" cy="548640"/>
          </a:xfrm>
          <a:prstGeom prst="rect">
            <a:avLst/>
          </a:prstGeom>
          <a:noFill/>
          <a:ln/>
        </p:spPr>
        <p:txBody>
          <a:bodyPr wrap="square" lIns="0" tIns="0" rIns="0" bIns="0" rtlCol="0" anchor="ctr"/>
          <a:lstStyle/>
          <a:p>
            <a:pPr marL="0" indent="0" algn="r">
              <a:buNone/>
            </a:pPr>
            <a:r>
              <a:rPr lang="en-US" sz="950" dirty="0">
                <a:solidFill>
                  <a:srgbClr val="6B7A88"/>
                </a:solidFill>
                <a:latin typeface="Calibri" pitchFamily="34" charset="0"/>
                <a:ea typeface="Calibri" pitchFamily="34" charset="-122"/>
                <a:cs typeface="Calibri" pitchFamily="34" charset="-120"/>
              </a:rPr>
              <a:t>accuracy</a:t>
            </a:r>
            <a:endParaRPr lang="en-US" sz="950" dirty="0"/>
          </a:p>
          <a:p>
            <a:pPr marL="0" indent="0" algn="r">
              <a:buNone/>
            </a:pPr>
            <a:r>
              <a:rPr lang="en-US" sz="950" dirty="0">
                <a:solidFill>
                  <a:srgbClr val="6B7A88"/>
                </a:solidFill>
                <a:latin typeface="Calibri" pitchFamily="34" charset="0"/>
                <a:ea typeface="Calibri" pitchFamily="34" charset="-122"/>
                <a:cs typeface="Calibri" pitchFamily="34" charset="-120"/>
              </a:rPr>
              <a:t>(test, 300 alumnos)</a:t>
            </a:r>
            <a:endParaRPr lang="en-US" sz="950" dirty="0"/>
          </a:p>
        </p:txBody>
      </p:sp>
      <p:sp>
        <p:nvSpPr>
          <p:cNvPr id="9" name="Shape 7"/>
          <p:cNvSpPr/>
          <p:nvPr/>
        </p:nvSpPr>
        <p:spPr>
          <a:xfrm>
            <a:off x="6217920" y="1783080"/>
            <a:ext cx="5440680" cy="2331720"/>
          </a:xfrm>
          <a:prstGeom prst="roundRect">
            <a:avLst>
              <a:gd name="adj" fmla="val 3137"/>
            </a:avLst>
          </a:prstGeom>
          <a:solidFill>
            <a:srgbClr val="F4F6F8"/>
          </a:solidFill>
          <a:ln/>
        </p:spPr>
      </p:sp>
      <p:sp>
        <p:nvSpPr>
          <p:cNvPr id="10" name="Text 8"/>
          <p:cNvSpPr/>
          <p:nvPr/>
        </p:nvSpPr>
        <p:spPr>
          <a:xfrm>
            <a:off x="6492240" y="1965960"/>
            <a:ext cx="3291840" cy="411480"/>
          </a:xfrm>
          <a:prstGeom prst="rect">
            <a:avLst/>
          </a:prstGeom>
          <a:noFill/>
          <a:ln/>
        </p:spPr>
        <p:txBody>
          <a:bodyPr wrap="square" lIns="0" tIns="0" rIns="0" bIns="0" rtlCol="0" anchor="ctr"/>
          <a:lstStyle/>
          <a:p>
            <a:pPr marL="0" indent="0">
              <a:buNone/>
            </a:pPr>
            <a:r>
              <a:rPr lang="en-US" sz="1700" b="1" dirty="0">
                <a:solidFill>
                  <a:srgbClr val="1C2B36"/>
                </a:solidFill>
                <a:latin typeface="Cambria" pitchFamily="34" charset="0"/>
                <a:ea typeface="Cambria" pitchFamily="34" charset="-122"/>
                <a:cs typeface="Cambria" pitchFamily="34" charset="-120"/>
              </a:rPr>
              <a:t>AdaBoost</a:t>
            </a:r>
            <a:endParaRPr lang="en-US" sz="1700" dirty="0"/>
          </a:p>
        </p:txBody>
      </p:sp>
      <p:sp>
        <p:nvSpPr>
          <p:cNvPr id="11" name="Text 9"/>
          <p:cNvSpPr/>
          <p:nvPr/>
        </p:nvSpPr>
        <p:spPr>
          <a:xfrm>
            <a:off x="6492240" y="2423160"/>
            <a:ext cx="3291840" cy="1463040"/>
          </a:xfrm>
          <a:prstGeom prst="rect">
            <a:avLst/>
          </a:prstGeom>
          <a:noFill/>
          <a:ln/>
        </p:spPr>
        <p:txBody>
          <a:bodyPr wrap="square" lIns="0" tIns="0" rIns="0" bIns="0" rtlCol="0" anchor="ctr"/>
          <a:lstStyle/>
          <a:p>
            <a:pPr marL="0" indent="0">
              <a:lnSpc>
                <a:spcPct val="125000"/>
              </a:lnSpc>
              <a:buNone/>
            </a:pPr>
            <a:r>
              <a:rPr lang="en-US" sz="1150" dirty="0">
                <a:solidFill>
                  <a:srgbClr val="6B7A88"/>
                </a:solidFill>
                <a:latin typeface="Calibri" pitchFamily="34" charset="0"/>
                <a:ea typeface="Calibri" pitchFamily="34" charset="-122"/>
                <a:cs typeface="Calibri" pitchFamily="34" charset="-120"/>
              </a:rPr>
              <a:t>Ensamble secuencial: cada árbol débil corrige los errores del anterior, dando más peso a los casos mal clasificados.</a:t>
            </a:r>
            <a:endParaRPr lang="en-US" sz="1150" dirty="0"/>
          </a:p>
        </p:txBody>
      </p:sp>
      <p:sp>
        <p:nvSpPr>
          <p:cNvPr id="12" name="Text 10"/>
          <p:cNvSpPr/>
          <p:nvPr/>
        </p:nvSpPr>
        <p:spPr>
          <a:xfrm>
            <a:off x="9875520" y="1965960"/>
            <a:ext cx="1600200" cy="914400"/>
          </a:xfrm>
          <a:prstGeom prst="rect">
            <a:avLst/>
          </a:prstGeom>
          <a:noFill/>
          <a:ln/>
        </p:spPr>
        <p:txBody>
          <a:bodyPr wrap="square" lIns="0" tIns="0" rIns="0" bIns="0" rtlCol="0" anchor="ctr"/>
          <a:lstStyle/>
          <a:p>
            <a:pPr marL="0" indent="0" algn="r">
              <a:buNone/>
            </a:pPr>
            <a:r>
              <a:rPr lang="en-US" sz="3000" b="1" dirty="0">
                <a:solidFill>
                  <a:srgbClr val="E8743B"/>
                </a:solidFill>
                <a:latin typeface="Cambria" pitchFamily="34" charset="0"/>
                <a:ea typeface="Cambria" pitchFamily="34" charset="-122"/>
                <a:cs typeface="Cambria" pitchFamily="34" charset="-120"/>
              </a:rPr>
              <a:t>87,0%</a:t>
            </a:r>
            <a:endParaRPr lang="en-US" sz="3000" dirty="0"/>
          </a:p>
        </p:txBody>
      </p:sp>
      <p:sp>
        <p:nvSpPr>
          <p:cNvPr id="13" name="Text 11"/>
          <p:cNvSpPr/>
          <p:nvPr/>
        </p:nvSpPr>
        <p:spPr>
          <a:xfrm>
            <a:off x="9875520" y="2788920"/>
            <a:ext cx="1600200" cy="548640"/>
          </a:xfrm>
          <a:prstGeom prst="rect">
            <a:avLst/>
          </a:prstGeom>
          <a:noFill/>
          <a:ln/>
        </p:spPr>
        <p:txBody>
          <a:bodyPr wrap="square" lIns="0" tIns="0" rIns="0" bIns="0" rtlCol="0" anchor="ctr"/>
          <a:lstStyle/>
          <a:p>
            <a:pPr marL="0" indent="0" algn="r">
              <a:buNone/>
            </a:pPr>
            <a:r>
              <a:rPr lang="en-US" sz="950" dirty="0">
                <a:solidFill>
                  <a:srgbClr val="6B7A88"/>
                </a:solidFill>
                <a:latin typeface="Calibri" pitchFamily="34" charset="0"/>
                <a:ea typeface="Calibri" pitchFamily="34" charset="-122"/>
                <a:cs typeface="Calibri" pitchFamily="34" charset="-120"/>
              </a:rPr>
              <a:t>accuracy</a:t>
            </a:r>
            <a:endParaRPr lang="en-US" sz="950" dirty="0"/>
          </a:p>
          <a:p>
            <a:pPr marL="0" indent="0" algn="r">
              <a:buNone/>
            </a:pPr>
            <a:r>
              <a:rPr lang="en-US" sz="950" dirty="0">
                <a:solidFill>
                  <a:srgbClr val="6B7A88"/>
                </a:solidFill>
                <a:latin typeface="Calibri" pitchFamily="34" charset="0"/>
                <a:ea typeface="Calibri" pitchFamily="34" charset="-122"/>
                <a:cs typeface="Calibri" pitchFamily="34" charset="-120"/>
              </a:rPr>
              <a:t>(test, 300 alumnos)</a:t>
            </a:r>
            <a:endParaRPr lang="en-US" sz="950" dirty="0"/>
          </a:p>
        </p:txBody>
      </p:sp>
      <p:sp>
        <p:nvSpPr>
          <p:cNvPr id="14" name="Text 12"/>
          <p:cNvSpPr/>
          <p:nvPr/>
        </p:nvSpPr>
        <p:spPr>
          <a:xfrm>
            <a:off x="548640" y="4343400"/>
            <a:ext cx="11064240" cy="731520"/>
          </a:xfrm>
          <a:prstGeom prst="rect">
            <a:avLst/>
          </a:prstGeom>
          <a:noFill/>
          <a:ln/>
        </p:spPr>
        <p:txBody>
          <a:bodyPr wrap="square" lIns="0" tIns="0" rIns="0" bIns="0" rtlCol="0" anchor="ctr"/>
          <a:lstStyle/>
          <a:p>
            <a:pPr marL="0" indent="0">
              <a:lnSpc>
                <a:spcPct val="125000"/>
              </a:lnSpc>
              <a:buNone/>
            </a:pPr>
            <a:r>
              <a:rPr lang="en-US" sz="1250" i="1" dirty="0">
                <a:solidFill>
                  <a:srgbClr val="1C2B36"/>
                </a:solidFill>
                <a:latin typeface="Calibri" pitchFamily="34" charset="0"/>
                <a:ea typeface="Calibri" pitchFamily="34" charset="-122"/>
                <a:cs typeface="Calibri" pitchFamily="34" charset="-120"/>
              </a:rPr>
              <a:t>Ambos modelos coinciden casi punto a punto (86,7% vs. 87,0%), lo que da confianza en el resultado: no es un artefacto de un único algoritmo, sino una señal real presente en los datos.</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5257800"/>
          <a:ext cx="11064240" cy="1188720"/>
        </p:xfrm>
        <a:graphic>
          <a:graphicData uri="http://schemas.openxmlformats.org/drawingml/2006/table">
            <a:tbl>
              <a:tblPr/>
              <a:tblGrid>
                <a:gridCol w="2766060">
                  <a:extLst>
                    <a:ext uri="{9D8B030D-6E8A-4147-A177-3AD203B41FA5}">
                      <a16:colId xmlns:a16="http://schemas.microsoft.com/office/drawing/2014/main" val="20000"/>
                    </a:ext>
                  </a:extLst>
                </a:gridCol>
                <a:gridCol w="2766060">
                  <a:extLst>
                    <a:ext uri="{9D8B030D-6E8A-4147-A177-3AD203B41FA5}">
                      <a16:colId xmlns:a16="http://schemas.microsoft.com/office/drawing/2014/main" val="20001"/>
                    </a:ext>
                  </a:extLst>
                </a:gridCol>
                <a:gridCol w="2766060">
                  <a:extLst>
                    <a:ext uri="{9D8B030D-6E8A-4147-A177-3AD203B41FA5}">
                      <a16:colId xmlns:a16="http://schemas.microsoft.com/office/drawing/2014/main" val="20002"/>
                    </a:ext>
                  </a:extLst>
                </a:gridCol>
                <a:gridCol w="2766060">
                  <a:extLst>
                    <a:ext uri="{9D8B030D-6E8A-4147-A177-3AD203B41FA5}">
                      <a16:colId xmlns:a16="http://schemas.microsoft.com/office/drawing/2014/main" val="20003"/>
                    </a:ext>
                  </a:extLst>
                </a:gridCol>
              </a:tblGrid>
              <a:tr h="29718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Clase</a:t>
                      </a:r>
                      <a:endParaRPr lang="en-US" sz="1100" dirty="0">
                        <a:latin typeface="Calibri" charset="0"/>
                        <a:ea typeface="Calibri" charset="0"/>
                        <a:cs typeface="Calibri" charset="0"/>
                      </a:endParaRPr>
                    </a:p>
                  </a:txBody>
                  <a:tcPr anchor="ct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16324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Precisión</a:t>
                      </a:r>
                      <a:endParaRPr lang="en-US" sz="1100" dirty="0">
                        <a:latin typeface="Calibri" charset="0"/>
                        <a:ea typeface="Calibri" charset="0"/>
                        <a:cs typeface="Calibri" charset="0"/>
                      </a:endParaRPr>
                    </a:p>
                  </a:txBody>
                  <a:tcPr anchor="ct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16324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anchor="ct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16324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F1-score</a:t>
                      </a:r>
                      <a:endParaRPr lang="en-US" sz="1100" dirty="0">
                        <a:latin typeface="Calibri" charset="0"/>
                        <a:ea typeface="Calibri" charset="0"/>
                        <a:cs typeface="Calibri" charset="0"/>
                      </a:endParaRPr>
                    </a:p>
                  </a:txBody>
                  <a:tcPr anchor="ct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solidFill>
                      <a:srgbClr val="16324F"/>
                    </a:solidFill>
                  </a:tcPr>
                </a:tc>
                <a:extLst>
                  <a:ext uri="{0D108BD9-81ED-4DB2-BD59-A6C34878D82A}">
                    <a16:rowId xmlns:a16="http://schemas.microsoft.com/office/drawing/2014/main" val="10000"/>
                  </a:ext>
                </a:extLst>
              </a:tr>
              <a:tr h="297180">
                <a:tc>
                  <a:txBody>
                    <a:bodyPr/>
                    <a:lstStyle/>
                    <a:p>
                      <a:pPr marL="0" indent="0" algn="ctr">
                        <a:buNone/>
                      </a:pPr>
                      <a:r>
                        <a:rPr lang="en-US" sz="1100" dirty="0">
                          <a:solidFill>
                            <a:srgbClr val="1C2B36"/>
                          </a:solidFill>
                          <a:latin typeface="Calibri" pitchFamily="34" charset="0"/>
                          <a:ea typeface="Calibri" pitchFamily="34" charset="-122"/>
                          <a:cs typeface="Calibri" pitchFamily="34" charset="-120"/>
                        </a:rPr>
                        <a:t>Abandona (no aprueban)</a:t>
                      </a:r>
                      <a:endParaRPr lang="en-US" sz="1100" dirty="0">
                        <a:latin typeface="Calibri" charset="0"/>
                        <a:ea typeface="Calibri" charset="0"/>
                        <a:cs typeface="Calibri" charset="0"/>
                      </a:endParaRPr>
                    </a:p>
                  </a:txBody>
                  <a:tcPr anchor="ct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tcPr>
                </a:tc>
                <a:tc>
                  <a:txBody>
                    <a:bodyPr/>
                    <a:lstStyle/>
                    <a:p>
                      <a:pPr marL="0" indent="0" algn="ctr">
                        <a:buNone/>
                      </a:pPr>
                      <a:r>
                        <a:rPr lang="en-US" sz="1100" dirty="0">
                          <a:solidFill>
                            <a:srgbClr val="1C2B36"/>
                          </a:solidFill>
                          <a:latin typeface="Calibri" pitchFamily="34" charset="0"/>
                          <a:ea typeface="Calibri" pitchFamily="34" charset="-122"/>
                          <a:cs typeface="Calibri" pitchFamily="34" charset="-120"/>
                        </a:rPr>
                        <a:t>0,95</a:t>
                      </a:r>
                      <a:endParaRPr lang="en-US" sz="1100" dirty="0">
                        <a:latin typeface="Calibri" charset="0"/>
                        <a:ea typeface="Calibri" charset="0"/>
                        <a:cs typeface="Calibri" charset="0"/>
                      </a:endParaRPr>
                    </a:p>
                  </a:txBody>
                  <a:tcPr anchor="ct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tcPr>
                </a:tc>
                <a:tc>
                  <a:txBody>
                    <a:bodyPr/>
                    <a:lstStyle/>
                    <a:p>
                      <a:pPr marL="0" indent="0" algn="ctr">
                        <a:buNone/>
                      </a:pPr>
                      <a:r>
                        <a:rPr lang="en-US" sz="1100" dirty="0">
                          <a:solidFill>
                            <a:srgbClr val="1C2B36"/>
                          </a:solidFill>
                          <a:latin typeface="Calibri" pitchFamily="34" charset="0"/>
                          <a:ea typeface="Calibri" pitchFamily="34" charset="-122"/>
                          <a:cs typeface="Calibri" pitchFamily="34" charset="-120"/>
                        </a:rPr>
                        <a:t>0,80</a:t>
                      </a:r>
                      <a:endParaRPr lang="en-US" sz="1100" dirty="0">
                        <a:latin typeface="Calibri" charset="0"/>
                        <a:ea typeface="Calibri" charset="0"/>
                        <a:cs typeface="Calibri" charset="0"/>
                      </a:endParaRPr>
                    </a:p>
                  </a:txBody>
                  <a:tcPr anchor="ct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tcPr>
                </a:tc>
                <a:tc>
                  <a:txBody>
                    <a:bodyPr/>
                    <a:lstStyle/>
                    <a:p>
                      <a:pPr marL="0" indent="0" algn="ctr">
                        <a:buNone/>
                      </a:pPr>
                      <a:r>
                        <a:rPr lang="en-US" sz="1100" dirty="0">
                          <a:solidFill>
                            <a:srgbClr val="1C2B36"/>
                          </a:solidFill>
                          <a:latin typeface="Calibri" pitchFamily="34" charset="0"/>
                          <a:ea typeface="Calibri" pitchFamily="34" charset="-122"/>
                          <a:cs typeface="Calibri" pitchFamily="34" charset="-120"/>
                        </a:rPr>
                        <a:t>0,87</a:t>
                      </a:r>
                      <a:endParaRPr lang="en-US" sz="1100" dirty="0">
                        <a:latin typeface="Calibri" charset="0"/>
                        <a:ea typeface="Calibri" charset="0"/>
                        <a:cs typeface="Calibri" charset="0"/>
                      </a:endParaRPr>
                    </a:p>
                  </a:txBody>
                  <a:tcPr anchor="ct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tcPr>
                </a:tc>
                <a:extLst>
                  <a:ext uri="{0D108BD9-81ED-4DB2-BD59-A6C34878D82A}">
                    <a16:rowId xmlns:a16="http://schemas.microsoft.com/office/drawing/2014/main" val="10001"/>
                  </a:ext>
                </a:extLst>
              </a:tr>
              <a:tr h="297180">
                <a:tc>
                  <a:txBody>
                    <a:bodyPr/>
                    <a:lstStyle/>
                    <a:p>
                      <a:pPr marL="0" indent="0" algn="ctr">
                        <a:buNone/>
                      </a:pPr>
                      <a:r>
                        <a:rPr lang="en-US" sz="1100" dirty="0">
                          <a:solidFill>
                            <a:srgbClr val="1C2B36"/>
                          </a:solidFill>
                          <a:latin typeface="Calibri" pitchFamily="34" charset="0"/>
                          <a:ea typeface="Calibri" pitchFamily="34" charset="-122"/>
                          <a:cs typeface="Calibri" pitchFamily="34" charset="-120"/>
                        </a:rPr>
                        <a:t>Regulariza</a:t>
                      </a:r>
                      <a:endParaRPr lang="en-US" sz="1100" dirty="0">
                        <a:latin typeface="Calibri" charset="0"/>
                        <a:ea typeface="Calibri" charset="0"/>
                        <a:cs typeface="Calibri" charset="0"/>
                      </a:endParaRPr>
                    </a:p>
                  </a:txBody>
                  <a:tcPr anchor="ct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tcPr>
                </a:tc>
                <a:tc>
                  <a:txBody>
                    <a:bodyPr/>
                    <a:lstStyle/>
                    <a:p>
                      <a:pPr marL="0" indent="0" algn="ctr">
                        <a:buNone/>
                      </a:pPr>
                      <a:r>
                        <a:rPr lang="en-US" sz="1100" dirty="0">
                          <a:solidFill>
                            <a:srgbClr val="1C2B36"/>
                          </a:solidFill>
                          <a:latin typeface="Calibri" pitchFamily="34" charset="0"/>
                          <a:ea typeface="Calibri" pitchFamily="34" charset="-122"/>
                          <a:cs typeface="Calibri" pitchFamily="34" charset="-120"/>
                        </a:rPr>
                        <a:t>0,84</a:t>
                      </a:r>
                      <a:endParaRPr lang="en-US" sz="1100" dirty="0">
                        <a:latin typeface="Calibri" charset="0"/>
                        <a:ea typeface="Calibri" charset="0"/>
                        <a:cs typeface="Calibri" charset="0"/>
                      </a:endParaRPr>
                    </a:p>
                  </a:txBody>
                  <a:tcPr anchor="ct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tcPr>
                </a:tc>
                <a:tc>
                  <a:txBody>
                    <a:bodyPr/>
                    <a:lstStyle/>
                    <a:p>
                      <a:pPr marL="0" indent="0" algn="ctr">
                        <a:buNone/>
                      </a:pPr>
                      <a:r>
                        <a:rPr lang="en-US" sz="1100" dirty="0">
                          <a:solidFill>
                            <a:srgbClr val="1C2B36"/>
                          </a:solidFill>
                          <a:latin typeface="Calibri" pitchFamily="34" charset="0"/>
                          <a:ea typeface="Calibri" pitchFamily="34" charset="-122"/>
                          <a:cs typeface="Calibri" pitchFamily="34" charset="-120"/>
                        </a:rPr>
                        <a:t>0,94</a:t>
                      </a:r>
                      <a:endParaRPr lang="en-US" sz="1100" dirty="0">
                        <a:latin typeface="Calibri" charset="0"/>
                        <a:ea typeface="Calibri" charset="0"/>
                        <a:cs typeface="Calibri" charset="0"/>
                      </a:endParaRPr>
                    </a:p>
                  </a:txBody>
                  <a:tcPr anchor="ct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tcPr>
                </a:tc>
                <a:tc>
                  <a:txBody>
                    <a:bodyPr/>
                    <a:lstStyle/>
                    <a:p>
                      <a:pPr marL="0" indent="0" algn="ctr">
                        <a:buNone/>
                      </a:pPr>
                      <a:r>
                        <a:rPr lang="en-US" sz="1100" dirty="0">
                          <a:solidFill>
                            <a:srgbClr val="1C2B36"/>
                          </a:solidFill>
                          <a:latin typeface="Calibri" pitchFamily="34" charset="0"/>
                          <a:ea typeface="Calibri" pitchFamily="34" charset="-122"/>
                          <a:cs typeface="Calibri" pitchFamily="34" charset="-120"/>
                        </a:rPr>
                        <a:t>0,89</a:t>
                      </a:r>
                      <a:endParaRPr lang="en-US" sz="1100" dirty="0">
                        <a:latin typeface="Calibri" charset="0"/>
                        <a:ea typeface="Calibri" charset="0"/>
                        <a:cs typeface="Calibri" charset="0"/>
                      </a:endParaRPr>
                    </a:p>
                  </a:txBody>
                  <a:tcPr anchor="ct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tcPr>
                </a:tc>
                <a:extLst>
                  <a:ext uri="{0D108BD9-81ED-4DB2-BD59-A6C34878D82A}">
                    <a16:rowId xmlns:a16="http://schemas.microsoft.com/office/drawing/2014/main" val="10002"/>
                  </a:ext>
                </a:extLst>
              </a:tr>
              <a:tr h="297180">
                <a:tc>
                  <a:txBody>
                    <a:bodyPr/>
                    <a:lstStyle/>
                    <a:p>
                      <a:pPr marL="0" indent="0" algn="ctr">
                        <a:buNone/>
                      </a:pPr>
                      <a:r>
                        <a:rPr lang="en-US" sz="1100" dirty="0">
                          <a:solidFill>
                            <a:srgbClr val="1C2B36"/>
                          </a:solidFill>
                          <a:latin typeface="Calibri" pitchFamily="34" charset="0"/>
                          <a:ea typeface="Calibri" pitchFamily="34" charset="-122"/>
                          <a:cs typeface="Calibri" pitchFamily="34" charset="-120"/>
                        </a:rPr>
                        <a:t>Promociona</a:t>
                      </a:r>
                      <a:endParaRPr lang="en-US" sz="1100" dirty="0">
                        <a:latin typeface="Calibri" charset="0"/>
                        <a:ea typeface="Calibri" charset="0"/>
                        <a:cs typeface="Calibri" charset="0"/>
                      </a:endParaRPr>
                    </a:p>
                  </a:txBody>
                  <a:tcPr anchor="ct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tcPr>
                </a:tc>
                <a:tc>
                  <a:txBody>
                    <a:bodyPr/>
                    <a:lstStyle/>
                    <a:p>
                      <a:pPr marL="0" indent="0" algn="ctr">
                        <a:buNone/>
                      </a:pPr>
                      <a:r>
                        <a:rPr lang="en-US" sz="1100" dirty="0">
                          <a:solidFill>
                            <a:srgbClr val="1C2B36"/>
                          </a:solidFill>
                          <a:latin typeface="Calibri" pitchFamily="34" charset="0"/>
                          <a:ea typeface="Calibri" pitchFamily="34" charset="-122"/>
                          <a:cs typeface="Calibri" pitchFamily="34" charset="-120"/>
                        </a:rPr>
                        <a:t>0,83</a:t>
                      </a:r>
                      <a:endParaRPr lang="en-US" sz="1100" dirty="0">
                        <a:latin typeface="Calibri" charset="0"/>
                        <a:ea typeface="Calibri" charset="0"/>
                        <a:cs typeface="Calibri" charset="0"/>
                      </a:endParaRPr>
                    </a:p>
                  </a:txBody>
                  <a:tcPr anchor="ct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tcPr>
                </a:tc>
                <a:tc>
                  <a:txBody>
                    <a:bodyPr/>
                    <a:lstStyle/>
                    <a:p>
                      <a:pPr marL="0" indent="0" algn="ctr">
                        <a:buNone/>
                      </a:pPr>
                      <a:r>
                        <a:rPr lang="en-US" sz="1100" dirty="0">
                          <a:solidFill>
                            <a:srgbClr val="1C2B36"/>
                          </a:solidFill>
                          <a:latin typeface="Calibri" pitchFamily="34" charset="0"/>
                          <a:ea typeface="Calibri" pitchFamily="34" charset="-122"/>
                          <a:cs typeface="Calibri" pitchFamily="34" charset="-120"/>
                        </a:rPr>
                        <a:t>0,79</a:t>
                      </a:r>
                      <a:endParaRPr lang="en-US" sz="1100" dirty="0">
                        <a:latin typeface="Calibri" charset="0"/>
                        <a:ea typeface="Calibri" charset="0"/>
                        <a:cs typeface="Calibri" charset="0"/>
                      </a:endParaRPr>
                    </a:p>
                  </a:txBody>
                  <a:tcPr anchor="ct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tcPr>
                </a:tc>
                <a:tc>
                  <a:txBody>
                    <a:bodyPr/>
                    <a:lstStyle/>
                    <a:p>
                      <a:pPr marL="0" indent="0" algn="ctr">
                        <a:buNone/>
                      </a:pPr>
                      <a:r>
                        <a:rPr lang="en-US" sz="1100" dirty="0">
                          <a:solidFill>
                            <a:srgbClr val="1C2B36"/>
                          </a:solidFill>
                          <a:latin typeface="Calibri" pitchFamily="34" charset="0"/>
                          <a:ea typeface="Calibri" pitchFamily="34" charset="-122"/>
                          <a:cs typeface="Calibri" pitchFamily="34" charset="-120"/>
                        </a:rPr>
                        <a:t>0,81</a:t>
                      </a:r>
                      <a:endParaRPr lang="en-US" sz="1100" dirty="0">
                        <a:latin typeface="Calibri" charset="0"/>
                        <a:ea typeface="Calibri" charset="0"/>
                        <a:cs typeface="Calibri" charset="0"/>
                      </a:endParaRPr>
                    </a:p>
                  </a:txBody>
                  <a:tcPr anchor="ctr">
                    <a:lnL w="9525" cap="flat" cmpd="sng" algn="ctr">
                      <a:solidFill>
                        <a:srgbClr val="E1E6EA"/>
                      </a:solidFill>
                      <a:prstDash val="solid"/>
                      <a:round/>
                      <a:headEnd type="none" w="med" len="med"/>
                      <a:tailEnd type="none" w="med" len="med"/>
                    </a:lnL>
                    <a:lnR w="9525" cap="flat" cmpd="sng" algn="ctr">
                      <a:solidFill>
                        <a:srgbClr val="E1E6EA"/>
                      </a:solidFill>
                      <a:prstDash val="solid"/>
                      <a:round/>
                      <a:headEnd type="none" w="med" len="med"/>
                      <a:tailEnd type="none" w="med" len="med"/>
                    </a:lnR>
                    <a:lnT w="9525" cap="flat" cmpd="sng" algn="ctr">
                      <a:solidFill>
                        <a:srgbClr val="E1E6EA"/>
                      </a:solidFill>
                      <a:prstDash val="solid"/>
                      <a:round/>
                      <a:headEnd type="none" w="med" len="med"/>
                      <a:tailEnd type="none" w="med" len="med"/>
                    </a:lnT>
                    <a:lnB w="9525" cap="flat" cmpd="sng" algn="ctr">
                      <a:solidFill>
                        <a:srgbClr val="E1E6E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6" name="Text 13"/>
          <p:cNvSpPr/>
          <p:nvPr/>
        </p:nvSpPr>
        <p:spPr>
          <a:xfrm>
            <a:off x="457200" y="6473952"/>
            <a:ext cx="86868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TP Hackatón · Informática y Análisis 1 — Predicción de rendimiento académico</a:t>
            </a:r>
            <a:endParaRPr lang="en-US" sz="900" dirty="0"/>
          </a:p>
        </p:txBody>
      </p:sp>
      <p:sp>
        <p:nvSpPr>
          <p:cNvPr id="17" name="Text 14"/>
          <p:cNvSpPr/>
          <p:nvPr/>
        </p:nvSpPr>
        <p:spPr>
          <a:xfrm>
            <a:off x="10817352" y="6473952"/>
            <a:ext cx="9144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713232"/>
            <a:ext cx="11064240" cy="822960"/>
          </a:xfrm>
          <a:prstGeom prst="rect">
            <a:avLst/>
          </a:prstGeom>
          <a:noFill/>
          <a:ln/>
        </p:spPr>
        <p:txBody>
          <a:bodyPr wrap="square" lIns="0" tIns="0" rIns="0" bIns="0" rtlCol="0" anchor="ctr"/>
          <a:lstStyle/>
          <a:p>
            <a:pPr marL="0" indent="0">
              <a:buNone/>
            </a:pPr>
            <a:r>
              <a:rPr lang="en-US" sz="2800" b="1" dirty="0">
                <a:solidFill>
                  <a:srgbClr val="1C2B36"/>
                </a:solidFill>
                <a:latin typeface="Cambria" pitchFamily="34" charset="0"/>
                <a:ea typeface="Cambria" pitchFamily="34" charset="-122"/>
                <a:cs typeface="Cambria" pitchFamily="34" charset="-120"/>
              </a:rPr>
              <a:t>5.Matriz de </a:t>
            </a:r>
            <a:r>
              <a:rPr lang="en-US" sz="2800" b="1" dirty="0" err="1">
                <a:solidFill>
                  <a:srgbClr val="1C2B36"/>
                </a:solidFill>
                <a:latin typeface="Cambria" pitchFamily="34" charset="0"/>
                <a:ea typeface="Cambria" pitchFamily="34" charset="-122"/>
                <a:cs typeface="Cambria" pitchFamily="34" charset="-120"/>
              </a:rPr>
              <a:t>confusión</a:t>
            </a:r>
            <a:endParaRPr lang="en-US" sz="2800" dirty="0"/>
          </a:p>
        </p:txBody>
      </p:sp>
      <p:pic>
        <p:nvPicPr>
          <p:cNvPr id="4" name="Image 0" descr="imgs/cm_rf.png"/>
          <p:cNvPicPr>
            <a:picLocks noChangeAspect="1"/>
          </p:cNvPicPr>
          <p:nvPr/>
        </p:nvPicPr>
        <p:blipFill>
          <a:blip r:embed="rId3"/>
          <a:stretch>
            <a:fillRect/>
          </a:stretch>
        </p:blipFill>
        <p:spPr>
          <a:xfrm>
            <a:off x="457200" y="1600200"/>
            <a:ext cx="5349240" cy="3977640"/>
          </a:xfrm>
          <a:prstGeom prst="rect">
            <a:avLst/>
          </a:prstGeom>
        </p:spPr>
      </p:pic>
      <p:pic>
        <p:nvPicPr>
          <p:cNvPr id="5" name="Image 1" descr="imgs/cm_ada.png"/>
          <p:cNvPicPr>
            <a:picLocks noChangeAspect="1"/>
          </p:cNvPicPr>
          <p:nvPr/>
        </p:nvPicPr>
        <p:blipFill>
          <a:blip r:embed="rId4"/>
          <a:stretch>
            <a:fillRect/>
          </a:stretch>
        </p:blipFill>
        <p:spPr>
          <a:xfrm>
            <a:off x="6355080" y="1600200"/>
            <a:ext cx="5349240" cy="3977640"/>
          </a:xfrm>
          <a:prstGeom prst="rect">
            <a:avLst/>
          </a:prstGeom>
        </p:spPr>
      </p:pic>
      <p:sp>
        <p:nvSpPr>
          <p:cNvPr id="6" name="Text 2"/>
          <p:cNvSpPr/>
          <p:nvPr/>
        </p:nvSpPr>
        <p:spPr>
          <a:xfrm>
            <a:off x="548640" y="5715000"/>
            <a:ext cx="11064240" cy="502920"/>
          </a:xfrm>
          <a:prstGeom prst="rect">
            <a:avLst/>
          </a:prstGeom>
          <a:noFill/>
          <a:ln/>
        </p:spPr>
        <p:txBody>
          <a:bodyPr wrap="square" lIns="0" tIns="0" rIns="0" bIns="0" rtlCol="0" anchor="ctr"/>
          <a:lstStyle/>
          <a:p>
            <a:pPr marL="0" indent="0">
              <a:lnSpc>
                <a:spcPct val="115000"/>
              </a:lnSpc>
              <a:buNone/>
            </a:pPr>
            <a:r>
              <a:rPr lang="en-US" sz="1100" i="1" dirty="0">
                <a:solidFill>
                  <a:srgbClr val="6B7A88"/>
                </a:solidFill>
                <a:latin typeface="Calibri" pitchFamily="34" charset="0"/>
                <a:ea typeface="Calibri" pitchFamily="34" charset="-122"/>
                <a:cs typeface="Calibri" pitchFamily="34" charset="-120"/>
              </a:rPr>
              <a:t>Ambos modelos identifican muy bien a los alumnos que "Abandonan" (no aprueban) y confunden, sobre todo, casos límite entre "Regulariza" y "Promociona".</a:t>
            </a:r>
            <a:endParaRPr lang="en-US" sz="1100" dirty="0"/>
          </a:p>
        </p:txBody>
      </p:sp>
      <p:sp>
        <p:nvSpPr>
          <p:cNvPr id="7" name="Text 3"/>
          <p:cNvSpPr/>
          <p:nvPr/>
        </p:nvSpPr>
        <p:spPr>
          <a:xfrm>
            <a:off x="457200" y="6473952"/>
            <a:ext cx="86868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TP Hackatón · Informática y Análisis 1 — Predicción de rendimiento académico</a:t>
            </a:r>
            <a:endParaRPr lang="en-US" sz="900" dirty="0"/>
          </a:p>
        </p:txBody>
      </p:sp>
      <p:sp>
        <p:nvSpPr>
          <p:cNvPr id="8" name="Text 4"/>
          <p:cNvSpPr/>
          <p:nvPr/>
        </p:nvSpPr>
        <p:spPr>
          <a:xfrm>
            <a:off x="10817352" y="6473952"/>
            <a:ext cx="9144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217" y="151228"/>
            <a:ext cx="4348480" cy="822960"/>
          </a:xfrm>
          <a:prstGeom prst="rect">
            <a:avLst/>
          </a:prstGeom>
          <a:noFill/>
          <a:ln/>
        </p:spPr>
        <p:txBody>
          <a:bodyPr wrap="square" lIns="0" tIns="0" rIns="0" bIns="0" rtlCol="0" anchor="ctr"/>
          <a:lstStyle/>
          <a:p>
            <a:pPr marL="0" indent="0">
              <a:buNone/>
            </a:pPr>
            <a:r>
              <a:rPr lang="en-US" sz="2800" b="1" dirty="0">
                <a:solidFill>
                  <a:srgbClr val="1C2B36"/>
                </a:solidFill>
                <a:latin typeface="Cambria" pitchFamily="34" charset="0"/>
                <a:ea typeface="Cambria" pitchFamily="34" charset="-122"/>
                <a:cs typeface="Cambria" pitchFamily="34" charset="-120"/>
              </a:rPr>
              <a:t>Matrices de </a:t>
            </a:r>
            <a:r>
              <a:rPr lang="en-US" sz="2800" b="1" dirty="0" err="1">
                <a:solidFill>
                  <a:srgbClr val="1C2B36"/>
                </a:solidFill>
                <a:latin typeface="Cambria" pitchFamily="34" charset="0"/>
                <a:ea typeface="Cambria" pitchFamily="34" charset="-122"/>
                <a:cs typeface="Cambria" pitchFamily="34" charset="-120"/>
              </a:rPr>
              <a:t>confusión</a:t>
            </a:r>
            <a:endParaRPr lang="en-US" sz="2800" dirty="0"/>
          </a:p>
        </p:txBody>
      </p:sp>
      <p:sp>
        <p:nvSpPr>
          <p:cNvPr id="7" name="Text 3"/>
          <p:cNvSpPr/>
          <p:nvPr/>
        </p:nvSpPr>
        <p:spPr>
          <a:xfrm>
            <a:off x="457200" y="6473952"/>
            <a:ext cx="86868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TP Hackatón · Informática y Análisis 1 — Predicción de rendimiento académico</a:t>
            </a:r>
            <a:endParaRPr lang="en-US" sz="900" dirty="0"/>
          </a:p>
        </p:txBody>
      </p:sp>
      <p:sp>
        <p:nvSpPr>
          <p:cNvPr id="8" name="Text 4"/>
          <p:cNvSpPr/>
          <p:nvPr/>
        </p:nvSpPr>
        <p:spPr>
          <a:xfrm>
            <a:off x="10817352" y="6473952"/>
            <a:ext cx="9144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7</a:t>
            </a:r>
            <a:endParaRPr lang="en-US" sz="900" dirty="0"/>
          </a:p>
        </p:txBody>
      </p:sp>
      <p:pic>
        <p:nvPicPr>
          <p:cNvPr id="9" name="Imagen 8"/>
          <p:cNvPicPr>
            <a:picLocks noChangeAspect="1"/>
          </p:cNvPicPr>
          <p:nvPr/>
        </p:nvPicPr>
        <p:blipFill>
          <a:blip r:embed="rId3"/>
          <a:stretch>
            <a:fillRect/>
          </a:stretch>
        </p:blipFill>
        <p:spPr>
          <a:xfrm>
            <a:off x="374389" y="1884825"/>
            <a:ext cx="6063749" cy="4863447"/>
          </a:xfrm>
          <a:prstGeom prst="rect">
            <a:avLst/>
          </a:prstGeom>
        </p:spPr>
      </p:pic>
      <p:sp>
        <p:nvSpPr>
          <p:cNvPr id="10" name="Rectángulo 9"/>
          <p:cNvSpPr/>
          <p:nvPr/>
        </p:nvSpPr>
        <p:spPr>
          <a:xfrm>
            <a:off x="651205" y="823729"/>
            <a:ext cx="10554335" cy="830997"/>
          </a:xfrm>
          <a:prstGeom prst="rect">
            <a:avLst/>
          </a:prstGeom>
        </p:spPr>
        <p:txBody>
          <a:bodyPr wrap="square">
            <a:spAutoFit/>
          </a:bodyPr>
          <a:lstStyle/>
          <a:p>
            <a:r>
              <a:rPr lang="es-ES" sz="1600" dirty="0"/>
              <a:t>Eje Y (True </a:t>
            </a:r>
            <a:r>
              <a:rPr lang="es-ES" sz="1600" dirty="0" err="1"/>
              <a:t>label</a:t>
            </a:r>
            <a:r>
              <a:rPr lang="es-ES" sz="1600" dirty="0"/>
              <a:t>): Lo que los estudiantes realmente hicieron en la </a:t>
            </a:r>
            <a:r>
              <a:rPr lang="es-ES" sz="1600" dirty="0" err="1"/>
              <a:t>realidad.Eje</a:t>
            </a:r>
            <a:r>
              <a:rPr lang="es-ES" sz="1600" dirty="0"/>
              <a:t> X (</a:t>
            </a:r>
            <a:r>
              <a:rPr lang="es-ES" sz="1600" dirty="0" err="1"/>
              <a:t>Predicted</a:t>
            </a:r>
            <a:r>
              <a:rPr lang="es-ES" sz="1600" dirty="0"/>
              <a:t> </a:t>
            </a:r>
            <a:r>
              <a:rPr lang="es-ES" sz="1600" dirty="0" err="1"/>
              <a:t>label</a:t>
            </a:r>
            <a:r>
              <a:rPr lang="es-ES" sz="1600" dirty="0"/>
              <a:t>): Lo que el modelo predijo que </a:t>
            </a:r>
            <a:r>
              <a:rPr lang="es-ES" sz="1600" dirty="0" err="1"/>
              <a:t>harían.La</a:t>
            </a:r>
            <a:r>
              <a:rPr lang="es-ES" sz="1600" dirty="0"/>
              <a:t> diagonal principal (los cuadrados oscuros y celestes con números más altos): Representan los aciertos del modelo. Cuanto más concentrados estén los números en la diagonal, mejor es el modelo.</a:t>
            </a:r>
            <a:endParaRPr lang="es-AR" sz="1600" dirty="0"/>
          </a:p>
        </p:txBody>
      </p:sp>
      <p:sp>
        <p:nvSpPr>
          <p:cNvPr id="11" name="Rectángulo 10"/>
          <p:cNvSpPr/>
          <p:nvPr/>
        </p:nvSpPr>
        <p:spPr>
          <a:xfrm>
            <a:off x="6798190" y="2085252"/>
            <a:ext cx="5019421" cy="4031873"/>
          </a:xfrm>
          <a:prstGeom prst="rect">
            <a:avLst/>
          </a:prstGeom>
        </p:spPr>
        <p:txBody>
          <a:bodyPr wrap="square">
            <a:spAutoFit/>
          </a:bodyPr>
          <a:lstStyle/>
          <a:p>
            <a:r>
              <a:rPr lang="es-ES" sz="1600" dirty="0"/>
              <a:t>Clase "</a:t>
            </a:r>
            <a:r>
              <a:rPr lang="es-ES" sz="1600" dirty="0" err="1"/>
              <a:t>Abandona":Aciertos</a:t>
            </a:r>
            <a:r>
              <a:rPr lang="es-ES" sz="1600" dirty="0"/>
              <a:t>: El modelo identificó correctamente a 78 estudiantes que </a:t>
            </a:r>
            <a:r>
              <a:rPr lang="es-ES" sz="1600" dirty="0" err="1"/>
              <a:t>abandonaron.Errores</a:t>
            </a:r>
            <a:r>
              <a:rPr lang="es-ES" sz="1600" dirty="0"/>
              <a:t> (Confusiones): Hubo 6 alumnos que abandonaron pero el modelo predijo que iban a Promocionar, y 13 que predijo que iban a </a:t>
            </a:r>
            <a:r>
              <a:rPr lang="es-ES" sz="1600" dirty="0" err="1"/>
              <a:t>Regularizar.Clase</a:t>
            </a:r>
            <a:r>
              <a:rPr lang="es-ES" sz="1600" dirty="0"/>
              <a:t> "</a:t>
            </a:r>
            <a:r>
              <a:rPr lang="es-ES" sz="1600" dirty="0" err="1"/>
              <a:t>Promociona":Aciertos</a:t>
            </a:r>
            <a:r>
              <a:rPr lang="es-ES" sz="1600" dirty="0"/>
              <a:t>: Identificó perfectamente a 50 estudiantes que </a:t>
            </a:r>
            <a:r>
              <a:rPr lang="es-ES" sz="1600" dirty="0" err="1"/>
              <a:t>promocionaron.Dato</a:t>
            </a:r>
            <a:r>
              <a:rPr lang="es-ES" sz="1600" dirty="0"/>
              <a:t> clave (¡Cero confusiones críticas!): 0 alumnos que promocionaron fueron clasificados erróneamente como "Abandona" (el modelo no confunde el éxito rotundo con el abandono). Sin embargo, confundió a 13 alumnos que promocionaban como si fueran a </a:t>
            </a:r>
            <a:r>
              <a:rPr lang="es-ES" sz="1600" dirty="0" err="1"/>
              <a:t>Regularizar.Clase</a:t>
            </a:r>
            <a:r>
              <a:rPr lang="es-ES" sz="1600" dirty="0"/>
              <a:t> "</a:t>
            </a:r>
            <a:r>
              <a:rPr lang="es-ES" sz="1600" dirty="0" err="1"/>
              <a:t>Regulariza":Aciertos</a:t>
            </a:r>
            <a:r>
              <a:rPr lang="es-ES" sz="1600" dirty="0"/>
              <a:t>: Es la categoría con más volumen; el modelo acertó en 132 </a:t>
            </a:r>
            <a:r>
              <a:rPr lang="es-ES" sz="1600" dirty="0" err="1"/>
              <a:t>casos.Errores</a:t>
            </a:r>
            <a:r>
              <a:rPr lang="es-ES" sz="1600" dirty="0"/>
              <a:t>: Solo 4 alumnos reales de esta categoría fueron confundidos con Abandona y otros 4 con Promociona.</a:t>
            </a:r>
            <a:endParaRPr lang="es-AR" sz="1600" dirty="0"/>
          </a:p>
        </p:txBody>
      </p:sp>
    </p:spTree>
    <p:extLst>
      <p:ext uri="{BB962C8B-B14F-4D97-AF65-F5344CB8AC3E}">
        <p14:creationId xmlns:p14="http://schemas.microsoft.com/office/powerpoint/2010/main" val="2797898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0217" y="160020"/>
            <a:ext cx="4348480" cy="822960"/>
          </a:xfrm>
          <a:prstGeom prst="rect">
            <a:avLst/>
          </a:prstGeom>
          <a:noFill/>
          <a:ln/>
        </p:spPr>
        <p:txBody>
          <a:bodyPr wrap="square" lIns="0" tIns="0" rIns="0" bIns="0" rtlCol="0" anchor="ctr"/>
          <a:lstStyle/>
          <a:p>
            <a:pPr marL="0" indent="0">
              <a:buNone/>
            </a:pPr>
            <a:r>
              <a:rPr lang="en-US" sz="2800" b="1" dirty="0">
                <a:solidFill>
                  <a:srgbClr val="1C2B36"/>
                </a:solidFill>
                <a:latin typeface="Cambria" pitchFamily="34" charset="0"/>
                <a:ea typeface="Cambria" pitchFamily="34" charset="-122"/>
                <a:cs typeface="Cambria" pitchFamily="34" charset="-120"/>
              </a:rPr>
              <a:t>Matrices de </a:t>
            </a:r>
            <a:r>
              <a:rPr lang="en-US" sz="2800" b="1" dirty="0" err="1">
                <a:solidFill>
                  <a:srgbClr val="1C2B36"/>
                </a:solidFill>
                <a:latin typeface="Cambria" pitchFamily="34" charset="0"/>
                <a:ea typeface="Cambria" pitchFamily="34" charset="-122"/>
                <a:cs typeface="Cambria" pitchFamily="34" charset="-120"/>
              </a:rPr>
              <a:t>confusión</a:t>
            </a:r>
            <a:endParaRPr lang="en-US" sz="2800" dirty="0"/>
          </a:p>
        </p:txBody>
      </p:sp>
      <p:sp>
        <p:nvSpPr>
          <p:cNvPr id="7" name="Text 3"/>
          <p:cNvSpPr/>
          <p:nvPr/>
        </p:nvSpPr>
        <p:spPr>
          <a:xfrm>
            <a:off x="457200" y="6473952"/>
            <a:ext cx="86868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TP Hackatón · Informática y Análisis 1 — Predicción de rendimiento académico</a:t>
            </a:r>
            <a:endParaRPr lang="en-US" sz="900" dirty="0"/>
          </a:p>
        </p:txBody>
      </p:sp>
      <p:sp>
        <p:nvSpPr>
          <p:cNvPr id="8" name="Text 4"/>
          <p:cNvSpPr/>
          <p:nvPr/>
        </p:nvSpPr>
        <p:spPr>
          <a:xfrm>
            <a:off x="10817352" y="6473952"/>
            <a:ext cx="9144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7</a:t>
            </a:r>
            <a:endParaRPr lang="en-US" sz="900" dirty="0"/>
          </a:p>
        </p:txBody>
      </p:sp>
      <p:pic>
        <p:nvPicPr>
          <p:cNvPr id="9" name="Imagen 8"/>
          <p:cNvPicPr>
            <a:picLocks noChangeAspect="1"/>
          </p:cNvPicPr>
          <p:nvPr/>
        </p:nvPicPr>
        <p:blipFill>
          <a:blip r:embed="rId3"/>
          <a:stretch>
            <a:fillRect/>
          </a:stretch>
        </p:blipFill>
        <p:spPr>
          <a:xfrm>
            <a:off x="370936" y="1815637"/>
            <a:ext cx="6150013" cy="4932635"/>
          </a:xfrm>
          <a:prstGeom prst="rect">
            <a:avLst/>
          </a:prstGeom>
        </p:spPr>
      </p:pic>
      <p:sp>
        <p:nvSpPr>
          <p:cNvPr id="10" name="Rectángulo 9"/>
          <p:cNvSpPr/>
          <p:nvPr/>
        </p:nvSpPr>
        <p:spPr>
          <a:xfrm>
            <a:off x="625326" y="866683"/>
            <a:ext cx="10554335" cy="830997"/>
          </a:xfrm>
          <a:prstGeom prst="rect">
            <a:avLst/>
          </a:prstGeom>
        </p:spPr>
        <p:txBody>
          <a:bodyPr wrap="square">
            <a:spAutoFit/>
          </a:bodyPr>
          <a:lstStyle/>
          <a:p>
            <a:r>
              <a:rPr lang="es-ES" sz="1600" dirty="0"/>
              <a:t>Eje Y (True </a:t>
            </a:r>
            <a:r>
              <a:rPr lang="es-ES" sz="1600" dirty="0" err="1"/>
              <a:t>label</a:t>
            </a:r>
            <a:r>
              <a:rPr lang="es-ES" sz="1600" dirty="0"/>
              <a:t>): Lo que los estudiantes realmente hicieron en la </a:t>
            </a:r>
            <a:r>
              <a:rPr lang="es-ES" sz="1600" dirty="0" err="1"/>
              <a:t>realidad.Eje</a:t>
            </a:r>
            <a:r>
              <a:rPr lang="es-ES" sz="1600" dirty="0"/>
              <a:t> X (</a:t>
            </a:r>
            <a:r>
              <a:rPr lang="es-ES" sz="1600" dirty="0" err="1"/>
              <a:t>Predicted</a:t>
            </a:r>
            <a:r>
              <a:rPr lang="es-ES" sz="1600" dirty="0"/>
              <a:t> </a:t>
            </a:r>
            <a:r>
              <a:rPr lang="es-ES" sz="1600" dirty="0" err="1"/>
              <a:t>label</a:t>
            </a:r>
            <a:r>
              <a:rPr lang="es-ES" sz="1600" dirty="0"/>
              <a:t>): Lo que el modelo predijo que </a:t>
            </a:r>
            <a:r>
              <a:rPr lang="es-ES" sz="1600" dirty="0" err="1"/>
              <a:t>harían.La</a:t>
            </a:r>
            <a:r>
              <a:rPr lang="es-ES" sz="1600" dirty="0"/>
              <a:t> diagonal principal (los cuadrados oscuros y celestes con números más altos): Representan los aciertos del modelo. Cuanto más concentrados estén los números en la diagonal, mejor es el modelo.</a:t>
            </a:r>
            <a:endParaRPr lang="es-AR" sz="1600" dirty="0"/>
          </a:p>
        </p:txBody>
      </p:sp>
      <p:sp>
        <p:nvSpPr>
          <p:cNvPr id="4" name="Rectángulo 3"/>
          <p:cNvSpPr/>
          <p:nvPr/>
        </p:nvSpPr>
        <p:spPr>
          <a:xfrm>
            <a:off x="7201757" y="2442499"/>
            <a:ext cx="3884486" cy="3046988"/>
          </a:xfrm>
          <a:prstGeom prst="rect">
            <a:avLst/>
          </a:prstGeom>
        </p:spPr>
        <p:txBody>
          <a:bodyPr wrap="square">
            <a:spAutoFit/>
          </a:bodyPr>
          <a:lstStyle/>
          <a:p>
            <a:r>
              <a:rPr lang="es-ES" sz="1600" dirty="0" err="1"/>
              <a:t>Accuracy</a:t>
            </a:r>
            <a:r>
              <a:rPr lang="es-ES" sz="1600" dirty="0"/>
              <a:t> (Exactitud global) 86.7%: De cada 100 estudiantes, el modelo clasifica correctamente la condición final de casi 87, lo cual es un excelente resultado para un problema de predicción educativa.</a:t>
            </a:r>
          </a:p>
          <a:p>
            <a:endParaRPr lang="es-ES" sz="1600" dirty="0"/>
          </a:p>
          <a:p>
            <a:r>
              <a:rPr lang="es-ES" sz="1600" dirty="0"/>
              <a:t>Precisión y </a:t>
            </a:r>
            <a:r>
              <a:rPr lang="es-ES" sz="1600" dirty="0" err="1"/>
              <a:t>Recall</a:t>
            </a:r>
            <a:r>
              <a:rPr lang="es-ES" sz="1600" dirty="0"/>
              <a:t> equilibrados: El modelo demuestra un comportamiento muy sólido, destacándose especialmente en la detección de alumnos que regularizan y en la identificación limpia de los extremos (abandono y promoción).</a:t>
            </a:r>
            <a:endParaRPr lang="es-AR" sz="1600" dirty="0"/>
          </a:p>
        </p:txBody>
      </p:sp>
    </p:spTree>
    <p:extLst>
      <p:ext uri="{BB962C8B-B14F-4D97-AF65-F5344CB8AC3E}">
        <p14:creationId xmlns:p14="http://schemas.microsoft.com/office/powerpoint/2010/main" val="3107269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38340" y="1371012"/>
            <a:ext cx="4640775" cy="2585323"/>
          </a:xfrm>
          <a:prstGeom prst="rect">
            <a:avLst/>
          </a:prstGeom>
        </p:spPr>
        <p:txBody>
          <a:bodyPr wrap="square">
            <a:spAutoFit/>
          </a:bodyPr>
          <a:lstStyle/>
          <a:p>
            <a:r>
              <a:rPr lang="es-ES" dirty="0"/>
              <a:t>Las métricas que se analizaron por clase son:   </a:t>
            </a:r>
            <a:r>
              <a:rPr lang="es-ES" dirty="0" err="1"/>
              <a:t>Precision</a:t>
            </a:r>
            <a:r>
              <a:rPr lang="es-ES" dirty="0"/>
              <a:t> (Precisión): De todos los estudiantes que el modelo dijo que iban a una condición, ¿cuántos eran realmente correctos?</a:t>
            </a:r>
          </a:p>
          <a:p>
            <a:r>
              <a:rPr lang="es-ES" dirty="0"/>
              <a:t>Ejemplo: Mirando la clase Abandona, tiene un 0.95 (95%). Significa que cuando el modelo predice que un alumno va a abandonar, casi siempre acierta y hay muy pocas falsas alarmas.</a:t>
            </a:r>
          </a:p>
          <a:p>
            <a:r>
              <a:rPr lang="es-ES" dirty="0"/>
              <a:t>.</a:t>
            </a:r>
            <a:endParaRPr lang="es-AR" dirty="0"/>
          </a:p>
        </p:txBody>
      </p:sp>
      <p:pic>
        <p:nvPicPr>
          <p:cNvPr id="3" name="Imagen 2"/>
          <p:cNvPicPr>
            <a:picLocks noChangeAspect="1"/>
          </p:cNvPicPr>
          <p:nvPr/>
        </p:nvPicPr>
        <p:blipFill>
          <a:blip r:embed="rId2"/>
          <a:stretch>
            <a:fillRect/>
          </a:stretch>
        </p:blipFill>
        <p:spPr>
          <a:xfrm>
            <a:off x="5314853" y="1144506"/>
            <a:ext cx="6764997" cy="2986351"/>
          </a:xfrm>
          <a:prstGeom prst="rect">
            <a:avLst/>
          </a:prstGeom>
        </p:spPr>
      </p:pic>
      <p:sp>
        <p:nvSpPr>
          <p:cNvPr id="4" name="Text 1"/>
          <p:cNvSpPr/>
          <p:nvPr/>
        </p:nvSpPr>
        <p:spPr>
          <a:xfrm>
            <a:off x="548640" y="150525"/>
            <a:ext cx="11064240" cy="822960"/>
          </a:xfrm>
          <a:prstGeom prst="rect">
            <a:avLst/>
          </a:prstGeom>
          <a:noFill/>
          <a:ln/>
        </p:spPr>
        <p:txBody>
          <a:bodyPr wrap="square" lIns="0" tIns="0" rIns="0" bIns="0" rtlCol="0" anchor="ctr"/>
          <a:lstStyle/>
          <a:p>
            <a:r>
              <a:rPr lang="en-US" sz="2800" b="1" dirty="0">
                <a:solidFill>
                  <a:srgbClr val="1C2B36"/>
                </a:solidFill>
                <a:latin typeface="Cambria" pitchFamily="34" charset="0"/>
                <a:ea typeface="Cambria" pitchFamily="34" charset="-122"/>
                <a:cs typeface="Cambria" pitchFamily="34" charset="-120"/>
              </a:rPr>
              <a:t>6. </a:t>
            </a:r>
            <a:r>
              <a:rPr lang="en-US" sz="2800" b="1" dirty="0" err="1">
                <a:solidFill>
                  <a:srgbClr val="1C2B36"/>
                </a:solidFill>
                <a:latin typeface="Cambria" pitchFamily="34" charset="0"/>
                <a:ea typeface="Cambria" pitchFamily="34" charset="-122"/>
                <a:cs typeface="Cambria" pitchFamily="34" charset="-120"/>
              </a:rPr>
              <a:t>Métricas</a:t>
            </a:r>
            <a:r>
              <a:rPr lang="en-US" sz="2800" b="1" dirty="0">
                <a:solidFill>
                  <a:srgbClr val="1C2B36"/>
                </a:solidFill>
                <a:latin typeface="Cambria" pitchFamily="34" charset="0"/>
                <a:ea typeface="Cambria" pitchFamily="34" charset="-122"/>
                <a:cs typeface="Cambria" pitchFamily="34" charset="-120"/>
              </a:rPr>
              <a:t> </a:t>
            </a:r>
            <a:r>
              <a:rPr lang="en-US" sz="2800" b="1" dirty="0" err="1">
                <a:solidFill>
                  <a:srgbClr val="1C2B36"/>
                </a:solidFill>
                <a:latin typeface="Cambria" pitchFamily="34" charset="0"/>
                <a:ea typeface="Cambria" pitchFamily="34" charset="-122"/>
                <a:cs typeface="Cambria" pitchFamily="34" charset="-120"/>
              </a:rPr>
              <a:t>Precisión</a:t>
            </a:r>
            <a:r>
              <a:rPr lang="en-US" sz="2800" b="1" dirty="0">
                <a:solidFill>
                  <a:srgbClr val="1C2B36"/>
                </a:solidFill>
                <a:latin typeface="Cambria" pitchFamily="34" charset="0"/>
                <a:ea typeface="Cambria" pitchFamily="34" charset="-122"/>
                <a:cs typeface="Cambria" pitchFamily="34" charset="-120"/>
              </a:rPr>
              <a:t>, Recall, F1-Score </a:t>
            </a:r>
            <a:endParaRPr lang="en-US" sz="2800" dirty="0"/>
          </a:p>
        </p:txBody>
      </p:sp>
      <p:sp>
        <p:nvSpPr>
          <p:cNvPr id="5" name="Rectángulo 4"/>
          <p:cNvSpPr/>
          <p:nvPr/>
        </p:nvSpPr>
        <p:spPr>
          <a:xfrm>
            <a:off x="381288" y="4285813"/>
            <a:ext cx="4754880" cy="2031325"/>
          </a:xfrm>
          <a:prstGeom prst="rect">
            <a:avLst/>
          </a:prstGeom>
        </p:spPr>
        <p:txBody>
          <a:bodyPr wrap="square">
            <a:spAutoFit/>
          </a:bodyPr>
          <a:lstStyle/>
          <a:p>
            <a:r>
              <a:rPr lang="es-ES" dirty="0" err="1"/>
              <a:t>Recall</a:t>
            </a:r>
            <a:r>
              <a:rPr lang="es-ES" dirty="0"/>
              <a:t> (Exhaustividad o Sensibilidad): De todos los estudiantes que en la realidad pertenecían a esa categoría, ¿cuántos fue capaz de detectar el </a:t>
            </a:r>
            <a:r>
              <a:rPr lang="es-ES" dirty="0" err="1"/>
              <a:t>modelo?Ejemplo</a:t>
            </a:r>
            <a:r>
              <a:rPr lang="es-ES" dirty="0"/>
              <a:t>: En Regulariza, tiene un 0.94 (94%). Significa que el modelo capturó prácticamente a todos los alumnos que regularizaron, sin dejar casi ninguno afuera</a:t>
            </a:r>
            <a:endParaRPr lang="es-AR" dirty="0"/>
          </a:p>
        </p:txBody>
      </p:sp>
      <p:sp>
        <p:nvSpPr>
          <p:cNvPr id="6" name="Rectángulo 5"/>
          <p:cNvSpPr/>
          <p:nvPr/>
        </p:nvSpPr>
        <p:spPr>
          <a:xfrm>
            <a:off x="6668086" y="4358149"/>
            <a:ext cx="5064369" cy="1754326"/>
          </a:xfrm>
          <a:prstGeom prst="rect">
            <a:avLst/>
          </a:prstGeom>
        </p:spPr>
        <p:txBody>
          <a:bodyPr wrap="square">
            <a:spAutoFit/>
          </a:bodyPr>
          <a:lstStyle/>
          <a:p>
            <a:r>
              <a:rPr lang="es-ES" dirty="0"/>
              <a:t>F1-Score: Es la media armónica entre la Precisión y el </a:t>
            </a:r>
            <a:r>
              <a:rPr lang="es-ES" dirty="0" err="1"/>
              <a:t>Recall</a:t>
            </a:r>
            <a:r>
              <a:rPr lang="es-ES" dirty="0"/>
              <a:t>. Es una métrica de equilibrio: te dice qué tan robusto es el modelo para esa clase en particular combinando ambas cosas. (Vemos que en todas las clases ronda el 0.81 - 0.89, lo cual es excelente).</a:t>
            </a:r>
            <a:endParaRPr lang="es-AR" dirty="0"/>
          </a:p>
        </p:txBody>
      </p:sp>
    </p:spTree>
    <p:extLst>
      <p:ext uri="{BB962C8B-B14F-4D97-AF65-F5344CB8AC3E}">
        <p14:creationId xmlns:p14="http://schemas.microsoft.com/office/powerpoint/2010/main" val="40414269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4281267" y="382642"/>
            <a:ext cx="7529597" cy="3323877"/>
          </a:xfrm>
          <a:prstGeom prst="rect">
            <a:avLst/>
          </a:prstGeom>
        </p:spPr>
      </p:pic>
      <p:sp>
        <p:nvSpPr>
          <p:cNvPr id="4" name="Rectángulo 3"/>
          <p:cNvSpPr/>
          <p:nvPr/>
        </p:nvSpPr>
        <p:spPr>
          <a:xfrm>
            <a:off x="508000" y="4201160"/>
            <a:ext cx="10563274" cy="2308324"/>
          </a:xfrm>
          <a:prstGeom prst="rect">
            <a:avLst/>
          </a:prstGeom>
        </p:spPr>
        <p:txBody>
          <a:bodyPr wrap="square">
            <a:spAutoFit/>
          </a:bodyPr>
          <a:lstStyle/>
          <a:p>
            <a:r>
              <a:rPr lang="es-ES" dirty="0"/>
              <a:t>Los promedios globales de cierre (Macro </a:t>
            </a:r>
            <a:r>
              <a:rPr lang="es-ES" dirty="0" err="1"/>
              <a:t>avg</a:t>
            </a:r>
            <a:r>
              <a:rPr lang="es-ES" dirty="0"/>
              <a:t> y </a:t>
            </a:r>
            <a:r>
              <a:rPr lang="es-ES" dirty="0" err="1"/>
              <a:t>Weighted</a:t>
            </a:r>
            <a:r>
              <a:rPr lang="es-ES" dirty="0"/>
              <a:t> </a:t>
            </a:r>
            <a:r>
              <a:rPr lang="es-ES" dirty="0" err="1"/>
              <a:t>avg</a:t>
            </a:r>
            <a:r>
              <a:rPr lang="es-ES" dirty="0"/>
              <a:t>)</a:t>
            </a:r>
          </a:p>
          <a:p>
            <a:r>
              <a:rPr lang="es-ES" dirty="0"/>
              <a:t>Como tenemos tres clases distintas (Abandona, Promociona, Regulariza), Python calcula promedios globales para resumir el reporte:</a:t>
            </a:r>
          </a:p>
          <a:p>
            <a:r>
              <a:rPr lang="es-ES" dirty="0"/>
              <a:t>Macro </a:t>
            </a:r>
            <a:r>
              <a:rPr lang="es-ES" dirty="0" err="1"/>
              <a:t>avg</a:t>
            </a:r>
            <a:r>
              <a:rPr lang="es-ES" dirty="0"/>
              <a:t> (Promedio macro): Saca el promedio simple de las métricas de las tres clases, dándole el mismo peso a todas por igual, sin importar si una clase tiene muchos alumnos y otra pocos. (Aquí da 0.86 - 0.87).</a:t>
            </a:r>
          </a:p>
          <a:p>
            <a:r>
              <a:rPr lang="es-ES" dirty="0" err="1"/>
              <a:t>Weighted</a:t>
            </a:r>
            <a:r>
              <a:rPr lang="es-ES" dirty="0"/>
              <a:t> </a:t>
            </a:r>
            <a:r>
              <a:rPr lang="es-ES" dirty="0" err="1"/>
              <a:t>avg</a:t>
            </a:r>
            <a:r>
              <a:rPr lang="es-ES" dirty="0"/>
              <a:t> (Promedio ponderado): Saca el promedio teniendo en cuenta la cantidad de alumnos (</a:t>
            </a:r>
            <a:r>
              <a:rPr lang="es-ES" dirty="0" err="1"/>
              <a:t>support</a:t>
            </a:r>
            <a:r>
              <a:rPr lang="es-ES" dirty="0"/>
              <a:t>) de cada clase. Como "Regulariza" tiene más estudiantes (140) que "Promociona" (63), esta métrica le da más peso a las clases más pobladas. (Aquí también da 0.87).</a:t>
            </a:r>
            <a:endParaRPr lang="es-AR" dirty="0"/>
          </a:p>
        </p:txBody>
      </p:sp>
      <p:sp>
        <p:nvSpPr>
          <p:cNvPr id="5" name="Rectángulo 4"/>
          <p:cNvSpPr/>
          <p:nvPr/>
        </p:nvSpPr>
        <p:spPr>
          <a:xfrm>
            <a:off x="469314" y="954337"/>
            <a:ext cx="3677920" cy="3139321"/>
          </a:xfrm>
          <a:prstGeom prst="rect">
            <a:avLst/>
          </a:prstGeom>
        </p:spPr>
        <p:txBody>
          <a:bodyPr wrap="square">
            <a:spAutoFit/>
          </a:bodyPr>
          <a:lstStyle/>
          <a:p>
            <a:r>
              <a:rPr lang="es-ES" dirty="0"/>
              <a:t>"Si bien la exactitud global (</a:t>
            </a:r>
            <a:r>
              <a:rPr lang="es-ES" dirty="0" err="1"/>
              <a:t>accuracy</a:t>
            </a:r>
            <a:r>
              <a:rPr lang="es-ES" dirty="0"/>
              <a:t>) es del 86.7%, el reporte de clasificación nos muestra que el modelo mantiene un equilibrio muy sólido en las métricas de macro </a:t>
            </a:r>
            <a:r>
              <a:rPr lang="es-ES" dirty="0" err="1"/>
              <a:t>avg</a:t>
            </a:r>
            <a:r>
              <a:rPr lang="es-ES" dirty="0"/>
              <a:t> y </a:t>
            </a:r>
            <a:r>
              <a:rPr lang="es-ES" dirty="0" err="1"/>
              <a:t>weighted</a:t>
            </a:r>
            <a:r>
              <a:rPr lang="es-ES" dirty="0"/>
              <a:t> </a:t>
            </a:r>
            <a:r>
              <a:rPr lang="es-ES" dirty="0" err="1"/>
              <a:t>avg</a:t>
            </a:r>
            <a:r>
              <a:rPr lang="es-ES" dirty="0"/>
              <a:t> (ambas en 0.87), confirmando que no está sesgado hacia ninguna categoría en particular y rinde de manera pareja tanto en los extremos como en los casos masivos."</a:t>
            </a:r>
            <a:endParaRPr lang="es-AR" dirty="0"/>
          </a:p>
        </p:txBody>
      </p:sp>
      <p:sp>
        <p:nvSpPr>
          <p:cNvPr id="6" name="Text 1"/>
          <p:cNvSpPr/>
          <p:nvPr/>
        </p:nvSpPr>
        <p:spPr>
          <a:xfrm>
            <a:off x="548640" y="150525"/>
            <a:ext cx="11064240" cy="822960"/>
          </a:xfrm>
          <a:prstGeom prst="rect">
            <a:avLst/>
          </a:prstGeom>
          <a:noFill/>
          <a:ln/>
        </p:spPr>
        <p:txBody>
          <a:bodyPr wrap="square" lIns="0" tIns="0" rIns="0" bIns="0" rtlCol="0" anchor="ctr"/>
          <a:lstStyle/>
          <a:p>
            <a:r>
              <a:rPr lang="en-US" sz="2800" b="1" dirty="0">
                <a:solidFill>
                  <a:srgbClr val="1C2B36"/>
                </a:solidFill>
                <a:latin typeface="Cambria" pitchFamily="34" charset="0"/>
                <a:ea typeface="Cambria" pitchFamily="34" charset="-122"/>
                <a:cs typeface="Cambria" pitchFamily="34" charset="-120"/>
              </a:rPr>
              <a:t>6. </a:t>
            </a:r>
            <a:r>
              <a:rPr lang="en-US" sz="2800" b="1" dirty="0" err="1">
                <a:solidFill>
                  <a:srgbClr val="1C2B36"/>
                </a:solidFill>
                <a:latin typeface="Cambria" pitchFamily="34" charset="0"/>
                <a:ea typeface="Cambria" pitchFamily="34" charset="-122"/>
                <a:cs typeface="Cambria" pitchFamily="34" charset="-120"/>
              </a:rPr>
              <a:t>Métricas</a:t>
            </a:r>
            <a:r>
              <a:rPr lang="en-US" sz="2800" b="1" dirty="0">
                <a:solidFill>
                  <a:srgbClr val="1C2B36"/>
                </a:solidFill>
                <a:latin typeface="Cambria" pitchFamily="34" charset="0"/>
                <a:ea typeface="Cambria" pitchFamily="34" charset="-122"/>
                <a:cs typeface="Cambria" pitchFamily="34" charset="-120"/>
              </a:rPr>
              <a:t> AVG</a:t>
            </a:r>
            <a:endParaRPr lang="en-US" sz="2800" dirty="0"/>
          </a:p>
        </p:txBody>
      </p:sp>
    </p:spTree>
    <p:extLst>
      <p:ext uri="{BB962C8B-B14F-4D97-AF65-F5344CB8AC3E}">
        <p14:creationId xmlns:p14="http://schemas.microsoft.com/office/powerpoint/2010/main" val="41840676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1">
    <p:bg>
      <p:bgPr>
        <a:solidFill>
          <a:srgbClr val="16324F"/>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486400" cy="5486400"/>
          </a:xfrm>
          <a:prstGeom prst="ellipse">
            <a:avLst/>
          </a:prstGeom>
          <a:solidFill>
            <a:srgbClr val="1E4569"/>
          </a:solidFill>
          <a:ln/>
        </p:spPr>
      </p:sp>
      <p:sp>
        <p:nvSpPr>
          <p:cNvPr id="4" name="Text 2"/>
          <p:cNvSpPr/>
          <p:nvPr/>
        </p:nvSpPr>
        <p:spPr>
          <a:xfrm>
            <a:off x="548640" y="713232"/>
            <a:ext cx="11064240" cy="822960"/>
          </a:xfrm>
          <a:prstGeom prst="rect">
            <a:avLst/>
          </a:prstGeom>
          <a:noFill/>
          <a:ln/>
        </p:spPr>
        <p:txBody>
          <a:bodyPr wrap="square" lIns="0" tIns="0" rIns="0" bIns="0" rtlCol="0" anchor="ctr"/>
          <a:lstStyle/>
          <a:p>
            <a:pPr marL="0" indent="0">
              <a:buNone/>
            </a:pPr>
            <a:r>
              <a:rPr lang="en-US" sz="3000" b="1" dirty="0" err="1">
                <a:solidFill>
                  <a:srgbClr val="FFFFFF"/>
                </a:solidFill>
                <a:latin typeface="Cambria" pitchFamily="34" charset="0"/>
                <a:ea typeface="Cambria" pitchFamily="34" charset="-122"/>
                <a:cs typeface="Cambria" pitchFamily="34" charset="-120"/>
              </a:rPr>
              <a:t>Conclusiones</a:t>
            </a:r>
            <a:endParaRPr lang="en-US" sz="3000" dirty="0"/>
          </a:p>
        </p:txBody>
      </p:sp>
      <p:sp>
        <p:nvSpPr>
          <p:cNvPr id="5" name="Shape 3"/>
          <p:cNvSpPr/>
          <p:nvPr/>
        </p:nvSpPr>
        <p:spPr>
          <a:xfrm>
            <a:off x="548640" y="1993392"/>
            <a:ext cx="347472" cy="347472"/>
          </a:xfrm>
          <a:prstGeom prst="ellipse">
            <a:avLst/>
          </a:prstGeom>
          <a:solidFill>
            <a:srgbClr val="2E86AB"/>
          </a:solidFill>
          <a:ln/>
        </p:spPr>
      </p:sp>
      <p:sp>
        <p:nvSpPr>
          <p:cNvPr id="6" name="Text 4"/>
          <p:cNvSpPr/>
          <p:nvPr/>
        </p:nvSpPr>
        <p:spPr>
          <a:xfrm>
            <a:off x="548640" y="199339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097280" y="1892808"/>
            <a:ext cx="10332720" cy="822960"/>
          </a:xfrm>
          <a:prstGeom prst="rect">
            <a:avLst/>
          </a:prstGeom>
          <a:noFill/>
          <a:ln/>
        </p:spPr>
        <p:txBody>
          <a:bodyPr wrap="square" lIns="0" tIns="0" rIns="0" bIns="0" rtlCol="0" anchor="t"/>
          <a:lstStyle/>
          <a:p>
            <a:pPr marL="0" indent="0">
              <a:lnSpc>
                <a:spcPct val="130000"/>
              </a:lnSpc>
              <a:buNone/>
            </a:pPr>
            <a:r>
              <a:rPr lang="en-US" sz="1350" dirty="0">
                <a:solidFill>
                  <a:srgbClr val="E4ECF2"/>
                </a:solidFill>
                <a:latin typeface="Calibri" pitchFamily="34" charset="0"/>
                <a:ea typeface="Calibri" pitchFamily="34" charset="-122"/>
                <a:cs typeface="Calibri" pitchFamily="34" charset="-120"/>
              </a:rPr>
              <a:t>Random Forest y AdaBoost llegan a un accuracy casi idéntico (86,7% y 87,0%) y coinciden en que Nota Análisis 1, Nota Parcial de Informática y % de Asistencia son las variables que más explican la Condición_Final.</a:t>
            </a:r>
            <a:endParaRPr lang="en-US" sz="1350" dirty="0"/>
          </a:p>
        </p:txBody>
      </p:sp>
      <p:sp>
        <p:nvSpPr>
          <p:cNvPr id="8" name="Shape 6"/>
          <p:cNvSpPr/>
          <p:nvPr/>
        </p:nvSpPr>
        <p:spPr>
          <a:xfrm>
            <a:off x="548640" y="3136392"/>
            <a:ext cx="347472" cy="347472"/>
          </a:xfrm>
          <a:prstGeom prst="ellipse">
            <a:avLst/>
          </a:prstGeom>
          <a:solidFill>
            <a:srgbClr val="2E86AB"/>
          </a:solidFill>
          <a:ln/>
        </p:spPr>
      </p:sp>
      <p:sp>
        <p:nvSpPr>
          <p:cNvPr id="9" name="Text 7"/>
          <p:cNvSpPr/>
          <p:nvPr/>
        </p:nvSpPr>
        <p:spPr>
          <a:xfrm>
            <a:off x="548640" y="313639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97280" y="3035808"/>
            <a:ext cx="10332720" cy="822960"/>
          </a:xfrm>
          <a:prstGeom prst="rect">
            <a:avLst/>
          </a:prstGeom>
          <a:noFill/>
          <a:ln/>
        </p:spPr>
        <p:txBody>
          <a:bodyPr wrap="square" lIns="0" tIns="0" rIns="0" bIns="0" rtlCol="0" anchor="t"/>
          <a:lstStyle/>
          <a:p>
            <a:pPr marL="0" indent="0">
              <a:lnSpc>
                <a:spcPct val="130000"/>
              </a:lnSpc>
              <a:buNone/>
            </a:pPr>
            <a:r>
              <a:rPr lang="en-US" sz="1350" dirty="0">
                <a:solidFill>
                  <a:srgbClr val="E4ECF2"/>
                </a:solidFill>
                <a:latin typeface="Calibri" pitchFamily="34" charset="0"/>
                <a:ea typeface="Calibri" pitchFamily="34" charset="-122"/>
                <a:cs typeface="Calibri" pitchFamily="34" charset="-120"/>
              </a:rPr>
              <a:t>El modelo estima que alrededor de 1 de cada 4 alumnos (≈25%) está en riesgo de no aprobar, con alta confiabilidad para esa clase (precisión 0,95).</a:t>
            </a:r>
            <a:endParaRPr lang="en-US" sz="1350" dirty="0"/>
          </a:p>
        </p:txBody>
      </p:sp>
      <p:sp>
        <p:nvSpPr>
          <p:cNvPr id="11" name="Shape 9"/>
          <p:cNvSpPr/>
          <p:nvPr/>
        </p:nvSpPr>
        <p:spPr>
          <a:xfrm>
            <a:off x="548640" y="4279392"/>
            <a:ext cx="347472" cy="347472"/>
          </a:xfrm>
          <a:prstGeom prst="ellipse">
            <a:avLst/>
          </a:prstGeom>
          <a:solidFill>
            <a:srgbClr val="2E86AB"/>
          </a:solidFill>
          <a:ln/>
        </p:spPr>
      </p:sp>
      <p:sp>
        <p:nvSpPr>
          <p:cNvPr id="12" name="Text 10"/>
          <p:cNvSpPr/>
          <p:nvPr/>
        </p:nvSpPr>
        <p:spPr>
          <a:xfrm>
            <a:off x="548640" y="427939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1"/>
          <p:cNvSpPr/>
          <p:nvPr/>
        </p:nvSpPr>
        <p:spPr>
          <a:xfrm>
            <a:off x="1097280" y="4178808"/>
            <a:ext cx="10332720" cy="822960"/>
          </a:xfrm>
          <a:prstGeom prst="rect">
            <a:avLst/>
          </a:prstGeom>
          <a:noFill/>
          <a:ln/>
        </p:spPr>
        <p:txBody>
          <a:bodyPr wrap="square" lIns="0" tIns="0" rIns="0" bIns="0" rtlCol="0" anchor="t"/>
          <a:lstStyle/>
          <a:p>
            <a:pPr marL="0" indent="0">
              <a:lnSpc>
                <a:spcPct val="130000"/>
              </a:lnSpc>
              <a:buNone/>
            </a:pPr>
            <a:r>
              <a:rPr lang="en-US" sz="1350" dirty="0">
                <a:solidFill>
                  <a:srgbClr val="E4ECF2"/>
                </a:solidFill>
                <a:latin typeface="Calibri" pitchFamily="34" charset="0"/>
                <a:ea typeface="Calibri" pitchFamily="34" charset="-122"/>
                <a:cs typeface="Calibri" pitchFamily="34" charset="-120"/>
              </a:rPr>
              <a:t>La coincidencia entre dos algoritmos de naturaleza distinta (bagging vs. boosting) da respaldo a usar estas variables como base de un sistema de alerta temprana real.</a:t>
            </a:r>
            <a:endParaRPr lang="en-US" sz="1350" dirty="0"/>
          </a:p>
        </p:txBody>
      </p:sp>
      <p:sp>
        <p:nvSpPr>
          <p:cNvPr id="14" name="Text 12"/>
          <p:cNvSpPr/>
          <p:nvPr/>
        </p:nvSpPr>
        <p:spPr>
          <a:xfrm>
            <a:off x="457200" y="6473952"/>
            <a:ext cx="8686800" cy="274320"/>
          </a:xfrm>
          <a:prstGeom prst="rect">
            <a:avLst/>
          </a:prstGeom>
          <a:noFill/>
          <a:ln/>
        </p:spPr>
        <p:txBody>
          <a:bodyPr wrap="square" lIns="0" tIns="0" rIns="0" bIns="0" rtlCol="0" anchor="ctr"/>
          <a:lstStyle/>
          <a:p>
            <a:pPr marL="0" indent="0">
              <a:buNone/>
            </a:pPr>
            <a:r>
              <a:rPr lang="en-US" sz="900" dirty="0">
                <a:solidFill>
                  <a:srgbClr val="9FB3C8"/>
                </a:solidFill>
                <a:latin typeface="Calibri" pitchFamily="34" charset="0"/>
                <a:ea typeface="Calibri" pitchFamily="34" charset="-122"/>
                <a:cs typeface="Calibri" pitchFamily="34" charset="-120"/>
              </a:rPr>
              <a:t>TP Hackatón · Informática y Análisis 1 — Predicción de rendimiento académico</a:t>
            </a:r>
            <a:endParaRPr lang="en-US" sz="900" dirty="0"/>
          </a:p>
        </p:txBody>
      </p:sp>
      <p:sp>
        <p:nvSpPr>
          <p:cNvPr id="15" name="Text 13"/>
          <p:cNvSpPr/>
          <p:nvPr/>
        </p:nvSpPr>
        <p:spPr>
          <a:xfrm>
            <a:off x="10817352" y="6473952"/>
            <a:ext cx="91440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9">
    <p:bg>
      <p:bgPr>
        <a:solidFill>
          <a:srgbClr val="16324F"/>
        </a:solidFill>
        <a:effectLst/>
      </p:bgPr>
    </p:bg>
    <p:spTree>
      <p:nvGrpSpPr>
        <p:cNvPr id="1" name=""/>
        <p:cNvGrpSpPr/>
        <p:nvPr/>
      </p:nvGrpSpPr>
      <p:grpSpPr>
        <a:xfrm>
          <a:off x="0" y="0"/>
          <a:ext cx="0" cy="0"/>
          <a:chOff x="0" y="0"/>
          <a:chExt cx="0" cy="0"/>
        </a:xfrm>
      </p:grpSpPr>
      <p:sp>
        <p:nvSpPr>
          <p:cNvPr id="2" name="Shape 0"/>
          <p:cNvSpPr/>
          <p:nvPr/>
        </p:nvSpPr>
        <p:spPr>
          <a:xfrm>
            <a:off x="0" y="1234440"/>
            <a:ext cx="5486400" cy="5486400"/>
          </a:xfrm>
          <a:prstGeom prst="ellipse">
            <a:avLst/>
          </a:prstGeom>
          <a:solidFill>
            <a:srgbClr val="1E4569"/>
          </a:solidFill>
          <a:ln/>
        </p:spPr>
      </p:sp>
      <p:sp>
        <p:nvSpPr>
          <p:cNvPr id="4" name="Text 2"/>
          <p:cNvSpPr/>
          <p:nvPr/>
        </p:nvSpPr>
        <p:spPr>
          <a:xfrm>
            <a:off x="548640" y="713232"/>
            <a:ext cx="1106424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¿Cuántos alumnos no aprobarán la </a:t>
            </a:r>
            <a:r>
              <a:rPr lang="en-US" sz="3000" b="1" dirty="0" err="1">
                <a:solidFill>
                  <a:srgbClr val="FFFFFF"/>
                </a:solidFill>
                <a:latin typeface="Cambria" pitchFamily="34" charset="0"/>
                <a:ea typeface="Cambria" pitchFamily="34" charset="-122"/>
                <a:cs typeface="Cambria" pitchFamily="34" charset="-120"/>
              </a:rPr>
              <a:t>materia</a:t>
            </a:r>
            <a:r>
              <a:rPr lang="en-US" sz="3000" b="1" dirty="0">
                <a:solidFill>
                  <a:srgbClr val="FFFFFF"/>
                </a:solidFill>
                <a:latin typeface="Cambria" pitchFamily="34" charset="0"/>
                <a:ea typeface="Cambria" pitchFamily="34" charset="-122"/>
                <a:cs typeface="Cambria" pitchFamily="34" charset="-120"/>
              </a:rPr>
              <a:t> </a:t>
            </a:r>
            <a:r>
              <a:rPr lang="en-US" sz="3000" b="1" dirty="0" err="1">
                <a:solidFill>
                  <a:srgbClr val="FFFFFF"/>
                </a:solidFill>
                <a:latin typeface="Cambria" pitchFamily="34" charset="0"/>
                <a:ea typeface="Cambria" pitchFamily="34" charset="-122"/>
                <a:cs typeface="Cambria" pitchFamily="34" charset="-120"/>
              </a:rPr>
              <a:t>Informática</a:t>
            </a:r>
            <a:r>
              <a:rPr lang="en-US" sz="3000" b="1" dirty="0">
                <a:solidFill>
                  <a:srgbClr val="FFFFFF"/>
                </a:solidFill>
                <a:latin typeface="Cambria" pitchFamily="34" charset="0"/>
                <a:ea typeface="Cambria" pitchFamily="34" charset="-122"/>
                <a:cs typeface="Cambria" pitchFamily="34" charset="-120"/>
              </a:rPr>
              <a:t> 1 </a:t>
            </a:r>
            <a:r>
              <a:rPr lang="en-US" sz="3000" b="1" dirty="0" err="1">
                <a:solidFill>
                  <a:srgbClr val="FFFFFF"/>
                </a:solidFill>
                <a:latin typeface="Cambria" pitchFamily="34" charset="0"/>
                <a:ea typeface="Cambria" pitchFamily="34" charset="-122"/>
                <a:cs typeface="Cambria" pitchFamily="34" charset="-120"/>
              </a:rPr>
              <a:t>según</a:t>
            </a:r>
            <a:r>
              <a:rPr lang="en-US" sz="3000" b="1" dirty="0">
                <a:solidFill>
                  <a:srgbClr val="FFFFFF"/>
                </a:solidFill>
                <a:latin typeface="Cambria" pitchFamily="34" charset="0"/>
                <a:ea typeface="Cambria" pitchFamily="34" charset="-122"/>
                <a:cs typeface="Cambria" pitchFamily="34" charset="-120"/>
              </a:rPr>
              <a:t> el ML?</a:t>
            </a:r>
            <a:endParaRPr lang="en-US" sz="3000" dirty="0"/>
          </a:p>
        </p:txBody>
      </p:sp>
      <p:sp>
        <p:nvSpPr>
          <p:cNvPr id="5" name="Shape 3"/>
          <p:cNvSpPr/>
          <p:nvPr/>
        </p:nvSpPr>
        <p:spPr>
          <a:xfrm>
            <a:off x="548640" y="1920240"/>
            <a:ext cx="3657600" cy="3657600"/>
          </a:xfrm>
          <a:prstGeom prst="roundRect">
            <a:avLst>
              <a:gd name="adj" fmla="val 2500"/>
            </a:avLst>
          </a:prstGeom>
          <a:solidFill>
            <a:srgbClr val="0F2338"/>
          </a:solidFill>
          <a:ln/>
        </p:spPr>
      </p:sp>
      <p:sp>
        <p:nvSpPr>
          <p:cNvPr id="6" name="Text 4"/>
          <p:cNvSpPr/>
          <p:nvPr/>
        </p:nvSpPr>
        <p:spPr>
          <a:xfrm>
            <a:off x="548640" y="2286000"/>
            <a:ext cx="3657600" cy="1371600"/>
          </a:xfrm>
          <a:prstGeom prst="rect">
            <a:avLst/>
          </a:prstGeom>
          <a:noFill/>
          <a:ln/>
        </p:spPr>
        <p:txBody>
          <a:bodyPr wrap="square" lIns="0" tIns="0" rIns="0" bIns="0" rtlCol="0" anchor="ctr"/>
          <a:lstStyle/>
          <a:p>
            <a:pPr marL="0" indent="0" algn="ctr">
              <a:buNone/>
            </a:pPr>
            <a:r>
              <a:rPr lang="en-US" sz="6800" b="1" dirty="0">
                <a:solidFill>
                  <a:srgbClr val="E8743B"/>
                </a:solidFill>
                <a:latin typeface="Cambria" pitchFamily="34" charset="0"/>
                <a:ea typeface="Cambria" pitchFamily="34" charset="-122"/>
                <a:cs typeface="Cambria" pitchFamily="34" charset="-120"/>
              </a:rPr>
              <a:t>381</a:t>
            </a:r>
            <a:endParaRPr lang="en-US" sz="6800" dirty="0"/>
          </a:p>
        </p:txBody>
      </p:sp>
      <p:sp>
        <p:nvSpPr>
          <p:cNvPr id="7" name="Text 5"/>
          <p:cNvSpPr/>
          <p:nvPr/>
        </p:nvSpPr>
        <p:spPr>
          <a:xfrm>
            <a:off x="548640" y="3611880"/>
            <a:ext cx="3657600" cy="36576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de 1.500 alumnos</a:t>
            </a:r>
            <a:endParaRPr lang="en-US" sz="1400" dirty="0"/>
          </a:p>
        </p:txBody>
      </p:sp>
      <p:sp>
        <p:nvSpPr>
          <p:cNvPr id="8" name="Text 6"/>
          <p:cNvSpPr/>
          <p:nvPr/>
        </p:nvSpPr>
        <p:spPr>
          <a:xfrm>
            <a:off x="548640" y="3931920"/>
            <a:ext cx="3657600" cy="365760"/>
          </a:xfrm>
          <a:prstGeom prst="rect">
            <a:avLst/>
          </a:prstGeom>
          <a:noFill/>
          <a:ln/>
        </p:spPr>
        <p:txBody>
          <a:bodyPr wrap="square" lIns="0" tIns="0" rIns="0" bIns="0" rtlCol="0" anchor="ctr"/>
          <a:lstStyle/>
          <a:p>
            <a:pPr marL="0" indent="0" algn="ctr">
              <a:buNone/>
            </a:pPr>
            <a:r>
              <a:rPr lang="en-US" sz="1200" dirty="0">
                <a:solidFill>
                  <a:srgbClr val="9FB3C8"/>
                </a:solidFill>
                <a:latin typeface="Calibri" pitchFamily="34" charset="0"/>
                <a:ea typeface="Calibri" pitchFamily="34" charset="-122"/>
                <a:cs typeface="Calibri" pitchFamily="34" charset="-120"/>
              </a:rPr>
              <a:t>25,4% del total</a:t>
            </a:r>
            <a:endParaRPr lang="en-US" sz="1200" dirty="0"/>
          </a:p>
        </p:txBody>
      </p:sp>
      <p:sp>
        <p:nvSpPr>
          <p:cNvPr id="9" name="Text 7"/>
          <p:cNvSpPr/>
          <p:nvPr/>
        </p:nvSpPr>
        <p:spPr>
          <a:xfrm>
            <a:off x="822960" y="4480560"/>
            <a:ext cx="3108960" cy="1005840"/>
          </a:xfrm>
          <a:prstGeom prst="rect">
            <a:avLst/>
          </a:prstGeom>
          <a:noFill/>
          <a:ln/>
        </p:spPr>
        <p:txBody>
          <a:bodyPr wrap="square" lIns="0" tIns="0" rIns="0" bIns="0" rtlCol="0" anchor="ctr"/>
          <a:lstStyle/>
          <a:p>
            <a:pPr marL="0" indent="0" algn="ctr">
              <a:lnSpc>
                <a:spcPct val="125000"/>
              </a:lnSpc>
              <a:buNone/>
            </a:pPr>
            <a:r>
              <a:rPr lang="en-US" sz="1050" i="1" dirty="0">
                <a:solidFill>
                  <a:srgbClr val="C7D6E3"/>
                </a:solidFill>
                <a:latin typeface="Calibri" pitchFamily="34" charset="0"/>
                <a:ea typeface="Calibri" pitchFamily="34" charset="-122"/>
                <a:cs typeface="Calibri" pitchFamily="34" charset="-120"/>
              </a:rPr>
              <a:t>predichos como "Abandona" (no aprueban) por Random Forest sobre el total de la muestra</a:t>
            </a:r>
            <a:endParaRPr lang="en-US" sz="1050" dirty="0"/>
          </a:p>
        </p:txBody>
      </p:sp>
      <p:sp>
        <p:nvSpPr>
          <p:cNvPr id="10" name="Shape 8"/>
          <p:cNvSpPr/>
          <p:nvPr/>
        </p:nvSpPr>
        <p:spPr>
          <a:xfrm>
            <a:off x="4526280" y="1920240"/>
            <a:ext cx="7132320" cy="1691640"/>
          </a:xfrm>
          <a:prstGeom prst="roundRect">
            <a:avLst>
              <a:gd name="adj" fmla="val 4324"/>
            </a:avLst>
          </a:prstGeom>
          <a:solidFill>
            <a:srgbClr val="0F2338"/>
          </a:solidFill>
          <a:ln/>
        </p:spPr>
      </p:sp>
      <p:sp>
        <p:nvSpPr>
          <p:cNvPr id="11" name="Text 9"/>
          <p:cNvSpPr/>
          <p:nvPr/>
        </p:nvSpPr>
        <p:spPr>
          <a:xfrm>
            <a:off x="4800600" y="2084832"/>
            <a:ext cx="6583680" cy="365760"/>
          </a:xfrm>
          <a:prstGeom prst="rect">
            <a:avLst/>
          </a:prstGeom>
          <a:noFill/>
          <a:ln/>
        </p:spPr>
        <p:txBody>
          <a:bodyPr wrap="square" lIns="0" tIns="0" rIns="0" bIns="0" rtlCol="0" anchor="ctr"/>
          <a:lstStyle/>
          <a:p>
            <a:pPr marL="0" indent="0">
              <a:buNone/>
            </a:pPr>
            <a:r>
              <a:rPr lang="en-US" sz="1200" b="1" dirty="0">
                <a:solidFill>
                  <a:srgbClr val="6FB3D9"/>
                </a:solidFill>
                <a:latin typeface="Calibri" pitchFamily="34" charset="0"/>
                <a:ea typeface="Calibri" pitchFamily="34" charset="-122"/>
                <a:cs typeface="Calibri" pitchFamily="34" charset="-120"/>
              </a:rPr>
              <a:t>Sobre el conjunto de test (300 alumnos, nunca vistos)</a:t>
            </a:r>
            <a:endParaRPr lang="en-US" sz="1200" dirty="0"/>
          </a:p>
        </p:txBody>
      </p:sp>
      <p:sp>
        <p:nvSpPr>
          <p:cNvPr id="12" name="Text 10"/>
          <p:cNvSpPr/>
          <p:nvPr/>
        </p:nvSpPr>
        <p:spPr>
          <a:xfrm>
            <a:off x="4800600" y="2423160"/>
            <a:ext cx="6583680"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82</a:t>
            </a:r>
            <a:endParaRPr lang="en-US" sz="2400" dirty="0"/>
          </a:p>
        </p:txBody>
      </p:sp>
      <p:sp>
        <p:nvSpPr>
          <p:cNvPr id="13" name="Text 11"/>
          <p:cNvSpPr/>
          <p:nvPr/>
        </p:nvSpPr>
        <p:spPr>
          <a:xfrm>
            <a:off x="4800600" y="2971800"/>
            <a:ext cx="6675120" cy="594360"/>
          </a:xfrm>
          <a:prstGeom prst="rect">
            <a:avLst/>
          </a:prstGeom>
          <a:noFill/>
          <a:ln/>
        </p:spPr>
        <p:txBody>
          <a:bodyPr wrap="square" lIns="0" tIns="0" rIns="0" bIns="0" rtlCol="0" anchor="ctr"/>
          <a:lstStyle/>
          <a:p>
            <a:pPr marL="0" indent="0">
              <a:lnSpc>
                <a:spcPct val="120000"/>
              </a:lnSpc>
              <a:buNone/>
            </a:pPr>
            <a:r>
              <a:rPr lang="en-US" sz="1050" dirty="0">
                <a:solidFill>
                  <a:srgbClr val="C7D6E3"/>
                </a:solidFill>
                <a:latin typeface="Calibri" pitchFamily="34" charset="0"/>
                <a:ea typeface="Calibri" pitchFamily="34" charset="-122"/>
                <a:cs typeface="Calibri" pitchFamily="34" charset="-120"/>
              </a:rPr>
              <a:t>no aprobarían (27,3%) según Random Forest — 81 según AdaBoost (27,0%): ambos modelos coinciden.</a:t>
            </a:r>
            <a:endParaRPr lang="en-US" sz="1050" dirty="0"/>
          </a:p>
        </p:txBody>
      </p:sp>
      <p:sp>
        <p:nvSpPr>
          <p:cNvPr id="14" name="Shape 12"/>
          <p:cNvSpPr/>
          <p:nvPr/>
        </p:nvSpPr>
        <p:spPr>
          <a:xfrm>
            <a:off x="4526280" y="3886200"/>
            <a:ext cx="7132320" cy="1691640"/>
          </a:xfrm>
          <a:prstGeom prst="roundRect">
            <a:avLst>
              <a:gd name="adj" fmla="val 4324"/>
            </a:avLst>
          </a:prstGeom>
          <a:solidFill>
            <a:srgbClr val="0F2338"/>
          </a:solidFill>
          <a:ln/>
        </p:spPr>
      </p:sp>
      <p:sp>
        <p:nvSpPr>
          <p:cNvPr id="15" name="Text 13"/>
          <p:cNvSpPr/>
          <p:nvPr/>
        </p:nvSpPr>
        <p:spPr>
          <a:xfrm>
            <a:off x="4800600" y="4050792"/>
            <a:ext cx="6583680" cy="365760"/>
          </a:xfrm>
          <a:prstGeom prst="rect">
            <a:avLst/>
          </a:prstGeom>
          <a:noFill/>
          <a:ln/>
        </p:spPr>
        <p:txBody>
          <a:bodyPr wrap="square" lIns="0" tIns="0" rIns="0" bIns="0" rtlCol="0" anchor="ctr"/>
          <a:lstStyle/>
          <a:p>
            <a:pPr marL="0" indent="0">
              <a:buNone/>
            </a:pPr>
            <a:r>
              <a:rPr lang="en-US" sz="1200" b="1" dirty="0">
                <a:solidFill>
                  <a:srgbClr val="6FB3D9"/>
                </a:solidFill>
                <a:latin typeface="Calibri" pitchFamily="34" charset="0"/>
                <a:ea typeface="Calibri" pitchFamily="34" charset="-122"/>
                <a:cs typeface="Calibri" pitchFamily="34" charset="-120"/>
              </a:rPr>
              <a:t>Confiabilidad de la predicción para esa clase</a:t>
            </a:r>
            <a:endParaRPr lang="en-US" sz="1200" dirty="0"/>
          </a:p>
        </p:txBody>
      </p:sp>
      <p:sp>
        <p:nvSpPr>
          <p:cNvPr id="16" name="Text 14"/>
          <p:cNvSpPr/>
          <p:nvPr/>
        </p:nvSpPr>
        <p:spPr>
          <a:xfrm>
            <a:off x="4800600" y="4389120"/>
            <a:ext cx="6583680"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0,95 / 0,80</a:t>
            </a:r>
            <a:endParaRPr lang="en-US" sz="2400" dirty="0"/>
          </a:p>
        </p:txBody>
      </p:sp>
      <p:sp>
        <p:nvSpPr>
          <p:cNvPr id="17" name="Text 15"/>
          <p:cNvSpPr/>
          <p:nvPr/>
        </p:nvSpPr>
        <p:spPr>
          <a:xfrm>
            <a:off x="4800600" y="4937760"/>
            <a:ext cx="6675120" cy="594360"/>
          </a:xfrm>
          <a:prstGeom prst="rect">
            <a:avLst/>
          </a:prstGeom>
          <a:noFill/>
          <a:ln/>
        </p:spPr>
        <p:txBody>
          <a:bodyPr wrap="square" lIns="0" tIns="0" rIns="0" bIns="0" rtlCol="0" anchor="ctr"/>
          <a:lstStyle/>
          <a:p>
            <a:pPr marL="0" indent="0">
              <a:lnSpc>
                <a:spcPct val="120000"/>
              </a:lnSpc>
              <a:buNone/>
            </a:pPr>
            <a:r>
              <a:rPr lang="en-US" sz="1050" dirty="0">
                <a:solidFill>
                  <a:srgbClr val="C7D6E3"/>
                </a:solidFill>
                <a:latin typeface="Calibri" pitchFamily="34" charset="0"/>
                <a:ea typeface="Calibri" pitchFamily="34" charset="-122"/>
                <a:cs typeface="Calibri" pitchFamily="34" charset="-120"/>
              </a:rPr>
              <a:t>precisión y recall de "Abandona": el modelo rara vez marca en falso a un alumno que sí aprueba (pocos falsos positivos).</a:t>
            </a:r>
            <a:endParaRPr lang="en-US" sz="1050" dirty="0"/>
          </a:p>
        </p:txBody>
      </p:sp>
      <p:sp>
        <p:nvSpPr>
          <p:cNvPr id="18" name="Text 16"/>
          <p:cNvSpPr/>
          <p:nvPr/>
        </p:nvSpPr>
        <p:spPr>
          <a:xfrm>
            <a:off x="457200" y="6473952"/>
            <a:ext cx="8686800" cy="274320"/>
          </a:xfrm>
          <a:prstGeom prst="rect">
            <a:avLst/>
          </a:prstGeom>
          <a:noFill/>
          <a:ln/>
        </p:spPr>
        <p:txBody>
          <a:bodyPr wrap="square" lIns="0" tIns="0" rIns="0" bIns="0" rtlCol="0" anchor="ctr"/>
          <a:lstStyle/>
          <a:p>
            <a:pPr marL="0" indent="0">
              <a:buNone/>
            </a:pPr>
            <a:r>
              <a:rPr lang="en-US" sz="900" dirty="0">
                <a:solidFill>
                  <a:srgbClr val="9FB3C8"/>
                </a:solidFill>
                <a:latin typeface="Calibri" pitchFamily="34" charset="0"/>
                <a:ea typeface="Calibri" pitchFamily="34" charset="-122"/>
                <a:cs typeface="Calibri" pitchFamily="34" charset="-120"/>
              </a:rPr>
              <a:t>TP Hackatón · Informática y Análisis 1 — Predicción de rendimiento académico</a:t>
            </a:r>
            <a:endParaRPr lang="en-US" sz="900" dirty="0"/>
          </a:p>
        </p:txBody>
      </p:sp>
      <p:sp>
        <p:nvSpPr>
          <p:cNvPr id="19" name="Text 17"/>
          <p:cNvSpPr/>
          <p:nvPr/>
        </p:nvSpPr>
        <p:spPr>
          <a:xfrm>
            <a:off x="10817352" y="6473952"/>
            <a:ext cx="91440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685800" y="374904"/>
            <a:ext cx="11064240" cy="1051560"/>
          </a:xfrm>
          <a:prstGeom prst="roundRect">
            <a:avLst>
              <a:gd name="adj" fmla="val 6957"/>
            </a:avLst>
          </a:prstGeom>
          <a:solidFill>
            <a:srgbClr val="FDF0E7"/>
          </a:solidFill>
          <a:ln/>
        </p:spPr>
      </p:sp>
      <p:sp>
        <p:nvSpPr>
          <p:cNvPr id="5" name="Text 3"/>
          <p:cNvSpPr/>
          <p:nvPr/>
        </p:nvSpPr>
        <p:spPr>
          <a:xfrm>
            <a:off x="960120" y="608076"/>
            <a:ext cx="10515600" cy="292608"/>
          </a:xfrm>
          <a:prstGeom prst="rect">
            <a:avLst/>
          </a:prstGeom>
          <a:noFill/>
          <a:ln/>
        </p:spPr>
        <p:txBody>
          <a:bodyPr wrap="square" lIns="0" tIns="0" rIns="0" bIns="0" rtlCol="0" anchor="ctr"/>
          <a:lstStyle/>
          <a:p>
            <a:r>
              <a:rPr lang="en-US" sz="3000" b="1" dirty="0">
                <a:latin typeface="Cambria" pitchFamily="34" charset="0"/>
                <a:ea typeface="Cambria" pitchFamily="34" charset="-122"/>
                <a:cs typeface="Cambria" pitchFamily="34" charset="-120"/>
              </a:rPr>
              <a:t>Recomendación institucional</a:t>
            </a:r>
          </a:p>
        </p:txBody>
      </p:sp>
      <p:sp>
        <p:nvSpPr>
          <p:cNvPr id="6" name="Text 4"/>
          <p:cNvSpPr/>
          <p:nvPr/>
        </p:nvSpPr>
        <p:spPr>
          <a:xfrm>
            <a:off x="758952" y="1659636"/>
            <a:ext cx="10515600" cy="566928"/>
          </a:xfrm>
          <a:prstGeom prst="rect">
            <a:avLst/>
          </a:prstGeom>
          <a:noFill/>
          <a:ln/>
        </p:spPr>
        <p:txBody>
          <a:bodyPr wrap="square" lIns="0" tIns="0" rIns="0" bIns="0" rtlCol="0" anchor="ctr"/>
          <a:lstStyle/>
          <a:p>
            <a:pPr marL="0" indent="0">
              <a:lnSpc>
                <a:spcPct val="120000"/>
              </a:lnSpc>
              <a:buNone/>
            </a:pPr>
            <a:r>
              <a:rPr lang="en-US" sz="2000" dirty="0">
                <a:solidFill>
                  <a:srgbClr val="7A4A2E"/>
                </a:solidFill>
                <a:latin typeface="Calibri" pitchFamily="34" charset="0"/>
                <a:ea typeface="Calibri" pitchFamily="34" charset="-122"/>
                <a:cs typeface="Calibri" pitchFamily="34" charset="-120"/>
              </a:rPr>
              <a:t>El parcial 1 de Informática y la asistencia concentran la mayor parte del peso predictivo, un sistema de alerta temprana debería monitorear estas tres variables desde las primeras semanas, priorizando a los alumnos con asistencia por debajo del 45% o notas de parcial menores a 4.</a:t>
            </a:r>
            <a:endParaRPr lang="en-US" sz="2000" dirty="0"/>
          </a:p>
        </p:txBody>
      </p:sp>
      <p:sp>
        <p:nvSpPr>
          <p:cNvPr id="7" name="Shape 5"/>
          <p:cNvSpPr/>
          <p:nvPr/>
        </p:nvSpPr>
        <p:spPr>
          <a:xfrm>
            <a:off x="571500" y="2749008"/>
            <a:ext cx="3611880" cy="2651760"/>
          </a:xfrm>
          <a:prstGeom prst="roundRect">
            <a:avLst>
              <a:gd name="adj" fmla="val 2759"/>
            </a:avLst>
          </a:prstGeom>
          <a:solidFill>
            <a:srgbClr val="F4F6F8"/>
          </a:solidFill>
          <a:ln/>
        </p:spPr>
      </p:sp>
      <p:sp>
        <p:nvSpPr>
          <p:cNvPr id="8" name="Shape 6"/>
          <p:cNvSpPr/>
          <p:nvPr/>
        </p:nvSpPr>
        <p:spPr>
          <a:xfrm>
            <a:off x="548640" y="3027876"/>
            <a:ext cx="3611880" cy="82296"/>
          </a:xfrm>
          <a:prstGeom prst="rect">
            <a:avLst/>
          </a:prstGeom>
          <a:solidFill>
            <a:srgbClr val="FFFFFF"/>
          </a:solidFill>
          <a:ln/>
        </p:spPr>
      </p:sp>
      <p:sp>
        <p:nvSpPr>
          <p:cNvPr id="9" name="Shape 7"/>
          <p:cNvSpPr/>
          <p:nvPr/>
        </p:nvSpPr>
        <p:spPr>
          <a:xfrm>
            <a:off x="822960" y="3206208"/>
            <a:ext cx="457200" cy="457200"/>
          </a:xfrm>
          <a:prstGeom prst="ellipse">
            <a:avLst/>
          </a:prstGeom>
          <a:solidFill>
            <a:srgbClr val="2E86AB"/>
          </a:solidFill>
          <a:ln/>
        </p:spPr>
      </p:sp>
      <p:sp>
        <p:nvSpPr>
          <p:cNvPr id="10" name="Text 8"/>
          <p:cNvSpPr/>
          <p:nvPr/>
        </p:nvSpPr>
        <p:spPr>
          <a:xfrm>
            <a:off x="822960" y="3846288"/>
            <a:ext cx="3108960" cy="457200"/>
          </a:xfrm>
          <a:prstGeom prst="rect">
            <a:avLst/>
          </a:prstGeom>
          <a:noFill/>
          <a:ln/>
        </p:spPr>
        <p:txBody>
          <a:bodyPr wrap="square" lIns="0" tIns="0" rIns="0" bIns="0" rtlCol="0" anchor="ctr"/>
          <a:lstStyle/>
          <a:p>
            <a:pPr marL="0" indent="0">
              <a:buNone/>
            </a:pPr>
            <a:r>
              <a:rPr lang="en-US" sz="1400" b="1" dirty="0">
                <a:solidFill>
                  <a:srgbClr val="1C2B36"/>
                </a:solidFill>
                <a:latin typeface="Cambria" pitchFamily="34" charset="0"/>
                <a:ea typeface="Cambria" pitchFamily="34" charset="-122"/>
                <a:cs typeface="Cambria" pitchFamily="34" charset="-120"/>
              </a:rPr>
              <a:t>Tutorías tempranas</a:t>
            </a:r>
            <a:endParaRPr lang="en-US" sz="1400" dirty="0"/>
          </a:p>
        </p:txBody>
      </p:sp>
      <p:sp>
        <p:nvSpPr>
          <p:cNvPr id="11" name="Text 9"/>
          <p:cNvSpPr/>
          <p:nvPr/>
        </p:nvSpPr>
        <p:spPr>
          <a:xfrm>
            <a:off x="822960" y="4303488"/>
            <a:ext cx="3108960" cy="1234440"/>
          </a:xfrm>
          <a:prstGeom prst="rect">
            <a:avLst/>
          </a:prstGeom>
          <a:noFill/>
          <a:ln/>
        </p:spPr>
        <p:txBody>
          <a:bodyPr wrap="square" lIns="0" tIns="0" rIns="0" bIns="0" rtlCol="0" anchor="ctr"/>
          <a:lstStyle/>
          <a:p>
            <a:pPr marL="0" indent="0">
              <a:lnSpc>
                <a:spcPct val="125000"/>
              </a:lnSpc>
              <a:buNone/>
            </a:pPr>
            <a:r>
              <a:rPr lang="en-US" sz="1100" dirty="0">
                <a:solidFill>
                  <a:srgbClr val="6B7A88"/>
                </a:solidFill>
                <a:latin typeface="Calibri" pitchFamily="34" charset="0"/>
                <a:ea typeface="Calibri" pitchFamily="34" charset="-122"/>
                <a:cs typeface="Calibri" pitchFamily="34" charset="-120"/>
              </a:rPr>
              <a:t>Activar </a:t>
            </a:r>
            <a:r>
              <a:rPr lang="en-US" sz="1100" dirty="0" err="1">
                <a:solidFill>
                  <a:srgbClr val="6B7A88"/>
                </a:solidFill>
                <a:latin typeface="Calibri" pitchFamily="34" charset="0"/>
                <a:ea typeface="Calibri" pitchFamily="34" charset="-122"/>
                <a:cs typeface="Calibri" pitchFamily="34" charset="-120"/>
              </a:rPr>
              <a:t>apoyo</a:t>
            </a:r>
            <a:r>
              <a:rPr lang="en-US" sz="1100" dirty="0">
                <a:solidFill>
                  <a:srgbClr val="6B7A88"/>
                </a:solidFill>
                <a:latin typeface="Calibri" pitchFamily="34" charset="0"/>
                <a:ea typeface="Calibri" pitchFamily="34" charset="-122"/>
                <a:cs typeface="Calibri" pitchFamily="34" charset="-120"/>
              </a:rPr>
              <a:t> </a:t>
            </a:r>
            <a:r>
              <a:rPr lang="en-US" sz="1100" dirty="0" err="1">
                <a:solidFill>
                  <a:srgbClr val="6B7A88"/>
                </a:solidFill>
                <a:latin typeface="Calibri" pitchFamily="34" charset="0"/>
                <a:ea typeface="Calibri" pitchFamily="34" charset="-122"/>
                <a:cs typeface="Calibri" pitchFamily="34" charset="-120"/>
              </a:rPr>
              <a:t>apenas</a:t>
            </a:r>
            <a:r>
              <a:rPr lang="en-US" sz="1100" dirty="0">
                <a:solidFill>
                  <a:srgbClr val="6B7A88"/>
                </a:solidFill>
                <a:latin typeface="Calibri" pitchFamily="34" charset="0"/>
                <a:ea typeface="Calibri" pitchFamily="34" charset="-122"/>
                <a:cs typeface="Calibri" pitchFamily="34" charset="-120"/>
              </a:rPr>
              <a:t> el primer parcial esté por debajo de 4, en lugar de esperar al final del cuatrimestre.</a:t>
            </a:r>
            <a:endParaRPr lang="en-US" sz="1100" dirty="0"/>
          </a:p>
        </p:txBody>
      </p:sp>
      <p:sp>
        <p:nvSpPr>
          <p:cNvPr id="12" name="Shape 10"/>
          <p:cNvSpPr/>
          <p:nvPr/>
        </p:nvSpPr>
        <p:spPr>
          <a:xfrm>
            <a:off x="4389120" y="2977608"/>
            <a:ext cx="3611880" cy="2651760"/>
          </a:xfrm>
          <a:prstGeom prst="roundRect">
            <a:avLst>
              <a:gd name="adj" fmla="val 2759"/>
            </a:avLst>
          </a:prstGeom>
          <a:solidFill>
            <a:srgbClr val="F4F6F8"/>
          </a:solidFill>
          <a:ln/>
        </p:spPr>
      </p:sp>
      <p:sp>
        <p:nvSpPr>
          <p:cNvPr id="13" name="Shape 11"/>
          <p:cNvSpPr/>
          <p:nvPr/>
        </p:nvSpPr>
        <p:spPr>
          <a:xfrm>
            <a:off x="4389120" y="2977608"/>
            <a:ext cx="3611880" cy="82296"/>
          </a:xfrm>
          <a:prstGeom prst="rect">
            <a:avLst/>
          </a:prstGeom>
          <a:solidFill>
            <a:srgbClr val="FFFFFF"/>
          </a:solidFill>
          <a:ln/>
        </p:spPr>
      </p:sp>
      <p:sp>
        <p:nvSpPr>
          <p:cNvPr id="14" name="Shape 12"/>
          <p:cNvSpPr/>
          <p:nvPr/>
        </p:nvSpPr>
        <p:spPr>
          <a:xfrm>
            <a:off x="4663440" y="3206208"/>
            <a:ext cx="457200" cy="457200"/>
          </a:xfrm>
          <a:prstGeom prst="ellipse">
            <a:avLst/>
          </a:prstGeom>
          <a:solidFill>
            <a:srgbClr val="E8743B"/>
          </a:solidFill>
          <a:ln/>
        </p:spPr>
      </p:sp>
      <p:sp>
        <p:nvSpPr>
          <p:cNvPr id="15" name="Text 13"/>
          <p:cNvSpPr/>
          <p:nvPr/>
        </p:nvSpPr>
        <p:spPr>
          <a:xfrm>
            <a:off x="4663440" y="3846288"/>
            <a:ext cx="3108960" cy="457200"/>
          </a:xfrm>
          <a:prstGeom prst="rect">
            <a:avLst/>
          </a:prstGeom>
          <a:noFill/>
          <a:ln/>
        </p:spPr>
        <p:txBody>
          <a:bodyPr wrap="square" lIns="0" tIns="0" rIns="0" bIns="0" rtlCol="0" anchor="ctr"/>
          <a:lstStyle/>
          <a:p>
            <a:pPr marL="0" indent="0">
              <a:buNone/>
            </a:pPr>
            <a:r>
              <a:rPr lang="en-US" sz="1400" b="1" dirty="0">
                <a:solidFill>
                  <a:srgbClr val="1C2B36"/>
                </a:solidFill>
                <a:latin typeface="Cambria" pitchFamily="34" charset="0"/>
                <a:ea typeface="Cambria" pitchFamily="34" charset="-122"/>
                <a:cs typeface="Cambria" pitchFamily="34" charset="-120"/>
              </a:rPr>
              <a:t>Alertas de asistencia</a:t>
            </a:r>
            <a:endParaRPr lang="en-US" sz="1400" dirty="0"/>
          </a:p>
        </p:txBody>
      </p:sp>
      <p:sp>
        <p:nvSpPr>
          <p:cNvPr id="16" name="Text 14"/>
          <p:cNvSpPr/>
          <p:nvPr/>
        </p:nvSpPr>
        <p:spPr>
          <a:xfrm>
            <a:off x="4663440" y="4303488"/>
            <a:ext cx="3108960" cy="1234440"/>
          </a:xfrm>
          <a:prstGeom prst="rect">
            <a:avLst/>
          </a:prstGeom>
          <a:noFill/>
          <a:ln/>
        </p:spPr>
        <p:txBody>
          <a:bodyPr wrap="square" lIns="0" tIns="0" rIns="0" bIns="0" rtlCol="0" anchor="ctr"/>
          <a:lstStyle/>
          <a:p>
            <a:pPr marL="0" indent="0">
              <a:lnSpc>
                <a:spcPct val="125000"/>
              </a:lnSpc>
              <a:buNone/>
            </a:pPr>
            <a:r>
              <a:rPr lang="en-US" sz="1100" dirty="0">
                <a:solidFill>
                  <a:srgbClr val="6B7A88"/>
                </a:solidFill>
                <a:latin typeface="Calibri" pitchFamily="34" charset="0"/>
                <a:ea typeface="Calibri" pitchFamily="34" charset="-122"/>
                <a:cs typeface="Calibri" pitchFamily="34" charset="-120"/>
              </a:rPr>
              <a:t>Notificar automáticamente cuando la asistencia cae debajo del 45%, el umbral que el modelo asocia con abandono.</a:t>
            </a:r>
            <a:endParaRPr lang="en-US" sz="1100" dirty="0"/>
          </a:p>
        </p:txBody>
      </p:sp>
      <p:sp>
        <p:nvSpPr>
          <p:cNvPr id="17" name="Shape 15"/>
          <p:cNvSpPr/>
          <p:nvPr/>
        </p:nvSpPr>
        <p:spPr>
          <a:xfrm>
            <a:off x="8229600" y="3150132"/>
            <a:ext cx="3611880" cy="2651760"/>
          </a:xfrm>
          <a:prstGeom prst="roundRect">
            <a:avLst>
              <a:gd name="adj" fmla="val 2759"/>
            </a:avLst>
          </a:prstGeom>
          <a:solidFill>
            <a:srgbClr val="F4F6F8"/>
          </a:solidFill>
          <a:ln/>
        </p:spPr>
      </p:sp>
      <p:sp>
        <p:nvSpPr>
          <p:cNvPr id="18" name="Shape 16"/>
          <p:cNvSpPr/>
          <p:nvPr/>
        </p:nvSpPr>
        <p:spPr>
          <a:xfrm>
            <a:off x="8229600" y="3150132"/>
            <a:ext cx="3611880" cy="82296"/>
          </a:xfrm>
          <a:prstGeom prst="rect">
            <a:avLst/>
          </a:prstGeom>
          <a:solidFill>
            <a:srgbClr val="FFFFFF"/>
          </a:solidFill>
          <a:ln/>
        </p:spPr>
      </p:sp>
      <p:sp>
        <p:nvSpPr>
          <p:cNvPr id="19" name="Shape 17"/>
          <p:cNvSpPr/>
          <p:nvPr/>
        </p:nvSpPr>
        <p:spPr>
          <a:xfrm>
            <a:off x="8503920" y="3206208"/>
            <a:ext cx="457200" cy="457200"/>
          </a:xfrm>
          <a:prstGeom prst="ellipse">
            <a:avLst/>
          </a:prstGeom>
          <a:solidFill>
            <a:srgbClr val="3DA35D"/>
          </a:solidFill>
          <a:ln/>
        </p:spPr>
      </p:sp>
      <p:sp>
        <p:nvSpPr>
          <p:cNvPr id="20" name="Text 18"/>
          <p:cNvSpPr/>
          <p:nvPr/>
        </p:nvSpPr>
        <p:spPr>
          <a:xfrm>
            <a:off x="8503920" y="3846288"/>
            <a:ext cx="3108960" cy="457200"/>
          </a:xfrm>
          <a:prstGeom prst="rect">
            <a:avLst/>
          </a:prstGeom>
          <a:noFill/>
          <a:ln/>
        </p:spPr>
        <p:txBody>
          <a:bodyPr wrap="square" lIns="0" tIns="0" rIns="0" bIns="0" rtlCol="0" anchor="ctr"/>
          <a:lstStyle/>
          <a:p>
            <a:pPr marL="0" indent="0">
              <a:buNone/>
            </a:pPr>
            <a:r>
              <a:rPr lang="en-US" sz="1400" b="1" dirty="0">
                <a:solidFill>
                  <a:srgbClr val="1C2B36"/>
                </a:solidFill>
                <a:latin typeface="Cambria" pitchFamily="34" charset="0"/>
                <a:ea typeface="Cambria" pitchFamily="34" charset="-122"/>
                <a:cs typeface="Cambria" pitchFamily="34" charset="-120"/>
              </a:rPr>
              <a:t>Reentrenamiento periódico</a:t>
            </a:r>
            <a:endParaRPr lang="en-US" sz="1400" dirty="0"/>
          </a:p>
        </p:txBody>
      </p:sp>
      <p:sp>
        <p:nvSpPr>
          <p:cNvPr id="21" name="Text 19"/>
          <p:cNvSpPr/>
          <p:nvPr/>
        </p:nvSpPr>
        <p:spPr>
          <a:xfrm>
            <a:off x="8503920" y="4303488"/>
            <a:ext cx="3108960" cy="1234440"/>
          </a:xfrm>
          <a:prstGeom prst="rect">
            <a:avLst/>
          </a:prstGeom>
          <a:noFill/>
          <a:ln/>
        </p:spPr>
        <p:txBody>
          <a:bodyPr wrap="square" lIns="0" tIns="0" rIns="0" bIns="0" rtlCol="0" anchor="ctr"/>
          <a:lstStyle/>
          <a:p>
            <a:pPr marL="0" indent="0">
              <a:lnSpc>
                <a:spcPct val="125000"/>
              </a:lnSpc>
              <a:buNone/>
            </a:pPr>
            <a:r>
              <a:rPr lang="en-US" sz="1100" dirty="0">
                <a:solidFill>
                  <a:srgbClr val="6B7A88"/>
                </a:solidFill>
                <a:latin typeface="Calibri" pitchFamily="34" charset="0"/>
                <a:ea typeface="Calibri" pitchFamily="34" charset="-122"/>
                <a:cs typeface="Calibri" pitchFamily="34" charset="-120"/>
              </a:rPr>
              <a:t>Actualizar el modelo cada cuatrimestre con datos reales (sin la variable de ruido de control) para afinar el umbral de riesgo.</a:t>
            </a:r>
            <a:endParaRPr lang="en-US" sz="1100" dirty="0"/>
          </a:p>
        </p:txBody>
      </p:sp>
      <p:sp>
        <p:nvSpPr>
          <p:cNvPr id="22" name="Text 20"/>
          <p:cNvSpPr/>
          <p:nvPr/>
        </p:nvSpPr>
        <p:spPr>
          <a:xfrm>
            <a:off x="457200" y="6473952"/>
            <a:ext cx="8686800" cy="274320"/>
          </a:xfrm>
          <a:prstGeom prst="rect">
            <a:avLst/>
          </a:prstGeom>
          <a:noFill/>
          <a:ln/>
        </p:spPr>
        <p:txBody>
          <a:bodyPr wrap="square" lIns="0" tIns="0" rIns="0" bIns="0" rtlCol="0" anchor="ctr"/>
          <a:lstStyle/>
          <a:p>
            <a:pPr marL="0" indent="0">
              <a:buNone/>
            </a:pPr>
            <a:r>
              <a:rPr lang="en-US" sz="900" dirty="0">
                <a:solidFill>
                  <a:srgbClr val="6B7A88"/>
                </a:solidFill>
                <a:latin typeface="Calibri" pitchFamily="34" charset="0"/>
                <a:ea typeface="Calibri" pitchFamily="34" charset="-122"/>
                <a:cs typeface="Calibri" pitchFamily="34" charset="-120"/>
              </a:rPr>
              <a:t>TP Hackatón · Informática y Análisis 1 — Predicción de rendimiento académico</a:t>
            </a:r>
            <a:endParaRPr lang="en-US" sz="900" dirty="0"/>
          </a:p>
        </p:txBody>
      </p:sp>
      <p:sp>
        <p:nvSpPr>
          <p:cNvPr id="23" name="Text 21"/>
          <p:cNvSpPr/>
          <p:nvPr/>
        </p:nvSpPr>
        <p:spPr>
          <a:xfrm>
            <a:off x="10817352" y="6473952"/>
            <a:ext cx="914400" cy="274320"/>
          </a:xfrm>
          <a:prstGeom prst="rect">
            <a:avLst/>
          </a:prstGeom>
          <a:noFill/>
          <a:ln/>
        </p:spPr>
        <p:txBody>
          <a:bodyPr wrap="square" lIns="0" tIns="0" rIns="0" bIns="0" rtlCol="0" anchor="ctr"/>
          <a:lstStyle/>
          <a:p>
            <a:pPr marL="0" indent="0" algn="r">
              <a:buNone/>
            </a:pPr>
            <a:r>
              <a:rPr lang="en-US" sz="900" dirty="0">
                <a:solidFill>
                  <a:srgbClr val="6B7A88"/>
                </a:solidFill>
                <a:latin typeface="Calibri" pitchFamily="34" charset="0"/>
                <a:ea typeface="Calibri" pitchFamily="34" charset="-122"/>
                <a:cs typeface="Calibri" pitchFamily="34" charset="-120"/>
              </a:rPr>
              <a:t>10</a:t>
            </a:r>
            <a:endParaRPr lang="en-US" sz="900" dirty="0"/>
          </a:p>
        </p:txBody>
      </p:sp>
      <p:pic>
        <p:nvPicPr>
          <p:cNvPr id="3" name="Imagen 2">
            <a:extLst>
              <a:ext uri="{FF2B5EF4-FFF2-40B4-BE49-F238E27FC236}">
                <a16:creationId xmlns:a16="http://schemas.microsoft.com/office/drawing/2014/main" id="{202B157A-E0D0-22DF-B25D-58D427CAC2C9}"/>
              </a:ext>
            </a:extLst>
          </p:cNvPr>
          <p:cNvPicPr>
            <a:picLocks noChangeAspect="1"/>
          </p:cNvPicPr>
          <p:nvPr/>
        </p:nvPicPr>
        <p:blipFill>
          <a:blip r:embed="rId3"/>
          <a:stretch>
            <a:fillRect/>
          </a:stretch>
        </p:blipFill>
        <p:spPr>
          <a:xfrm>
            <a:off x="9360221" y="5832945"/>
            <a:ext cx="2294253" cy="667124"/>
          </a:xfrm>
          <a:prstGeom prst="rect">
            <a:avLst/>
          </a:prstGeom>
        </p:spPr>
      </p:pic>
      <p:sp>
        <p:nvSpPr>
          <p:cNvPr id="25" name="Text 3">
            <a:extLst>
              <a:ext uri="{FF2B5EF4-FFF2-40B4-BE49-F238E27FC236}">
                <a16:creationId xmlns:a16="http://schemas.microsoft.com/office/drawing/2014/main" id="{B69DC02E-411B-924A-B5B4-F56867FBC739}"/>
              </a:ext>
            </a:extLst>
          </p:cNvPr>
          <p:cNvSpPr/>
          <p:nvPr/>
        </p:nvSpPr>
        <p:spPr>
          <a:xfrm>
            <a:off x="1714627" y="5651834"/>
            <a:ext cx="2574355" cy="758952"/>
          </a:xfrm>
          <a:prstGeom prst="rect">
            <a:avLst/>
          </a:prstGeom>
          <a:noFill/>
          <a:ln/>
        </p:spPr>
        <p:txBody>
          <a:bodyPr wrap="square" lIns="0" tIns="0" rIns="0" bIns="0" rtlCol="0" anchor="ctr"/>
          <a:lstStyle/>
          <a:p>
            <a:r>
              <a:rPr lang="en-US" sz="1200" b="1" dirty="0">
                <a:latin typeface="Cambria" pitchFamily="34" charset="0"/>
                <a:ea typeface="Cambria" pitchFamily="34" charset="-122"/>
                <a:cs typeface="Cambria" pitchFamily="34" charset="-120"/>
              </a:rPr>
              <a:t>Toca el </a:t>
            </a:r>
            <a:r>
              <a:rPr lang="en-US" sz="1200" b="1" dirty="0" err="1">
                <a:latin typeface="Cambria" pitchFamily="34" charset="0"/>
                <a:ea typeface="Cambria" pitchFamily="34" charset="-122"/>
                <a:cs typeface="Cambria" pitchFamily="34" charset="-120"/>
              </a:rPr>
              <a:t>icono</a:t>
            </a:r>
            <a:r>
              <a:rPr lang="en-US" sz="1200" b="1" dirty="0">
                <a:latin typeface="Cambria" pitchFamily="34" charset="0"/>
                <a:ea typeface="Cambria" pitchFamily="34" charset="-122"/>
                <a:cs typeface="Cambria" pitchFamily="34" charset="-120"/>
              </a:rPr>
              <a:t> para </a:t>
            </a:r>
            <a:r>
              <a:rPr lang="en-US" sz="1200" b="1" dirty="0" err="1">
                <a:latin typeface="Cambria" pitchFamily="34" charset="0"/>
                <a:ea typeface="Cambria" pitchFamily="34" charset="-122"/>
                <a:cs typeface="Cambria" pitchFamily="34" charset="-120"/>
              </a:rPr>
              <a:t>ir</a:t>
            </a:r>
            <a:r>
              <a:rPr lang="en-US" sz="1200" b="1" dirty="0">
                <a:latin typeface="Cambria" pitchFamily="34" charset="0"/>
                <a:ea typeface="Cambria" pitchFamily="34" charset="-122"/>
                <a:cs typeface="Cambria" pitchFamily="34" charset="-120"/>
              </a:rPr>
              <a:t> a Nuestro </a:t>
            </a:r>
            <a:r>
              <a:rPr lang="en-US" sz="1200" b="1" dirty="0" err="1">
                <a:latin typeface="Cambria" pitchFamily="34" charset="0"/>
                <a:ea typeface="Cambria" pitchFamily="34" charset="-122"/>
                <a:cs typeface="Cambria" pitchFamily="34" charset="-120"/>
              </a:rPr>
              <a:t>repositorio</a:t>
            </a:r>
            <a:r>
              <a:rPr lang="en-US" sz="1200" b="1" dirty="0">
                <a:latin typeface="Cambria" pitchFamily="34" charset="0"/>
                <a:ea typeface="Cambria" pitchFamily="34" charset="-122"/>
                <a:cs typeface="Cambria" pitchFamily="34" charset="-120"/>
              </a:rPr>
              <a:t> de GitHub</a:t>
            </a:r>
          </a:p>
        </p:txBody>
      </p:sp>
      <p:pic>
        <p:nvPicPr>
          <p:cNvPr id="27" name="Imagen 26">
            <a:hlinkClick r:id="rId4"/>
            <a:extLst>
              <a:ext uri="{FF2B5EF4-FFF2-40B4-BE49-F238E27FC236}">
                <a16:creationId xmlns:a16="http://schemas.microsoft.com/office/drawing/2014/main" id="{2C238D5A-60BF-8937-9A71-79ED9F9AFFA1}"/>
              </a:ext>
            </a:extLst>
          </p:cNvPr>
          <p:cNvPicPr>
            <a:picLocks noChangeAspect="1"/>
          </p:cNvPicPr>
          <p:nvPr/>
        </p:nvPicPr>
        <p:blipFill>
          <a:blip r:embed="rId5"/>
          <a:stretch>
            <a:fillRect/>
          </a:stretch>
        </p:blipFill>
        <p:spPr>
          <a:xfrm>
            <a:off x="877392" y="5703228"/>
            <a:ext cx="631495" cy="5669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432</TotalTime>
  <Words>3653</Words>
  <Application>Microsoft Office PowerPoint</Application>
  <PresentationFormat>Panorámica</PresentationFormat>
  <Paragraphs>284</Paragraphs>
  <Slides>28</Slides>
  <Notes>17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28</vt:i4>
      </vt:variant>
    </vt:vector>
  </HeadingPairs>
  <TitlesOfParts>
    <vt:vector size="32"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Roger Martinez</cp:lastModifiedBy>
  <cp:revision>44</cp:revision>
  <dcterms:created xsi:type="dcterms:W3CDTF">2026-09-20T23:21:50Z</dcterms:created>
  <dcterms:modified xsi:type="dcterms:W3CDTF">2026-09-21T22:20:47Z</dcterms:modified>
</cp:coreProperties>
</file>